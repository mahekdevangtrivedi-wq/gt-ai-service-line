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73" r:id="rId5"/>
    <p:sldMasterId id="2147483685" r:id="rId6"/>
  </p:sldMasterIdLst>
  <p:notesMasterIdLst>
    <p:notesMasterId r:id="rId28"/>
  </p:notesMasterIdLst>
  <p:sldIdLst>
    <p:sldId id="2141411893" r:id="rId7"/>
    <p:sldId id="2141411894" r:id="rId8"/>
    <p:sldId id="2141411913" r:id="rId9"/>
    <p:sldId id="2141411895" r:id="rId10"/>
    <p:sldId id="2141411896" r:id="rId11"/>
    <p:sldId id="2141411897" r:id="rId12"/>
    <p:sldId id="2141411898" r:id="rId13"/>
    <p:sldId id="2141411899" r:id="rId14"/>
    <p:sldId id="2141411900" r:id="rId15"/>
    <p:sldId id="2141411901" r:id="rId16"/>
    <p:sldId id="2141411902" r:id="rId17"/>
    <p:sldId id="2141411903" r:id="rId18"/>
    <p:sldId id="2141411904" r:id="rId19"/>
    <p:sldId id="2141411905" r:id="rId20"/>
    <p:sldId id="2141411906" r:id="rId21"/>
    <p:sldId id="2141411907" r:id="rId22"/>
    <p:sldId id="2141411908" r:id="rId23"/>
    <p:sldId id="2141411909" r:id="rId24"/>
    <p:sldId id="2141411910" r:id="rId25"/>
    <p:sldId id="2141411911" r:id="rId26"/>
    <p:sldId id="2141411912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408" userDrawn="1">
          <p15:clr>
            <a:srgbClr val="A4A3A4"/>
          </p15:clr>
        </p15:guide>
        <p15:guide id="2" pos="5832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48E72921-A7D9-DCBA-A3F9-4012AE4EE01A}" name="Kajal Rajusth" initials="KR" userId="S::Kajal.Rajusth@bh.gt.com::11b61780-b247-4085-a29c-8a573c97e7f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1008A"/>
    <a:srgbClr val="004850"/>
    <a:srgbClr val="304C88"/>
    <a:srgbClr val="4F2D7F"/>
    <a:srgbClr val="A06DFF"/>
    <a:srgbClr val="2B144D"/>
    <a:srgbClr val="C6ADEA"/>
    <a:srgbClr val="6611FF"/>
    <a:srgbClr val="0F9ED5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9080D65-38AE-4B63-ACC6-A8CC8317EE11}" v="1" dt="2025-04-23T12:17:02.2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002" autoAdjust="0"/>
    <p:restoredTop sz="93447" autoAdjust="0"/>
  </p:normalViewPr>
  <p:slideViewPr>
    <p:cSldViewPr snapToGrid="0">
      <p:cViewPr>
        <p:scale>
          <a:sx n="75" d="100"/>
          <a:sy n="75" d="100"/>
        </p:scale>
        <p:origin x="1022" y="504"/>
      </p:cViewPr>
      <p:guideLst>
        <p:guide orient="horz" pos="3408"/>
        <p:guide pos="583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microsoft.com/office/2016/11/relationships/changesInfo" Target="changesInfos/changesInfo1.xml"/><Relationship Id="rId34" Type="http://schemas.microsoft.com/office/2015/10/relationships/revisionInfo" Target="revisionInfo.xml"/><Relationship Id="rId35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jal Rajusth" userId="11b61780-b247-4085-a29c-8a573c97e7f5" providerId="ADAL" clId="{89080D65-38AE-4B63-ACC6-A8CC8317EE11}"/>
    <pc:docChg chg="custSel modSld">
      <pc:chgData name="Kajal Rajusth" userId="11b61780-b247-4085-a29c-8a573c97e7f5" providerId="ADAL" clId="{89080D65-38AE-4B63-ACC6-A8CC8317EE11}" dt="2025-04-23T12:17:05.740" v="30" actId="1076"/>
      <pc:docMkLst>
        <pc:docMk/>
      </pc:docMkLst>
      <pc:sldChg chg="modSp mod">
        <pc:chgData name="Kajal Rajusth" userId="11b61780-b247-4085-a29c-8a573c97e7f5" providerId="ADAL" clId="{89080D65-38AE-4B63-ACC6-A8CC8317EE11}" dt="2025-04-23T11:17:41.002" v="0" actId="20577"/>
        <pc:sldMkLst>
          <pc:docMk/>
          <pc:sldMk cId="3443425539" sldId="4144"/>
        </pc:sldMkLst>
        <pc:spChg chg="mod">
          <ac:chgData name="Kajal Rajusth" userId="11b61780-b247-4085-a29c-8a573c97e7f5" providerId="ADAL" clId="{89080D65-38AE-4B63-ACC6-A8CC8317EE11}" dt="2025-04-23T11:17:41.002" v="0" actId="20577"/>
          <ac:spMkLst>
            <pc:docMk/>
            <pc:sldMk cId="3443425539" sldId="4144"/>
            <ac:spMk id="81" creationId="{06956AA6-9DE1-1AB8-6F11-AAC6C431CE8D}"/>
          </ac:spMkLst>
        </pc:spChg>
      </pc:sldChg>
      <pc:sldChg chg="addSp delSp modSp mod">
        <pc:chgData name="Kajal Rajusth" userId="11b61780-b247-4085-a29c-8a573c97e7f5" providerId="ADAL" clId="{89080D65-38AE-4B63-ACC6-A8CC8317EE11}" dt="2025-04-23T12:17:05.740" v="30" actId="1076"/>
        <pc:sldMkLst>
          <pc:docMk/>
          <pc:sldMk cId="3090248782" sldId="2141411889"/>
        </pc:sldMkLst>
        <pc:picChg chg="add mod">
          <ac:chgData name="Kajal Rajusth" userId="11b61780-b247-4085-a29c-8a573c97e7f5" providerId="ADAL" clId="{89080D65-38AE-4B63-ACC6-A8CC8317EE11}" dt="2025-04-23T12:17:05.740" v="30" actId="1076"/>
          <ac:picMkLst>
            <pc:docMk/>
            <pc:sldMk cId="3090248782" sldId="2141411889"/>
            <ac:picMk id="10" creationId="{8E0D406B-D48D-D6AB-9494-B050EBEDD1FB}"/>
          </ac:picMkLst>
        </pc:picChg>
        <pc:picChg chg="del">
          <ac:chgData name="Kajal Rajusth" userId="11b61780-b247-4085-a29c-8a573c97e7f5" providerId="ADAL" clId="{89080D65-38AE-4B63-ACC6-A8CC8317EE11}" dt="2025-04-23T12:16:55.620" v="28" actId="478"/>
          <ac:picMkLst>
            <pc:docMk/>
            <pc:sldMk cId="3090248782" sldId="2141411889"/>
            <ac:picMk id="73" creationId="{7FA89437-3688-7A9A-1F7D-F87BECC26257}"/>
          </ac:picMkLst>
        </pc:picChg>
      </pc:sldChg>
      <pc:sldChg chg="modSp mod">
        <pc:chgData name="Kajal Rajusth" userId="11b61780-b247-4085-a29c-8a573c97e7f5" providerId="ADAL" clId="{89080D65-38AE-4B63-ACC6-A8CC8317EE11}" dt="2025-04-23T11:24:33.678" v="27" actId="20577"/>
        <pc:sldMkLst>
          <pc:docMk/>
          <pc:sldMk cId="1495240883" sldId="2141411892"/>
        </pc:sldMkLst>
        <pc:spChg chg="mod">
          <ac:chgData name="Kajal Rajusth" userId="11b61780-b247-4085-a29c-8a573c97e7f5" providerId="ADAL" clId="{89080D65-38AE-4B63-ACC6-A8CC8317EE11}" dt="2025-04-23T11:24:33.678" v="27" actId="20577"/>
          <ac:spMkLst>
            <pc:docMk/>
            <pc:sldMk cId="1495240883" sldId="2141411892"/>
            <ac:spMk id="31" creationId="{6F23265C-C94D-1B8C-8B58-522962896158}"/>
          </ac:spMkLst>
        </pc:spChg>
      </pc:sldChg>
    </pc:docChg>
  </pc:docChgLst>
  <pc:docChgLst>
    <pc:chgData name="Kajal Rajusth" userId="11b61780-b247-4085-a29c-8a573c97e7f5" providerId="ADAL" clId="{1B17BDC0-7E97-4C1E-99EA-4D26E4DF89DD}"/>
    <pc:docChg chg="undo custSel delSld modSld">
      <pc:chgData name="Kajal Rajusth" userId="11b61780-b247-4085-a29c-8a573c97e7f5" providerId="ADAL" clId="{1B17BDC0-7E97-4C1E-99EA-4D26E4DF89DD}" dt="2025-03-24T09:19:02.599" v="393" actId="1038"/>
      <pc:docMkLst>
        <pc:docMk/>
      </pc:docMkLst>
      <pc:sldChg chg="addSp delSp modSp mod">
        <pc:chgData name="Kajal Rajusth" userId="11b61780-b247-4085-a29c-8a573c97e7f5" providerId="ADAL" clId="{1B17BDC0-7E97-4C1E-99EA-4D26E4DF89DD}" dt="2025-03-24T09:19:02.599" v="393" actId="1038"/>
        <pc:sldMkLst>
          <pc:docMk/>
          <pc:sldMk cId="88661140" sldId="4122"/>
        </pc:sldMkLst>
        <pc:spChg chg="mod">
          <ac:chgData name="Kajal Rajusth" userId="11b61780-b247-4085-a29c-8a573c97e7f5" providerId="ADAL" clId="{1B17BDC0-7E97-4C1E-99EA-4D26E4DF89DD}" dt="2025-03-24T08:27:20.279" v="223" actId="1076"/>
          <ac:spMkLst>
            <pc:docMk/>
            <pc:sldMk cId="88661140" sldId="4122"/>
            <ac:spMk id="7" creationId="{F1107ECC-23EB-E50C-FA8E-08D9314E9B64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1" creationId="{EADF41F0-1855-07DB-EE0C-28AF0227FCC0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2" creationId="{36FFFD5C-9F00-E757-66BC-327DB8120DA8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3" creationId="{B1EDB9DE-CC5E-8C8C-33BD-8C2DCBD6931F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4" creationId="{D257025D-DDF0-B001-E94C-60FE04248357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5" creationId="{2CF3EE3D-7B64-C6FD-6FCC-7F70F166FCE5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6" creationId="{773B9C7F-CE4D-91FC-574C-1FBAFFD3BF39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7" creationId="{8BD0FF9B-FF90-2645-5C05-BD9D0EC619BF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8" creationId="{C44B34DE-A5F8-9A73-81F1-4CF658D412BB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9" creationId="{B1FB2505-2348-A401-4A94-6AA2B1E78A08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20" creationId="{5EA00958-51F9-F2E8-436D-239DA0AB321A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24" creationId="{58B3CB65-D36C-6B55-7A81-1369C533D059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26" creationId="{283DDA0C-D7C1-A770-11ED-F18BB8878DB1}"/>
          </ac:spMkLst>
        </pc:spChg>
        <pc:spChg chg="mod">
          <ac:chgData name="Kajal Rajusth" userId="11b61780-b247-4085-a29c-8a573c97e7f5" providerId="ADAL" clId="{1B17BDC0-7E97-4C1E-99EA-4D26E4DF89DD}" dt="2025-03-24T09:17:18.997" v="349" actId="1038"/>
          <ac:spMkLst>
            <pc:docMk/>
            <pc:sldMk cId="88661140" sldId="4122"/>
            <ac:spMk id="29" creationId="{5B9F3B89-C499-C2BA-9E54-B0A0BEC72002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24" creationId="{8AA0CC0B-7A78-B04F-3DDB-DB6BA6DE41A1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32" creationId="{6F7A6A5A-2BF0-D950-1345-AAA6468C1B4B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34" creationId="{36EB0E0C-95AF-B3E3-A282-F17C7CC722AC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35" creationId="{8586F6A1-E421-26C4-6300-F86152957DF5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41" creationId="{0B3EF589-6EDF-943C-240B-1E9BC3855475}"/>
          </ac:spMkLst>
        </pc:spChg>
        <pc:spChg chg="add 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42" creationId="{38440AB3-5295-46E0-BAA8-48A4F03C9B98}"/>
          </ac:spMkLst>
        </pc:spChg>
        <pc:spChg chg="mod">
          <ac:chgData name="Kajal Rajusth" userId="11b61780-b247-4085-a29c-8a573c97e7f5" providerId="ADAL" clId="{1B17BDC0-7E97-4C1E-99EA-4D26E4DF89DD}" dt="2025-03-24T09:17:18.997" v="349" actId="1038"/>
          <ac:spMkLst>
            <pc:docMk/>
            <pc:sldMk cId="88661140" sldId="4122"/>
            <ac:spMk id="1045" creationId="{700C45A0-DF84-6A67-749F-F63B01EB56B7}"/>
          </ac:spMkLst>
        </pc:spChg>
        <pc:spChg chg="add 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46" creationId="{A23A09E2-A0BA-DD4A-74EF-0856C0720195}"/>
          </ac:spMkLst>
        </pc:spChg>
        <pc:spChg chg="mod">
          <ac:chgData name="Kajal Rajusth" userId="11b61780-b247-4085-a29c-8a573c97e7f5" providerId="ADAL" clId="{1B17BDC0-7E97-4C1E-99EA-4D26E4DF89DD}" dt="2025-03-24T09:17:18.997" v="349" actId="1038"/>
          <ac:spMkLst>
            <pc:docMk/>
            <pc:sldMk cId="88661140" sldId="4122"/>
            <ac:spMk id="1049" creationId="{9E639FE1-F925-94BE-FD55-9A862CE5FC9D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53" creationId="{64802AF2-8754-97F8-7ED7-AFBB190BF049}"/>
          </ac:spMkLst>
        </pc:spChg>
        <pc:grpChg chg="mod">
          <ac:chgData name="Kajal Rajusth" userId="11b61780-b247-4085-a29c-8a573c97e7f5" providerId="ADAL" clId="{1B17BDC0-7E97-4C1E-99EA-4D26E4DF89DD}" dt="2025-03-24T08:17:26.337" v="46" actId="1076"/>
          <ac:grpSpMkLst>
            <pc:docMk/>
            <pc:sldMk cId="88661140" sldId="4122"/>
            <ac:grpSpMk id="27" creationId="{B5D938CD-655D-5554-7A42-AF2102D263D0}"/>
          </ac:grpSpMkLst>
        </pc:grpChg>
        <pc:grpChg chg="add mod">
          <ac:chgData name="Kajal Rajusth" userId="11b61780-b247-4085-a29c-8a573c97e7f5" providerId="ADAL" clId="{1B17BDC0-7E97-4C1E-99EA-4D26E4DF89DD}" dt="2025-03-24T08:18:04.421" v="93" actId="1036"/>
          <ac:grpSpMkLst>
            <pc:docMk/>
            <pc:sldMk cId="88661140" sldId="4122"/>
            <ac:grpSpMk id="30" creationId="{9C11C3A6-7A71-33BE-74EC-36E6D0731A61}"/>
          </ac:grpSpMkLst>
        </pc:grpChg>
        <pc:grpChg chg="add mod">
          <ac:chgData name="Kajal Rajusth" userId="11b61780-b247-4085-a29c-8a573c97e7f5" providerId="ADAL" clId="{1B17BDC0-7E97-4C1E-99EA-4D26E4DF89DD}" dt="2025-03-24T08:18:40.122" v="135" actId="1037"/>
          <ac:grpSpMkLst>
            <pc:docMk/>
            <pc:sldMk cId="88661140" sldId="4122"/>
            <ac:grpSpMk id="31" creationId="{A8CBA491-E52D-E2B1-57EA-4744A7040EA4}"/>
          </ac:grpSpMkLst>
        </pc:grpChg>
        <pc:grpChg chg="add mod">
          <ac:chgData name="Kajal Rajusth" userId="11b61780-b247-4085-a29c-8a573c97e7f5" providerId="ADAL" clId="{1B17BDC0-7E97-4C1E-99EA-4D26E4DF89DD}" dt="2025-03-24T08:19:54.956" v="188" actId="1076"/>
          <ac:grpSpMkLst>
            <pc:docMk/>
            <pc:sldMk cId="88661140" sldId="4122"/>
            <ac:grpSpMk id="1025" creationId="{1E3B6060-415B-C468-61A8-CFE9659963D0}"/>
          </ac:grpSpMkLst>
        </pc:grpChg>
        <pc:grpChg chg="add mod">
          <ac:chgData name="Kajal Rajusth" userId="11b61780-b247-4085-a29c-8a573c97e7f5" providerId="ADAL" clId="{1B17BDC0-7E97-4C1E-99EA-4D26E4DF89DD}" dt="2025-03-24T08:20:16.318" v="193" actId="1076"/>
          <ac:grpSpMkLst>
            <pc:docMk/>
            <pc:sldMk cId="88661140" sldId="4122"/>
            <ac:grpSpMk id="1029" creationId="{7A3B2986-8656-F7C1-F177-4BB27CEC5EEF}"/>
          </ac:grpSpMkLst>
        </pc:grpChg>
        <pc:grpChg chg="add mod">
          <ac:chgData name="Kajal Rajusth" userId="11b61780-b247-4085-a29c-8a573c97e7f5" providerId="ADAL" clId="{1B17BDC0-7E97-4C1E-99EA-4D26E4DF89DD}" dt="2025-03-24T08:21:08.768" v="205" actId="1076"/>
          <ac:grpSpMkLst>
            <pc:docMk/>
            <pc:sldMk cId="88661140" sldId="4122"/>
            <ac:grpSpMk id="1030" creationId="{E438E375-2149-0636-F2E1-1B7B0732EA89}"/>
          </ac:grpSpMkLst>
        </pc:grpChg>
        <pc:grpChg chg="add mod">
          <ac:chgData name="Kajal Rajusth" userId="11b61780-b247-4085-a29c-8a573c97e7f5" providerId="ADAL" clId="{1B17BDC0-7E97-4C1E-99EA-4D26E4DF89DD}" dt="2025-03-24T08:21:58.147" v="217" actId="1076"/>
          <ac:grpSpMkLst>
            <pc:docMk/>
            <pc:sldMk cId="88661140" sldId="4122"/>
            <ac:grpSpMk id="1031" creationId="{7A13E7EE-7B2C-5B18-9C51-EAD709E12FD6}"/>
          </ac:grpSpMkLst>
        </pc:grpChg>
        <pc:picChg chg="mod">
          <ac:chgData name="Kajal Rajusth" userId="11b61780-b247-4085-a29c-8a573c97e7f5" providerId="ADAL" clId="{1B17BDC0-7E97-4C1E-99EA-4D26E4DF89DD}" dt="2025-03-24T08:17:26.337" v="46" actId="1076"/>
          <ac:picMkLst>
            <pc:docMk/>
            <pc:sldMk cId="88661140" sldId="4122"/>
            <ac:picMk id="1026" creationId="{47E29060-4744-40F2-5DBA-282D541C8D6D}"/>
          </ac:picMkLst>
        </pc:picChg>
        <pc:picChg chg="mod">
          <ac:chgData name="Kajal Rajusth" userId="11b61780-b247-4085-a29c-8a573c97e7f5" providerId="ADAL" clId="{1B17BDC0-7E97-4C1E-99EA-4D26E4DF89DD}" dt="2025-03-24T08:18:04.421" v="93" actId="1036"/>
          <ac:picMkLst>
            <pc:docMk/>
            <pc:sldMk cId="88661140" sldId="4122"/>
            <ac:picMk id="1028" creationId="{7D8B3203-C5FE-7198-37D2-08D643577F47}"/>
          </ac:picMkLst>
        </pc:picChg>
        <pc:picChg chg="mod">
          <ac:chgData name="Kajal Rajusth" userId="11b61780-b247-4085-a29c-8a573c97e7f5" providerId="ADAL" clId="{1B17BDC0-7E97-4C1E-99EA-4D26E4DF89DD}" dt="2025-03-24T08:18:40.122" v="135" actId="1037"/>
          <ac:picMkLst>
            <pc:docMk/>
            <pc:sldMk cId="88661140" sldId="4122"/>
            <ac:picMk id="1036" creationId="{933554A7-6629-EAE3-371A-6ECD9582B528}"/>
          </ac:picMkLst>
        </pc:picChg>
        <pc:picChg chg="mod">
          <ac:chgData name="Kajal Rajusth" userId="11b61780-b247-4085-a29c-8a573c97e7f5" providerId="ADAL" clId="{1B17BDC0-7E97-4C1E-99EA-4D26E4DF89DD}" dt="2025-03-24T08:19:07.220" v="179" actId="1035"/>
          <ac:picMkLst>
            <pc:docMk/>
            <pc:sldMk cId="88661140" sldId="4122"/>
            <ac:picMk id="1038" creationId="{C10A849C-4FD3-B3D8-6A54-A19FBEE0CF9D}"/>
          </ac:picMkLst>
        </pc:picChg>
        <pc:picChg chg="add mod">
          <ac:chgData name="Kajal Rajusth" userId="11b61780-b247-4085-a29c-8a573c97e7f5" providerId="ADAL" clId="{1B17BDC0-7E97-4C1E-99EA-4D26E4DF89DD}" dt="2025-03-24T08:26:39.520" v="221" actId="1076"/>
          <ac:picMkLst>
            <pc:docMk/>
            <pc:sldMk cId="88661140" sldId="4122"/>
            <ac:picMk id="1039" creationId="{4D137CEE-2D9C-E15D-6CF2-A3F280805CC7}"/>
          </ac:picMkLst>
        </pc:picChg>
        <pc:picChg chg="mod">
          <ac:chgData name="Kajal Rajusth" userId="11b61780-b247-4085-a29c-8a573c97e7f5" providerId="ADAL" clId="{1B17BDC0-7E97-4C1E-99EA-4D26E4DF89DD}" dt="2025-03-24T08:19:54.956" v="188" actId="1076"/>
          <ac:picMkLst>
            <pc:docMk/>
            <pc:sldMk cId="88661140" sldId="4122"/>
            <ac:picMk id="1040" creationId="{CC52CBF2-02C8-E105-654E-14E985446DD1}"/>
          </ac:picMkLst>
        </pc:picChg>
        <pc:picChg chg="mod">
          <ac:chgData name="Kajal Rajusth" userId="11b61780-b247-4085-a29c-8a573c97e7f5" providerId="ADAL" clId="{1B17BDC0-7E97-4C1E-99EA-4D26E4DF89DD}" dt="2025-03-24T08:20:16.318" v="193" actId="1076"/>
          <ac:picMkLst>
            <pc:docMk/>
            <pc:sldMk cId="88661140" sldId="4122"/>
            <ac:picMk id="1043" creationId="{B27029C0-84FE-CDAC-0F61-0047AC6A31BF}"/>
          </ac:picMkLst>
        </pc:picChg>
        <pc:picChg chg="add mod">
          <ac:chgData name="Kajal Rajusth" userId="11b61780-b247-4085-a29c-8a573c97e7f5" providerId="ADAL" clId="{1B17BDC0-7E97-4C1E-99EA-4D26E4DF89DD}" dt="2025-03-24T08:28:36.827" v="291" actId="1036"/>
          <ac:picMkLst>
            <pc:docMk/>
            <pc:sldMk cId="88661140" sldId="4122"/>
            <ac:picMk id="1044" creationId="{BF9DA1A2-4ED2-9FE0-1B80-EFE3866C9155}"/>
          </ac:picMkLst>
        </pc:picChg>
        <pc:picChg chg="mod">
          <ac:chgData name="Kajal Rajusth" userId="11b61780-b247-4085-a29c-8a573c97e7f5" providerId="ADAL" clId="{1B17BDC0-7E97-4C1E-99EA-4D26E4DF89DD}" dt="2025-03-24T08:20:40.446" v="198" actId="1076"/>
          <ac:picMkLst>
            <pc:docMk/>
            <pc:sldMk cId="88661140" sldId="4122"/>
            <ac:picMk id="1047" creationId="{DA26F9AD-87D1-7FB8-2CDB-8AE9C8E453E6}"/>
          </ac:picMkLst>
        </pc:picChg>
        <pc:picChg chg="add mod">
          <ac:chgData name="Kajal Rajusth" userId="11b61780-b247-4085-a29c-8a573c97e7f5" providerId="ADAL" clId="{1B17BDC0-7E97-4C1E-99EA-4D26E4DF89DD}" dt="2025-03-24T09:18:16.794" v="357" actId="1076"/>
          <ac:picMkLst>
            <pc:docMk/>
            <pc:sldMk cId="88661140" sldId="4122"/>
            <ac:picMk id="1050" creationId="{44D78C1B-2F56-9C99-C86C-ACA0FE3AAB7D}"/>
          </ac:picMkLst>
        </pc:picChg>
        <pc:picChg chg="mod">
          <ac:chgData name="Kajal Rajusth" userId="11b61780-b247-4085-a29c-8a573c97e7f5" providerId="ADAL" clId="{1B17BDC0-7E97-4C1E-99EA-4D26E4DF89DD}" dt="2025-03-24T08:21:08.768" v="205" actId="1076"/>
          <ac:picMkLst>
            <pc:docMk/>
            <pc:sldMk cId="88661140" sldId="4122"/>
            <ac:picMk id="1051" creationId="{168BA73B-A110-5843-6C00-4A232F4005BE}"/>
          </ac:picMkLst>
        </pc:picChg>
        <pc:picChg chg="mod">
          <ac:chgData name="Kajal Rajusth" userId="11b61780-b247-4085-a29c-8a573c97e7f5" providerId="ADAL" clId="{1B17BDC0-7E97-4C1E-99EA-4D26E4DF89DD}" dt="2025-03-24T08:21:58.147" v="217" actId="1076"/>
          <ac:picMkLst>
            <pc:docMk/>
            <pc:sldMk cId="88661140" sldId="4122"/>
            <ac:picMk id="1055" creationId="{94C5A28A-F6E1-52B8-D16F-D9811F573521}"/>
          </ac:picMkLst>
        </pc:picChg>
      </pc:sldChg>
      <pc:sldChg chg="modSp mod">
        <pc:chgData name="Kajal Rajusth" userId="11b61780-b247-4085-a29c-8a573c97e7f5" providerId="ADAL" clId="{1B17BDC0-7E97-4C1E-99EA-4D26E4DF89DD}" dt="2025-03-24T09:16:54.828" v="318" actId="20577"/>
        <pc:sldMkLst>
          <pc:docMk/>
          <pc:sldMk cId="3443425539" sldId="4144"/>
        </pc:sldMkLst>
        <pc:spChg chg="mod">
          <ac:chgData name="Kajal Rajusth" userId="11b61780-b247-4085-a29c-8a573c97e7f5" providerId="ADAL" clId="{1B17BDC0-7E97-4C1E-99EA-4D26E4DF89DD}" dt="2025-03-24T09:16:54.828" v="318" actId="20577"/>
          <ac:spMkLst>
            <pc:docMk/>
            <pc:sldMk cId="3443425539" sldId="4144"/>
            <ac:spMk id="27" creationId="{0EE1EB32-40BE-1C75-89D0-EB065F0E3F9E}"/>
          </ac:spMkLst>
        </pc:spChg>
      </pc:sldChg>
      <pc:sldChg chg="del">
        <pc:chgData name="Kajal Rajusth" userId="11b61780-b247-4085-a29c-8a573c97e7f5" providerId="ADAL" clId="{1B17BDC0-7E97-4C1E-99EA-4D26E4DF89DD}" dt="2025-03-23T08:13:01.853" v="0" actId="47"/>
        <pc:sldMkLst>
          <pc:docMk/>
          <pc:sldMk cId="290205388" sldId="4148"/>
        </pc:sldMkLst>
      </pc:sldChg>
      <pc:sldChg chg="modSp mod">
        <pc:chgData name="Kajal Rajusth" userId="11b61780-b247-4085-a29c-8a573c97e7f5" providerId="ADAL" clId="{1B17BDC0-7E97-4C1E-99EA-4D26E4DF89DD}" dt="2025-03-24T08:30:18.410" v="311" actId="113"/>
        <pc:sldMkLst>
          <pc:docMk/>
          <pc:sldMk cId="1098912445" sldId="2141411886"/>
        </pc:sldMkLst>
        <pc:spChg chg="mod">
          <ac:chgData name="Kajal Rajusth" userId="11b61780-b247-4085-a29c-8a573c97e7f5" providerId="ADAL" clId="{1B17BDC0-7E97-4C1E-99EA-4D26E4DF89DD}" dt="2025-03-24T08:30:18.410" v="311" actId="113"/>
          <ac:spMkLst>
            <pc:docMk/>
            <pc:sldMk cId="1098912445" sldId="2141411886"/>
            <ac:spMk id="57" creationId="{0EE1391C-2510-EFB2-82A5-5FC567D45BAC}"/>
          </ac:spMkLst>
        </pc:spChg>
      </pc:sldChg>
      <pc:sldChg chg="modSp mod">
        <pc:chgData name="Kajal Rajusth" userId="11b61780-b247-4085-a29c-8a573c97e7f5" providerId="ADAL" clId="{1B17BDC0-7E97-4C1E-99EA-4D26E4DF89DD}" dt="2025-03-24T08:30:10.840" v="310" actId="113"/>
        <pc:sldMkLst>
          <pc:docMk/>
          <pc:sldMk cId="2031562703" sldId="2141411887"/>
        </pc:sldMkLst>
        <pc:spChg chg="mod">
          <ac:chgData name="Kajal Rajusth" userId="11b61780-b247-4085-a29c-8a573c97e7f5" providerId="ADAL" clId="{1B17BDC0-7E97-4C1E-99EA-4D26E4DF89DD}" dt="2025-03-24T08:30:10.840" v="310" actId="113"/>
          <ac:spMkLst>
            <pc:docMk/>
            <pc:sldMk cId="2031562703" sldId="2141411887"/>
            <ac:spMk id="57" creationId="{C7E19B17-52EB-4AAB-36AB-BB9305A2CC03}"/>
          </ac:spMkLst>
        </pc:spChg>
      </pc:sldChg>
      <pc:sldChg chg="modSp mod">
        <pc:chgData name="Kajal Rajusth" userId="11b61780-b247-4085-a29c-8a573c97e7f5" providerId="ADAL" clId="{1B17BDC0-7E97-4C1E-99EA-4D26E4DF89DD}" dt="2025-03-24T09:16:07.529" v="317" actId="20577"/>
        <pc:sldMkLst>
          <pc:docMk/>
          <pc:sldMk cId="4089024588" sldId="2141411891"/>
        </pc:sldMkLst>
        <pc:graphicFrameChg chg="mod modGraphic">
          <ac:chgData name="Kajal Rajusth" userId="11b61780-b247-4085-a29c-8a573c97e7f5" providerId="ADAL" clId="{1B17BDC0-7E97-4C1E-99EA-4D26E4DF89DD}" dt="2025-03-24T09:16:07.529" v="317" actId="20577"/>
          <ac:graphicFrameMkLst>
            <pc:docMk/>
            <pc:sldMk cId="4089024588" sldId="2141411891"/>
            <ac:graphicFrameMk id="2" creationId="{C1CC76E0-3C5A-4696-E78B-5CB0EEEF3441}"/>
          </ac:graphicFrameMkLst>
        </pc:graphicFrame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AI Ready7 score (%)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E8705F"/>
              </a:solidFill>
            </c:spPr>
            <c:extLst>
              <c:ext xmlns:c16="http://schemas.microsoft.com/office/drawing/2014/chart" uri="{C3380CC4-5D6E-409C-BE32-E72D297353CC}">
                <c16:uniqueId val="{00000001-FAAA-4C1E-A74A-B9FF93CC344A}"/>
              </c:ext>
            </c:extLst>
          </c:dPt>
          <c:dPt>
            <c:idx val="1"/>
            <c:invertIfNegative val="1"/>
            <c:bubble3D val="0"/>
            <c:spPr>
              <a:solidFill>
                <a:srgbClr val="4F2D7F"/>
              </a:solidFill>
            </c:spPr>
            <c:extLst>
              <c:ext xmlns:c16="http://schemas.microsoft.com/office/drawing/2014/chart" uri="{C3380CC4-5D6E-409C-BE32-E72D297353CC}">
                <c16:uniqueId val="{00000003-FAAA-4C1E-A74A-B9FF93CC344A}"/>
              </c:ext>
            </c:extLst>
          </c:dPt>
          <c:dPt>
            <c:idx val="2"/>
            <c:invertIfNegative val="1"/>
            <c:bubble3D val="0"/>
            <c:spPr>
              <a:solidFill>
                <a:srgbClr val="4F2D7F"/>
              </a:solidFill>
            </c:spPr>
            <c:extLst>
              <c:ext xmlns:c16="http://schemas.microsoft.com/office/drawing/2014/chart" uri="{C3380CC4-5D6E-409C-BE32-E72D297353CC}">
                <c16:uniqueId val="{00000005-FAAA-4C1E-A74A-B9FF93CC344A}"/>
              </c:ext>
            </c:extLst>
          </c:dPt>
          <c:dPt>
            <c:idx val="3"/>
            <c:invertIfNegative val="1"/>
            <c:bubble3D val="0"/>
            <c:spPr>
              <a:solidFill>
                <a:srgbClr val="E8705F"/>
              </a:solidFill>
            </c:spPr>
            <c:extLst>
              <c:ext xmlns:c16="http://schemas.microsoft.com/office/drawing/2014/chart" uri="{C3380CC4-5D6E-409C-BE32-E72D297353CC}">
                <c16:uniqueId val="{00000007-FAAA-4C1E-A74A-B9FF93CC344A}"/>
              </c:ext>
            </c:extLst>
          </c:dPt>
          <c:dPt>
            <c:idx val="4"/>
            <c:invertIfNegative val="1"/>
            <c:bubble3D val="0"/>
            <c:spPr>
              <a:solidFill>
                <a:srgbClr val="4F2D7F"/>
              </a:solidFill>
            </c:spPr>
            <c:extLst>
              <c:ext xmlns:c16="http://schemas.microsoft.com/office/drawing/2014/chart" uri="{C3380CC4-5D6E-409C-BE32-E72D297353CC}">
                <c16:uniqueId val="{00000009-FAAA-4C1E-A74A-B9FF93CC344A}"/>
              </c:ext>
            </c:extLst>
          </c:dPt>
          <c:dPt>
            <c:idx val="5"/>
            <c:invertIfNegative val="1"/>
            <c:bubble3D val="0"/>
            <c:spPr>
              <a:solidFill>
                <a:srgbClr val="E8705F"/>
              </a:solidFill>
            </c:spPr>
            <c:extLst>
              <c:ext xmlns:c16="http://schemas.microsoft.com/office/drawing/2014/chart" uri="{C3380CC4-5D6E-409C-BE32-E72D297353CC}">
                <c16:uniqueId val="{0000000B-FAAA-4C1E-A74A-B9FF93CC344A}"/>
              </c:ext>
            </c:extLst>
          </c:dPt>
          <c:dPt>
            <c:idx val="6"/>
            <c:invertIfNegative val="1"/>
            <c:bubble3D val="0"/>
            <c:spPr>
              <a:solidFill>
                <a:srgbClr val="4F2D7F"/>
              </a:solidFill>
            </c:spPr>
            <c:extLst>
              <c:ext xmlns:c16="http://schemas.microsoft.com/office/drawing/2014/chart" uri="{C3380CC4-5D6E-409C-BE32-E72D297353CC}">
                <c16:uniqueId val="{0000000D-FAAA-4C1E-A74A-B9FF93CC344A}"/>
              </c:ext>
            </c:extLst>
          </c:dPt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Business Alignment</c:v>
                </c:pt>
                <c:pt idx="1">
                  <c:v>Governance &amp; Ethics</c:v>
                </c:pt>
                <c:pt idx="2">
                  <c:v>Training &amp; Development</c:v>
                </c:pt>
                <c:pt idx="3">
                  <c:v>Architecture &amp; Technology</c:v>
                </c:pt>
                <c:pt idx="4">
                  <c:v>Data &amp; Quality</c:v>
                </c:pt>
                <c:pt idx="5">
                  <c:v>Protect AI Systems</c:v>
                </c:pt>
                <c:pt idx="6">
                  <c:v>Protection from AI Threats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50</c:v>
                </c:pt>
                <c:pt idx="1">
                  <c:v>60</c:v>
                </c:pt>
                <c:pt idx="2">
                  <c:v>68.75</c:v>
                </c:pt>
                <c:pt idx="3">
                  <c:v>55</c:v>
                </c:pt>
                <c:pt idx="4">
                  <c:v>70</c:v>
                </c:pt>
                <c:pt idx="5">
                  <c:v>55</c:v>
                </c:pt>
                <c:pt idx="6">
                  <c:v>70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FAAA-4C1E-A74A-B9FF93CC344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00"/>
          <c:min val="0"/>
        </c:scaling>
        <c:delete val="0"/>
        <c:axPos val="t"/>
        <c:majorGridlines>
          <c:spPr>
            <a:ln>
              <a:solidFill>
                <a:srgbClr val="DDDDDD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en-US"/>
          </a:p>
        </c:txPr>
        <c:crossAx val="-2068027336"/>
        <c:crosses val="autoZero"/>
        <c:crossBetween val="between"/>
        <c:majorUnit val="25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027188-497D-437C-932E-97F69D192DB6}" type="datetimeFigureOut">
              <a:rPr lang="en-US" smtClean="0"/>
              <a:t>10/4/2026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012745-5D95-43BD-9877-2FE92F47C9A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20026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g"/><Relationship Id="rId3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Relationship Id="rId3" Type="http://schemas.openxmlformats.org/officeDocument/2006/relationships/image" Target="../media/image2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g"/><Relationship Id="rId3" Type="http://schemas.openxmlformats.org/officeDocument/2006/relationships/image" Target="../media/image2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Relationship Id="rId3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Relationship Id="rId3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jpg"/><Relationship Id="rId3" Type="http://schemas.openxmlformats.org/officeDocument/2006/relationships/image" Target="../media/image2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Relationship Id="rId3" Type="http://schemas.openxmlformats.org/officeDocument/2006/relationships/image" Target="../media/image2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6456B9-845E-7A88-025F-099F0F2410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7BDE4A-D3E0-AF93-7B25-03B99FB980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897C77-850E-38E8-B4CD-4FC7EA46524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A90982C-235D-4EA5-AE87-046AD1389D69}" type="datetime1">
              <a:rPr lang="en-US" smtClean="0"/>
              <a:t>10/4/2026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750235-3575-171E-2702-5D15CD30D3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13198521-E121-B0F1-93F1-14C19F39B2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62868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E326F6-5E6E-F089-9193-30519EB637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2C0760-89A9-632F-3968-AAD5A6592A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CB41C8-BD3D-5396-C710-8B38AF93C1D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64D280C-0766-4ED7-ACE2-68754F865695}" type="datetime1">
              <a:rPr lang="en-US" smtClean="0"/>
              <a:t>10/4/2026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C22037-7D84-F129-7C2B-E7B61376EB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61EF8F31-F72F-1182-DF7A-00777D8D13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16250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BBBB6-295B-DAC7-A751-BC4EFECF21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8D4D88-E361-3C60-3077-AB4FD5CDC1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A0A7F5-B263-A2FA-C3BD-5BE9432B441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73F550B-A169-4646-918F-D607F3F514CD}" type="datetime1">
              <a:rPr lang="en-US" smtClean="0"/>
              <a:t>10/4/2026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DBF64B-EF46-3E7A-CB8F-38568DA9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8FFD448-3CB0-FE0D-2049-8D5A1A88C0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11045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0B62F-B3E2-68C2-5A99-E3A69DBFD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E89FCD-3F44-66E5-9090-0E4E1E80BB6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31CBC2-7997-4324-1CBB-F109ADF7B3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B16F64-F80B-8607-E5C1-0B68E98258A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62B2C64-D2E4-4E27-A52B-90AF564ADE20}" type="datetime1">
              <a:rPr lang="en-US" smtClean="0"/>
              <a:t>10/4/2026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7B5CC3-4BE3-BE63-9E5E-13F7570F20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EC6004E2-6BFA-034C-AA70-62B9AB1750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2306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CDC9BD-212D-9339-CBEC-8BC5009AA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76D4C8-9063-A98E-E5E2-B0EA850E6B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567C35-8F1A-1F8E-5207-22D1BFEB66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2B06D12-9909-4736-C00B-7E6D45A8AE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6E4E93D-3FF5-A8BF-A9BE-A1C13E2172C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4032733-1BD6-4877-C948-C6E0125610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BB8A8DD-7E6A-40F7-B3CB-4EBF63BE0D4C}" type="datetime1">
              <a:rPr lang="en-US" smtClean="0"/>
              <a:t>10/4/2026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BFA493-C18B-C3C1-E68D-D4D45BBA1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DB654420-AEA7-26E3-954E-1817759670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06853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683723-0002-C813-E2AA-A0633DAA75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776802-633C-FDDA-A963-3AB8E566BAA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00545BA-EEDC-4AA2-85CB-EB1286D9B940}" type="datetime1">
              <a:rPr lang="en-US" smtClean="0"/>
              <a:t>10/4/2026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24DB26-5E30-FA20-CBF3-3244647EE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12B25A-3BBD-7BE7-0A77-6E8EBDC496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9540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4152692-A395-BC7D-B93B-96633C3FFC3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51F3096-14CE-4C84-89F5-3D1CA827AEB9}" type="datetime1">
              <a:rPr lang="en-US" smtClean="0"/>
              <a:t>10/4/2026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715173-A594-8045-EFCB-8FAC2439F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3EBE67BD-C9BB-C2B6-FF94-3ADDE07724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88776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EF1C8-896E-8C59-9785-AD1277D33E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4010C-E6BA-D1AD-9254-F990E0E530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5ED7E5-A0ED-BF67-3151-2BBDD7ACF7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16C7B6-53D6-5AA2-AD1D-30F678B0D46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032F23E-0B7F-49FD-B87D-F370D274B5C9}" type="datetime1">
              <a:rPr lang="en-US" smtClean="0"/>
              <a:t>10/4/2026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CDBD6E-3F23-3647-7A59-5CE2856B6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3F11A306-656A-CFD4-E4D4-FD1113609C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68467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18233-87FC-C91E-27A1-DAC98FBBB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29724AF-1231-0CFE-FE3E-BFFDEC4EB70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0BE4D8-2FFA-9F21-62EE-13F7F2E325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C9268E-96FA-5219-685C-FEC9A2618E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8406B6A-3845-4565-8CC4-83F0376DA02A}" type="datetime1">
              <a:rPr lang="en-US" smtClean="0"/>
              <a:t>10/4/2026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CB52A5-F654-7120-FA7A-F6745D68E7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F21EB0B4-7495-4D36-D038-794B1E7B92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02574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FC5403-38D1-CB03-7E0B-F67772DBEF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8CDEDF-46D6-A007-C5CB-A14FF9BA21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21C71C-9AA6-C906-7E24-D3EDE847C92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97317163-C962-4378-979E-DB1DC2C1AE02}" type="datetime1">
              <a:rPr lang="en-US" smtClean="0"/>
              <a:t>10/4/2026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F1BAA6-672F-8D83-68C4-F3DB35503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0CDCCBD-E791-3BF6-1093-9E9F90548B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49977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22C0A4-80FF-3293-9EDC-35501F6724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0306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D648302-3C0F-4F9A-9214-5A7BE85B0C4B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1C501202-5136-03B2-07B7-E86FF19CBE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0635BC4-786C-C819-15A3-854C9FE1F7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66470A-302E-0840-F398-98754880D6E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260661C-3181-4DEF-9C51-29D6300198A4}" type="datetime1">
              <a:rPr lang="en-US" smtClean="0"/>
              <a:t>10/4/2026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64D245-0A0B-F489-505C-40E46B747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11107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228A9F22-5312-CC44-3455-12CC5D6054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6640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E9132D6-0004-C34B-A570-7AECE002713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4054072" cy="6858000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09316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5518865" y="1238584"/>
            <a:ext cx="5722000" cy="3948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96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5518833" y="5131817"/>
            <a:ext cx="5722000" cy="48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67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C1FB7996-49B2-A4E7-8E11-2A7BE5A5F190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CA9F26E-0017-E26C-95DA-5533BA5C1429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EFE8B507-B8E2-99F2-24F7-8AA03B379D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12" name="Picture 11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AC5D4866-3EE4-287F-F272-4DB3A4C25C0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51368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bg>
      <p:bgPr>
        <a:solidFill>
          <a:schemeClr val="dk1"/>
        </a:solidFill>
        <a:effectLst/>
      </p:bgPr>
    </p:bg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0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5"/>
          <p:cNvSpPr txBox="1">
            <a:spLocks noGrp="1"/>
          </p:cNvSpPr>
          <p:nvPr>
            <p:ph type="subTitle" idx="1"/>
          </p:nvPr>
        </p:nvSpPr>
        <p:spPr>
          <a:xfrm flipH="1">
            <a:off x="7445513" y="3872667"/>
            <a:ext cx="2268400" cy="59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2400" b="1">
                <a:latin typeface="Rajdhani"/>
                <a:ea typeface="Rajdhani"/>
                <a:cs typeface="Rajdhani"/>
                <a:sym typeface="Rajdhani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subTitle" idx="2"/>
          </p:nvPr>
        </p:nvSpPr>
        <p:spPr>
          <a:xfrm flipH="1">
            <a:off x="6772400" y="4306033"/>
            <a:ext cx="3614800" cy="98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867">
                <a:latin typeface="Fira Sans Condensed"/>
                <a:ea typeface="Fira Sans Condensed"/>
                <a:cs typeface="Fira Sans Condensed"/>
                <a:sym typeface="Fira Sans Condense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subTitle" idx="3"/>
          </p:nvPr>
        </p:nvSpPr>
        <p:spPr>
          <a:xfrm flipH="1">
            <a:off x="2478180" y="3872667"/>
            <a:ext cx="2268400" cy="59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2400" b="1">
                <a:latin typeface="Rajdhani"/>
                <a:ea typeface="Rajdhani"/>
                <a:cs typeface="Rajdhani"/>
                <a:sym typeface="Rajdhani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ubTitle" idx="4"/>
          </p:nvPr>
        </p:nvSpPr>
        <p:spPr>
          <a:xfrm flipH="1">
            <a:off x="1805067" y="4306033"/>
            <a:ext cx="3614800" cy="98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867">
                <a:latin typeface="Fira Sans Condensed"/>
                <a:ea typeface="Fira Sans Condensed"/>
                <a:cs typeface="Fira Sans Condensed"/>
                <a:sym typeface="Fira Sans Condense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title"/>
          </p:nvPr>
        </p:nvSpPr>
        <p:spPr>
          <a:xfrm>
            <a:off x="960133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endParaRPr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AE6FADCA-D9FD-1646-C0CC-303C063433FB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44E6CCE-C446-16CB-97E2-462D19F6B345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C10786B5-453C-0FA5-9677-05356E1930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3E5D839D-F77C-FD04-7BB7-9F6B85F599A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28594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6"/>
          <p:cNvSpPr txBox="1">
            <a:spLocks noGrp="1"/>
          </p:cNvSpPr>
          <p:nvPr>
            <p:ph type="title"/>
          </p:nvPr>
        </p:nvSpPr>
        <p:spPr>
          <a:xfrm>
            <a:off x="960133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endParaRPr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C6F913C3-CE7A-96FE-33B5-49AAF4E516A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CD130C8-59D4-EED9-3F3D-74B1A2680D0F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C3384B5D-4F7B-C868-E9EF-EC3D41C2CA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3DFD696D-90DC-3AD4-3871-5C55A8E38FC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766805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bg>
      <p:bgPr>
        <a:solidFill>
          <a:schemeClr val="dk1"/>
        </a:solid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Google Shape;30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7"/>
          <p:cNvSpPr txBox="1">
            <a:spLocks noGrp="1"/>
          </p:cNvSpPr>
          <p:nvPr>
            <p:ph type="subTitle" idx="1"/>
          </p:nvPr>
        </p:nvSpPr>
        <p:spPr>
          <a:xfrm>
            <a:off x="3316217" y="1912800"/>
            <a:ext cx="4490400" cy="303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1867">
                <a:latin typeface="Fira Sans Condensed"/>
                <a:ea typeface="Fira Sans Condensed"/>
                <a:cs typeface="Fira Sans Condensed"/>
                <a:sym typeface="Fira Sans Condense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9pPr>
          </a:lstStyle>
          <a:p>
            <a:endParaRPr/>
          </a:p>
        </p:txBody>
      </p:sp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8706971" y="1912800"/>
            <a:ext cx="2622800" cy="303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64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9pPr>
          </a:lstStyle>
          <a:p>
            <a:endParaRPr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37131775-8EBA-B69D-2AC2-7A0FB0B4C6C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EA5E143-1213-F6F3-AB15-5A1DD234F095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91DEFA47-FCC1-AA07-3926-5BAE176547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AC1500E7-41E8-9423-05EA-8A045A201DF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273646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bg>
      <p:bgPr>
        <a:solidFill>
          <a:schemeClr val="dk1"/>
        </a:solidFill>
        <a:effectLst/>
      </p:bgPr>
    </p:bg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Google Shape;34;p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35;p8"/>
          <p:cNvSpPr txBox="1">
            <a:spLocks noGrp="1"/>
          </p:cNvSpPr>
          <p:nvPr>
            <p:ph type="title"/>
          </p:nvPr>
        </p:nvSpPr>
        <p:spPr>
          <a:xfrm>
            <a:off x="3229667" y="1891600"/>
            <a:ext cx="5732800" cy="307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96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9pPr>
          </a:lstStyle>
          <a:p>
            <a:endParaRPr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BA1BDA0B-1D2E-3DF0-896F-610756DA93D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E57234D-A54D-317C-8581-CA65F6C6C50A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233F04E4-944C-6F3A-8E99-256F673F6E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C017CAAB-B847-776D-A5C2-E2F6D162BAC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171407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bg>
      <p:bgPr>
        <a:solidFill>
          <a:schemeClr val="dk1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oogle Shape;37;p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Google Shape;38;p9"/>
          <p:cNvSpPr txBox="1">
            <a:spLocks noGrp="1"/>
          </p:cNvSpPr>
          <p:nvPr>
            <p:ph type="title"/>
          </p:nvPr>
        </p:nvSpPr>
        <p:spPr>
          <a:xfrm>
            <a:off x="697100" y="1295800"/>
            <a:ext cx="5050400" cy="426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42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subTitle" idx="1"/>
          </p:nvPr>
        </p:nvSpPr>
        <p:spPr>
          <a:xfrm>
            <a:off x="6399933" y="2605600"/>
            <a:ext cx="2586800" cy="164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867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title" idx="2" hasCustomPrompt="1"/>
          </p:nvPr>
        </p:nvSpPr>
        <p:spPr>
          <a:xfrm>
            <a:off x="6465560" y="1334833"/>
            <a:ext cx="2702400" cy="24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0"/>
              <a:buNone/>
              <a:defRPr sz="18666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68EA74F6-B83C-D311-BCE3-750BB2687CF6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882207A-7B5F-1BFA-7821-B8F9EA07F77F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3DC3DAA7-247C-6FFA-4BA7-0AB364E8AF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FF5A25B0-0C48-9CC9-7442-33F0E2DAD78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674137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bg>
      <p:bgPr>
        <a:solidFill>
          <a:schemeClr val="dk1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1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10"/>
          <p:cNvSpPr txBox="1">
            <a:spLocks noGrp="1"/>
          </p:cNvSpPr>
          <p:nvPr>
            <p:ph type="title"/>
          </p:nvPr>
        </p:nvSpPr>
        <p:spPr>
          <a:xfrm>
            <a:off x="960133" y="2275800"/>
            <a:ext cx="3679600" cy="230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endParaRPr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CAA1B853-BC18-5FDD-202D-D287DE41E81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AE02174-71A2-CA36-E193-A7C2FDD1EF2C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F7C863A7-7109-0586-0D52-E92192D5F8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0570CC8C-E128-BABA-749A-C448344BADB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572405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pyright">
            <a:extLst>
              <a:ext uri="{FF2B5EF4-FFF2-40B4-BE49-F238E27FC236}">
                <a16:creationId xmlns:a16="http://schemas.microsoft.com/office/drawing/2014/main" id="{867C89C1-24CE-A0AD-46DE-4E2BF16A762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tx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tx1"/>
              </a:solidFill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8FBC81E-90AC-7BFA-751D-FFA60FB2EB4C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E35B8C41-4330-F0BB-F15B-ED7E55B48E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5" name="Picture 4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7FF20C79-5DD5-86A4-8F75-EB3F7F1291D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222907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129514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54284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420964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210135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950704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162607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500948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992380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788411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630926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557377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0.xml"/><Relationship Id="rId8" Type="http://schemas.openxmlformats.org/officeDocument/2006/relationships/slideLayout" Target="../slideLayouts/slideLayout21.xml"/><Relationship Id="rId9" Type="http://schemas.openxmlformats.org/officeDocument/2006/relationships/theme" Target="../theme/theme2.xml"/><Relationship Id="rId10" Type="http://schemas.openxmlformats.org/officeDocument/2006/relationships/image" Target="../media/image2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slideLayout" Target="../slideLayouts/slideLayout23.xml"/><Relationship Id="rId3" Type="http://schemas.openxmlformats.org/officeDocument/2006/relationships/slideLayout" Target="../slideLayouts/slideLayout24.xml"/><Relationship Id="rId4" Type="http://schemas.openxmlformats.org/officeDocument/2006/relationships/slideLayout" Target="../slideLayouts/slideLayout25.xml"/><Relationship Id="rId5" Type="http://schemas.openxmlformats.org/officeDocument/2006/relationships/slideLayout" Target="../slideLayouts/slideLayout26.xml"/><Relationship Id="rId6" Type="http://schemas.openxmlformats.org/officeDocument/2006/relationships/slideLayout" Target="../slideLayouts/slideLayout27.xml"/><Relationship Id="rId7" Type="http://schemas.openxmlformats.org/officeDocument/2006/relationships/slideLayout" Target="../slideLayouts/slideLayout28.xml"/><Relationship Id="rId8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31.xml"/><Relationship Id="rId11" Type="http://schemas.openxmlformats.org/officeDocument/2006/relationships/slideLayout" Target="../slideLayouts/slideLayout32.xml"/><Relationship Id="rId1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D745590-711B-5322-A074-ECC2635DD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54107C-3C70-B4C9-9FB4-B203AF1190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4611AC22-8682-185B-E81E-3998E43C5A4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AFFFAFE-857A-C1D6-F091-5383AB21C99C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Slide Number Placeholder 1">
            <a:extLst>
              <a:ext uri="{FF2B5EF4-FFF2-40B4-BE49-F238E27FC236}">
                <a16:creationId xmlns:a16="http://schemas.microsoft.com/office/drawing/2014/main" id="{0A9FA7B8-5519-3C4F-1621-808E4A61E7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12" name="Picture 11" descr="Shape&#10;&#10;Description automatically generated with medium confidence">
            <a:extLst>
              <a:ext uri="{FF2B5EF4-FFF2-40B4-BE49-F238E27FC236}">
                <a16:creationId xmlns:a16="http://schemas.microsoft.com/office/drawing/2014/main" id="{8F926F69-F90C-748E-F591-DB24EE0832C6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11111023" y="6530231"/>
            <a:ext cx="668633" cy="124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88726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97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950967" y="719333"/>
            <a:ext cx="102900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950967" y="1536633"/>
            <a:ext cx="102900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●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○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■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●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○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■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●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○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■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9pPr>
          </a:lstStyle>
          <a:p>
            <a:endParaRPr/>
          </a:p>
        </p:txBody>
      </p:sp>
      <p:sp>
        <p:nvSpPr>
          <p:cNvPr id="11" name="Copyright">
            <a:extLst>
              <a:ext uri="{FF2B5EF4-FFF2-40B4-BE49-F238E27FC236}">
                <a16:creationId xmlns:a16="http://schemas.microsoft.com/office/drawing/2014/main" id="{96E5D4B2-0499-F419-3205-0C0C06078C0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E508EC0-7D0B-15AE-45D3-35E8FF6969DC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Slide Number Placeholder 1">
            <a:extLst>
              <a:ext uri="{FF2B5EF4-FFF2-40B4-BE49-F238E27FC236}">
                <a16:creationId xmlns:a16="http://schemas.microsoft.com/office/drawing/2014/main" id="{33D58C54-BD57-2D29-6112-314BCAEB2B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14" name="Picture 13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8BBA5884-F404-5E37-FB3A-17A5A2EBEE64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7571885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74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4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449">
          <p15:clr>
            <a:srgbClr val="EA4335"/>
          </p15:clr>
        </p15:guide>
        <p15:guide id="2" pos="2880">
          <p15:clr>
            <a:srgbClr val="EA4335"/>
          </p15:clr>
        </p15:guide>
        <p15:guide id="3" pos="5311">
          <p15:clr>
            <a:srgbClr val="EA4335"/>
          </p15:clr>
        </p15:guide>
        <p15:guide id="4" orient="horz" pos="340">
          <p15:clr>
            <a:srgbClr val="EA4335"/>
          </p15:clr>
        </p15:guide>
        <p15:guide id="5" orient="horz" pos="2903">
          <p15:clr>
            <a:srgbClr val="EA4335"/>
          </p15:clr>
        </p15:guide>
        <p15:guide id="6" orient="horz" pos="1620">
          <p15:clr>
            <a:srgbClr val="EA4335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9515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87" r:id="rId2"/>
    <p:sldLayoutId id="2147483688" r:id="rId3"/>
    <p:sldLayoutId id="2147483689" r:id="rId4"/>
    <p:sldLayoutId id="2147483690" r:id="rId5"/>
    <p:sldLayoutId id="2147483691" r:id="rId6"/>
    <p:sldLayoutId id="2147483692" r:id="rId7"/>
    <p:sldLayoutId id="2147483693" r:id="rId8"/>
    <p:sldLayoutId id="2147483694" r:id="rId9"/>
    <p:sldLayoutId id="2147483695" r:id="rId10"/>
    <p:sldLayoutId id="2147483696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Relationship Id="rId9" Type="http://schemas.openxmlformats.org/officeDocument/2006/relationships/image" Target="../media/image21.png"/><Relationship Id="rId10" Type="http://schemas.openxmlformats.org/officeDocument/2006/relationships/image" Target="../media/image22.png"/><Relationship Id="rId11" Type="http://schemas.openxmlformats.org/officeDocument/2006/relationships/image" Target="../media/image23.png"/><Relationship Id="rId12" Type="http://schemas.openxmlformats.org/officeDocument/2006/relationships/image" Target="../media/image2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27.png"/><Relationship Id="rId4" Type="http://schemas.openxmlformats.org/officeDocument/2006/relationships/image" Target="../media/image25.png"/><Relationship Id="rId5" Type="http://schemas.openxmlformats.org/officeDocument/2006/relationships/image" Target="../media/image15.png"/><Relationship Id="rId6" Type="http://schemas.openxmlformats.org/officeDocument/2006/relationships/image" Target="../media/image26.png"/><Relationship Id="rId7" Type="http://schemas.openxmlformats.org/officeDocument/2006/relationships/image" Target="../media/image12.png"/><Relationship Id="rId8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image" Target="../media/image26.png"/><Relationship Id="rId5" Type="http://schemas.openxmlformats.org/officeDocument/2006/relationships/image" Target="../media/image25.png"/><Relationship Id="rId6" Type="http://schemas.openxmlformats.org/officeDocument/2006/relationships/image" Target="../media/image27.png"/><Relationship Id="rId7" Type="http://schemas.openxmlformats.org/officeDocument/2006/relationships/image" Target="../media/image2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29.jpeg"/><Relationship Id="rId3" Type="http://schemas.openxmlformats.org/officeDocument/2006/relationships/image" Target="../media/image30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31.png"/><Relationship Id="rId5" Type="http://schemas.openxmlformats.org/officeDocument/2006/relationships/image" Target="../media/image15.png"/><Relationship Id="rId6" Type="http://schemas.openxmlformats.org/officeDocument/2006/relationships/image" Target="../media/image32.png"/><Relationship Id="rId7" Type="http://schemas.openxmlformats.org/officeDocument/2006/relationships/image" Target="../media/image1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33.png"/><Relationship Id="rId4" Type="http://schemas.openxmlformats.org/officeDocument/2006/relationships/image" Target="../media/image26.png"/><Relationship Id="rId5" Type="http://schemas.openxmlformats.org/officeDocument/2006/relationships/image" Target="../media/image21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14.png"/><Relationship Id="rId4" Type="http://schemas.openxmlformats.org/officeDocument/2006/relationships/image" Target="../media/image12.png"/><Relationship Id="rId5" Type="http://schemas.openxmlformats.org/officeDocument/2006/relationships/image" Target="../media/image19.png"/><Relationship Id="rId6" Type="http://schemas.openxmlformats.org/officeDocument/2006/relationships/image" Target="../media/image2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3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31.png"/><Relationship Id="rId4" Type="http://schemas.openxmlformats.org/officeDocument/2006/relationships/image" Target="../media/image19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2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29.jpeg"/><Relationship Id="rId3" Type="http://schemas.openxmlformats.org/officeDocument/2006/relationships/image" Target="../media/image30.png"/><Relationship Id="rId4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image" Target="../media/image12.png"/><Relationship Id="rId5" Type="http://schemas.openxmlformats.org/officeDocument/2006/relationships/image" Target="../media/image2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32.png"/><Relationship Id="rId4" Type="http://schemas.openxmlformats.org/officeDocument/2006/relationships/image" Target="../media/image12.png"/><Relationship Id="rId5" Type="http://schemas.openxmlformats.org/officeDocument/2006/relationships/image" Target="../media/image2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8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9" name="Picture 2068" descr="A computer chip with lights&#10;&#10;Description automatically generated">
            <a:extLst>
              <a:ext uri="{FF2B5EF4-FFF2-40B4-BE49-F238E27FC236}">
                <a16:creationId xmlns:a16="http://schemas.microsoft.com/office/drawing/2014/main" id="{73D32A07-7D4C-B962-C8B4-54F17572F5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3" t="9922" r="10349" b="10698"/>
          <a:stretch/>
        </p:blipFill>
        <p:spPr>
          <a:xfrm>
            <a:off x="-1" y="0"/>
            <a:ext cx="12202417" cy="6858000"/>
          </a:xfrm>
          <a:prstGeom prst="rect">
            <a:avLst/>
          </a:prstGeom>
        </p:spPr>
      </p:pic>
      <p:sp>
        <p:nvSpPr>
          <p:cNvPr id="2070" name="Rectangle 2069">
            <a:extLst>
              <a:ext uri="{FF2B5EF4-FFF2-40B4-BE49-F238E27FC236}">
                <a16:creationId xmlns:a16="http://schemas.microsoft.com/office/drawing/2014/main" id="{816D609C-CB6E-8EC9-5E35-E854B7F01BF4}"/>
              </a:ext>
            </a:extLst>
          </p:cNvPr>
          <p:cNvSpPr/>
          <p:nvPr/>
        </p:nvSpPr>
        <p:spPr>
          <a:xfrm>
            <a:off x="0" y="0"/>
            <a:ext cx="12202417" cy="6858000"/>
          </a:xfrm>
          <a:prstGeom prst="rect">
            <a:avLst/>
          </a:prstGeom>
          <a:solidFill>
            <a:srgbClr val="4F2D7F">
              <a:alpha val="3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88" name="Group 2087">
            <a:extLst>
              <a:ext uri="{FF2B5EF4-FFF2-40B4-BE49-F238E27FC236}">
                <a16:creationId xmlns:a16="http://schemas.microsoft.com/office/drawing/2014/main" id="{DE1AF3C9-24AC-CDC7-AA18-4157E2EE443E}"/>
              </a:ext>
            </a:extLst>
          </p:cNvPr>
          <p:cNvGrpSpPr/>
          <p:nvPr/>
        </p:nvGrpSpPr>
        <p:grpSpPr>
          <a:xfrm>
            <a:off x="413591" y="1222666"/>
            <a:ext cx="4542222" cy="3707589"/>
            <a:chOff x="572837" y="1447134"/>
            <a:chExt cx="4542222" cy="3707589"/>
          </a:xfrm>
          <a:solidFill>
            <a:srgbClr val="4F2D7F">
              <a:alpha val="81176"/>
            </a:srgbClr>
          </a:solidFill>
        </p:grpSpPr>
        <p:sp>
          <p:nvSpPr>
            <p:cNvPr id="40" name="Freeform 14">
              <a:extLst>
                <a:ext uri="{FF2B5EF4-FFF2-40B4-BE49-F238E27FC236}">
                  <a16:creationId xmlns:a16="http://schemas.microsoft.com/office/drawing/2014/main" id="{1FDBC604-962A-DB8C-83E7-13242E4B72FC}"/>
                </a:ext>
              </a:extLst>
            </p:cNvPr>
            <p:cNvSpPr/>
            <p:nvPr/>
          </p:nvSpPr>
          <p:spPr>
            <a:xfrm>
              <a:off x="572837" y="1447134"/>
              <a:ext cx="4542222" cy="3707589"/>
            </a:xfrm>
            <a:custGeom>
              <a:avLst/>
              <a:gdLst/>
              <a:ahLst/>
              <a:cxnLst/>
              <a:rect l="l" t="t" r="r" b="b"/>
              <a:pathLst>
                <a:path w="16256000" h="13268961">
                  <a:moveTo>
                    <a:pt x="873506" y="0"/>
                  </a:moveTo>
                  <a:cubicBezTo>
                    <a:pt x="391033" y="635"/>
                    <a:pt x="0" y="364490"/>
                    <a:pt x="0" y="812927"/>
                  </a:cubicBezTo>
                  <a:lnTo>
                    <a:pt x="0" y="12451461"/>
                  </a:lnTo>
                  <a:cubicBezTo>
                    <a:pt x="0" y="12900533"/>
                    <a:pt x="391668" y="13264387"/>
                    <a:pt x="874776" y="13264387"/>
                  </a:cubicBezTo>
                  <a:lnTo>
                    <a:pt x="11544554" y="13268961"/>
                  </a:lnTo>
                  <a:lnTo>
                    <a:pt x="11544554" y="13260705"/>
                  </a:lnTo>
                  <a:lnTo>
                    <a:pt x="11634089" y="13264387"/>
                  </a:lnTo>
                  <a:cubicBezTo>
                    <a:pt x="14027150" y="13264387"/>
                    <a:pt x="15995396" y="11723751"/>
                    <a:pt x="16232124" y="9749409"/>
                  </a:cubicBezTo>
                  <a:lnTo>
                    <a:pt x="16248887" y="9468866"/>
                  </a:lnTo>
                  <a:lnTo>
                    <a:pt x="16256000" y="813054"/>
                  </a:lnTo>
                  <a:cubicBezTo>
                    <a:pt x="16256000" y="364490"/>
                    <a:pt x="15864967" y="635"/>
                    <a:pt x="15382494" y="0"/>
                  </a:cubicBezTo>
                  <a:close/>
                </a:path>
              </a:pathLst>
            </a:custGeom>
            <a:grpFill/>
            <a:ln w="12700">
              <a:noFill/>
            </a:ln>
          </p:spPr>
          <p:txBody>
            <a:bodyPr/>
            <a:lstStyle/>
            <a:p>
              <a:endParaRPr lang="en-US" sz="1828" dirty="0"/>
            </a:p>
          </p:txBody>
        </p:sp>
        <p:grpSp>
          <p:nvGrpSpPr>
            <p:cNvPr id="41" name="Group 17">
              <a:extLst>
                <a:ext uri="{FF2B5EF4-FFF2-40B4-BE49-F238E27FC236}">
                  <a16:creationId xmlns:a16="http://schemas.microsoft.com/office/drawing/2014/main" id="{918557DA-1B6C-504B-34FF-5FEB34EFC423}"/>
                </a:ext>
              </a:extLst>
            </p:cNvPr>
            <p:cNvGrpSpPr/>
            <p:nvPr/>
          </p:nvGrpSpPr>
          <p:grpSpPr>
            <a:xfrm>
              <a:off x="1630821" y="4171781"/>
              <a:ext cx="916104" cy="678800"/>
              <a:chOff x="0" y="0"/>
              <a:chExt cx="1202680" cy="891143"/>
            </a:xfrm>
            <a:grpFill/>
          </p:grpSpPr>
          <p:sp>
            <p:nvSpPr>
              <p:cNvPr id="42" name="Freeform 18">
                <a:extLst>
                  <a:ext uri="{FF2B5EF4-FFF2-40B4-BE49-F238E27FC236}">
                    <a16:creationId xmlns:a16="http://schemas.microsoft.com/office/drawing/2014/main" id="{E34E5AFC-4359-ECB4-99E3-C705004B28A7}"/>
                  </a:ext>
                </a:extLst>
              </p:cNvPr>
              <p:cNvSpPr/>
              <p:nvPr/>
            </p:nvSpPr>
            <p:spPr>
              <a:xfrm>
                <a:off x="312183" y="0"/>
                <a:ext cx="578313" cy="578313"/>
              </a:xfrm>
              <a:custGeom>
                <a:avLst/>
                <a:gdLst/>
                <a:ahLst/>
                <a:cxnLst/>
                <a:rect l="l" t="t" r="r" b="b"/>
                <a:pathLst>
                  <a:path w="578313" h="578313">
                    <a:moveTo>
                      <a:pt x="0" y="0"/>
                    </a:moveTo>
                    <a:lnTo>
                      <a:pt x="578314" y="0"/>
                    </a:lnTo>
                    <a:lnTo>
                      <a:pt x="578314" y="578313"/>
                    </a:lnTo>
                    <a:lnTo>
                      <a:pt x="0" y="578313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43" name="TextBox 19">
                <a:extLst>
                  <a:ext uri="{FF2B5EF4-FFF2-40B4-BE49-F238E27FC236}">
                    <a16:creationId xmlns:a16="http://schemas.microsoft.com/office/drawing/2014/main" id="{0143F694-D9B7-1696-3A82-00CE04B83808}"/>
                  </a:ext>
                </a:extLst>
              </p:cNvPr>
              <p:cNvSpPr txBox="1"/>
              <p:nvPr/>
            </p:nvSpPr>
            <p:spPr>
              <a:xfrm>
                <a:off x="0" y="628934"/>
                <a:ext cx="1202680" cy="262209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1556"/>
                  </a:lnSpc>
                </a:pPr>
                <a:r>
                  <a:rPr lang="en-US" sz="1111" dirty="0">
                    <a:solidFill>
                      <a:srgbClr val="FFFFFF"/>
                    </a:solidFill>
                    <a:latin typeface="GT Walsheim Pro Regular" panose="02000503040000020003" pitchFamily="50" charset="0"/>
                  </a:rPr>
                  <a:t>Collaborative</a:t>
                </a:r>
              </a:p>
            </p:txBody>
          </p:sp>
        </p:grpSp>
        <p:grpSp>
          <p:nvGrpSpPr>
            <p:cNvPr id="44" name="Group 20">
              <a:extLst>
                <a:ext uri="{FF2B5EF4-FFF2-40B4-BE49-F238E27FC236}">
                  <a16:creationId xmlns:a16="http://schemas.microsoft.com/office/drawing/2014/main" id="{FEDC9E50-2530-C25D-071D-4DCA5685716A}"/>
                </a:ext>
              </a:extLst>
            </p:cNvPr>
            <p:cNvGrpSpPr/>
            <p:nvPr/>
          </p:nvGrpSpPr>
          <p:grpSpPr>
            <a:xfrm>
              <a:off x="2591399" y="4176613"/>
              <a:ext cx="916104" cy="683562"/>
              <a:chOff x="17785" y="9225"/>
              <a:chExt cx="1202680" cy="897396"/>
            </a:xfrm>
            <a:grpFill/>
          </p:grpSpPr>
          <p:grpSp>
            <p:nvGrpSpPr>
              <p:cNvPr id="45" name="Group 21">
                <a:extLst>
                  <a:ext uri="{FF2B5EF4-FFF2-40B4-BE49-F238E27FC236}">
                    <a16:creationId xmlns:a16="http://schemas.microsoft.com/office/drawing/2014/main" id="{780494CB-0263-611D-BE38-71BECA51F6BA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39323" y="9225"/>
                <a:ext cx="575358" cy="575340"/>
                <a:chOff x="63496" y="63496"/>
                <a:chExt cx="3960117" cy="3959990"/>
              </a:xfrm>
              <a:grpFill/>
            </p:grpSpPr>
            <p:sp>
              <p:nvSpPr>
                <p:cNvPr id="47" name="Freeform 22">
                  <a:extLst>
                    <a:ext uri="{FF2B5EF4-FFF2-40B4-BE49-F238E27FC236}">
                      <a16:creationId xmlns:a16="http://schemas.microsoft.com/office/drawing/2014/main" id="{3A95F4C9-50B9-26D0-078C-055A07467B17}"/>
                    </a:ext>
                  </a:extLst>
                </p:cNvPr>
                <p:cNvSpPr/>
                <p:nvPr/>
              </p:nvSpPr>
              <p:spPr>
                <a:xfrm>
                  <a:off x="63496" y="63496"/>
                  <a:ext cx="3960117" cy="39599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60114" h="3959987">
                      <a:moveTo>
                        <a:pt x="1980057" y="0"/>
                      </a:moveTo>
                      <a:cubicBezTo>
                        <a:pt x="886460" y="0"/>
                        <a:pt x="0" y="886460"/>
                        <a:pt x="0" y="1980057"/>
                      </a:cubicBezTo>
                      <a:cubicBezTo>
                        <a:pt x="0" y="3073654"/>
                        <a:pt x="886460" y="3959987"/>
                        <a:pt x="1980057" y="3959987"/>
                      </a:cubicBezTo>
                      <a:cubicBezTo>
                        <a:pt x="3073654" y="3959987"/>
                        <a:pt x="3960114" y="3073527"/>
                        <a:pt x="3960114" y="1980057"/>
                      </a:cubicBezTo>
                      <a:cubicBezTo>
                        <a:pt x="3960114" y="886587"/>
                        <a:pt x="3073527" y="0"/>
                        <a:pt x="1980057" y="0"/>
                      </a:cubicBezTo>
                      <a:moveTo>
                        <a:pt x="1980057" y="127000"/>
                      </a:moveTo>
                      <a:cubicBezTo>
                        <a:pt x="2474976" y="127000"/>
                        <a:pt x="2940304" y="319786"/>
                        <a:pt x="3290316" y="669671"/>
                      </a:cubicBezTo>
                      <a:cubicBezTo>
                        <a:pt x="3640328" y="1019556"/>
                        <a:pt x="3832987" y="1485011"/>
                        <a:pt x="3832987" y="1979930"/>
                      </a:cubicBezTo>
                      <a:cubicBezTo>
                        <a:pt x="3832987" y="2474849"/>
                        <a:pt x="3640201" y="2940177"/>
                        <a:pt x="3290316" y="3290189"/>
                      </a:cubicBezTo>
                      <a:cubicBezTo>
                        <a:pt x="2940431" y="3640201"/>
                        <a:pt x="2474976" y="3832987"/>
                        <a:pt x="1980057" y="3832987"/>
                      </a:cubicBezTo>
                      <a:cubicBezTo>
                        <a:pt x="1485138" y="3832987"/>
                        <a:pt x="1019810" y="3640201"/>
                        <a:pt x="669798" y="3290189"/>
                      </a:cubicBezTo>
                      <a:cubicBezTo>
                        <a:pt x="319786" y="2940177"/>
                        <a:pt x="127000" y="2474976"/>
                        <a:pt x="127000" y="1980057"/>
                      </a:cubicBezTo>
                      <a:cubicBezTo>
                        <a:pt x="127000" y="1485138"/>
                        <a:pt x="319786" y="1019683"/>
                        <a:pt x="669798" y="669671"/>
                      </a:cubicBezTo>
                      <a:cubicBezTo>
                        <a:pt x="1019810" y="319659"/>
                        <a:pt x="1485011" y="127000"/>
                        <a:pt x="1980057" y="127000"/>
                      </a:cubicBezTo>
                    </a:path>
                  </a:pathLst>
                </a:custGeom>
                <a:grpFill/>
              </p:spPr>
              <p:txBody>
                <a:bodyPr/>
                <a:lstStyle/>
                <a:p>
                  <a:endParaRPr lang="en-US" sz="1828" dirty="0"/>
                </a:p>
              </p:txBody>
            </p:sp>
            <p:sp>
              <p:nvSpPr>
                <p:cNvPr id="48" name="Freeform 23">
                  <a:extLst>
                    <a:ext uri="{FF2B5EF4-FFF2-40B4-BE49-F238E27FC236}">
                      <a16:creationId xmlns:a16="http://schemas.microsoft.com/office/drawing/2014/main" id="{B32D3C51-9F00-3261-6041-F3495AD05D55}"/>
                    </a:ext>
                  </a:extLst>
                </p:cNvPr>
                <p:cNvSpPr/>
                <p:nvPr/>
              </p:nvSpPr>
              <p:spPr>
                <a:xfrm>
                  <a:off x="1374648" y="1043940"/>
                  <a:ext cx="1337056" cy="13370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7056" h="1337056">
                      <a:moveTo>
                        <a:pt x="1337056" y="668528"/>
                      </a:moveTo>
                      <a:cubicBezTo>
                        <a:pt x="1337056" y="1037717"/>
                        <a:pt x="1037717" y="1337056"/>
                        <a:pt x="668528" y="1337056"/>
                      </a:cubicBezTo>
                      <a:cubicBezTo>
                        <a:pt x="299339" y="1337056"/>
                        <a:pt x="0" y="1037717"/>
                        <a:pt x="0" y="668528"/>
                      </a:cubicBezTo>
                      <a:lnTo>
                        <a:pt x="63500" y="668528"/>
                      </a:lnTo>
                      <a:lnTo>
                        <a:pt x="0" y="668528"/>
                      </a:lnTo>
                      <a:cubicBezTo>
                        <a:pt x="0" y="299339"/>
                        <a:pt x="299339" y="0"/>
                        <a:pt x="668528" y="0"/>
                      </a:cubicBezTo>
                      <a:lnTo>
                        <a:pt x="668528" y="63500"/>
                      </a:lnTo>
                      <a:lnTo>
                        <a:pt x="668528" y="0"/>
                      </a:lnTo>
                      <a:cubicBezTo>
                        <a:pt x="1037717" y="0"/>
                        <a:pt x="1337056" y="299339"/>
                        <a:pt x="1337056" y="668528"/>
                      </a:cubicBezTo>
                      <a:lnTo>
                        <a:pt x="1273556" y="668528"/>
                      </a:lnTo>
                      <a:lnTo>
                        <a:pt x="1337056" y="668528"/>
                      </a:lnTo>
                      <a:moveTo>
                        <a:pt x="1210056" y="668528"/>
                      </a:moveTo>
                      <a:cubicBezTo>
                        <a:pt x="1210056" y="369443"/>
                        <a:pt x="967613" y="127000"/>
                        <a:pt x="668528" y="127000"/>
                      </a:cubicBezTo>
                      <a:cubicBezTo>
                        <a:pt x="369443" y="127000"/>
                        <a:pt x="127000" y="369443"/>
                        <a:pt x="127000" y="668528"/>
                      </a:cubicBezTo>
                      <a:cubicBezTo>
                        <a:pt x="127000" y="967613"/>
                        <a:pt x="369443" y="1210056"/>
                        <a:pt x="668528" y="1210056"/>
                      </a:cubicBezTo>
                      <a:cubicBezTo>
                        <a:pt x="967613" y="1210056"/>
                        <a:pt x="1210056" y="967613"/>
                        <a:pt x="1210056" y="668528"/>
                      </a:cubicBezTo>
                      <a:close/>
                    </a:path>
                  </a:pathLst>
                </a:custGeom>
                <a:grpFill/>
              </p:spPr>
              <p:txBody>
                <a:bodyPr/>
                <a:lstStyle/>
                <a:p>
                  <a:endParaRPr lang="en-US" sz="1828" dirty="0"/>
                </a:p>
              </p:txBody>
            </p:sp>
            <p:sp>
              <p:nvSpPr>
                <p:cNvPr id="49" name="Freeform 24">
                  <a:extLst>
                    <a:ext uri="{FF2B5EF4-FFF2-40B4-BE49-F238E27FC236}">
                      <a16:creationId xmlns:a16="http://schemas.microsoft.com/office/drawing/2014/main" id="{0056D7FD-4921-D2F2-EF51-CE13FBD6B8A9}"/>
                    </a:ext>
                  </a:extLst>
                </p:cNvPr>
                <p:cNvSpPr/>
                <p:nvPr/>
              </p:nvSpPr>
              <p:spPr>
                <a:xfrm>
                  <a:off x="1839214" y="1310386"/>
                  <a:ext cx="408432" cy="80429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8432" h="804291">
                      <a:moveTo>
                        <a:pt x="262890" y="96520"/>
                      </a:moveTo>
                      <a:lnTo>
                        <a:pt x="125349" y="426466"/>
                      </a:lnTo>
                      <a:lnTo>
                        <a:pt x="66675" y="402082"/>
                      </a:lnTo>
                      <a:lnTo>
                        <a:pt x="66675" y="338582"/>
                      </a:lnTo>
                      <a:lnTo>
                        <a:pt x="341630" y="338582"/>
                      </a:lnTo>
                      <a:cubicBezTo>
                        <a:pt x="362839" y="338582"/>
                        <a:pt x="382651" y="349250"/>
                        <a:pt x="394462" y="366903"/>
                      </a:cubicBezTo>
                      <a:cubicBezTo>
                        <a:pt x="406273" y="384556"/>
                        <a:pt x="408432" y="406908"/>
                        <a:pt x="400304" y="426593"/>
                      </a:cubicBezTo>
                      <a:lnTo>
                        <a:pt x="262763" y="756666"/>
                      </a:lnTo>
                      <a:cubicBezTo>
                        <a:pt x="249301" y="789051"/>
                        <a:pt x="212090" y="804291"/>
                        <a:pt x="179705" y="790829"/>
                      </a:cubicBezTo>
                      <a:cubicBezTo>
                        <a:pt x="147320" y="777367"/>
                        <a:pt x="132080" y="740156"/>
                        <a:pt x="145542" y="707771"/>
                      </a:cubicBezTo>
                      <a:lnTo>
                        <a:pt x="283083" y="377698"/>
                      </a:lnTo>
                      <a:lnTo>
                        <a:pt x="341757" y="402082"/>
                      </a:lnTo>
                      <a:lnTo>
                        <a:pt x="341757" y="465582"/>
                      </a:lnTo>
                      <a:lnTo>
                        <a:pt x="66802" y="465582"/>
                      </a:lnTo>
                      <a:cubicBezTo>
                        <a:pt x="45593" y="465582"/>
                        <a:pt x="25781" y="454914"/>
                        <a:pt x="13970" y="437261"/>
                      </a:cubicBezTo>
                      <a:cubicBezTo>
                        <a:pt x="2159" y="419608"/>
                        <a:pt x="0" y="397256"/>
                        <a:pt x="8128" y="377571"/>
                      </a:cubicBezTo>
                      <a:lnTo>
                        <a:pt x="145669" y="47625"/>
                      </a:lnTo>
                      <a:cubicBezTo>
                        <a:pt x="159131" y="15240"/>
                        <a:pt x="196342" y="0"/>
                        <a:pt x="228727" y="13462"/>
                      </a:cubicBezTo>
                      <a:cubicBezTo>
                        <a:pt x="261112" y="26924"/>
                        <a:pt x="276352" y="64135"/>
                        <a:pt x="262890" y="96520"/>
                      </a:cubicBezTo>
                      <a:close/>
                    </a:path>
                  </a:pathLst>
                </a:custGeom>
                <a:grpFill/>
              </p:spPr>
              <p:txBody>
                <a:bodyPr/>
                <a:lstStyle/>
                <a:p>
                  <a:endParaRPr lang="en-US" sz="1828" dirty="0"/>
                </a:p>
              </p:txBody>
            </p:sp>
            <p:sp>
              <p:nvSpPr>
                <p:cNvPr id="50" name="Freeform 25">
                  <a:extLst>
                    <a:ext uri="{FF2B5EF4-FFF2-40B4-BE49-F238E27FC236}">
                      <a16:creationId xmlns:a16="http://schemas.microsoft.com/office/drawing/2014/main" id="{A4C8DCCA-39DE-1429-50E8-B7E2C9974D63}"/>
                    </a:ext>
                  </a:extLst>
                </p:cNvPr>
                <p:cNvSpPr/>
                <p:nvPr/>
              </p:nvSpPr>
              <p:spPr>
                <a:xfrm>
                  <a:off x="1058291" y="731139"/>
                  <a:ext cx="2276094" cy="257632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76094" h="2576322">
                      <a:moveTo>
                        <a:pt x="288798" y="2391029"/>
                      </a:moveTo>
                      <a:lnTo>
                        <a:pt x="288798" y="1689481"/>
                      </a:lnTo>
                      <a:lnTo>
                        <a:pt x="352298" y="1689481"/>
                      </a:lnTo>
                      <a:lnTo>
                        <a:pt x="307340" y="1734312"/>
                      </a:lnTo>
                      <a:cubicBezTo>
                        <a:pt x="126492" y="1553083"/>
                        <a:pt x="0" y="1283462"/>
                        <a:pt x="0" y="1005459"/>
                      </a:cubicBezTo>
                      <a:lnTo>
                        <a:pt x="63500" y="1005459"/>
                      </a:lnTo>
                      <a:lnTo>
                        <a:pt x="0" y="1005459"/>
                      </a:lnTo>
                      <a:cubicBezTo>
                        <a:pt x="0" y="451231"/>
                        <a:pt x="438912" y="0"/>
                        <a:pt x="995045" y="0"/>
                      </a:cubicBezTo>
                      <a:lnTo>
                        <a:pt x="995045" y="63500"/>
                      </a:lnTo>
                      <a:lnTo>
                        <a:pt x="995045" y="0"/>
                      </a:lnTo>
                      <a:cubicBezTo>
                        <a:pt x="1549400" y="0"/>
                        <a:pt x="2010664" y="449326"/>
                        <a:pt x="2010664" y="1005459"/>
                      </a:cubicBezTo>
                      <a:lnTo>
                        <a:pt x="1947164" y="1005459"/>
                      </a:lnTo>
                      <a:lnTo>
                        <a:pt x="2010664" y="1005459"/>
                      </a:lnTo>
                      <a:cubicBezTo>
                        <a:pt x="2010664" y="1009777"/>
                        <a:pt x="2010664" y="1013968"/>
                        <a:pt x="2010791" y="1018667"/>
                      </a:cubicBezTo>
                      <a:lnTo>
                        <a:pt x="2010918" y="1027938"/>
                      </a:lnTo>
                      <a:lnTo>
                        <a:pt x="2010918" y="1032891"/>
                      </a:lnTo>
                      <a:lnTo>
                        <a:pt x="2010791" y="1043432"/>
                      </a:lnTo>
                      <a:lnTo>
                        <a:pt x="1947164" y="1046734"/>
                      </a:lnTo>
                      <a:lnTo>
                        <a:pt x="2004060" y="1018540"/>
                      </a:lnTo>
                      <a:lnTo>
                        <a:pt x="2266315" y="1547876"/>
                      </a:lnTo>
                      <a:cubicBezTo>
                        <a:pt x="2276094" y="1567561"/>
                        <a:pt x="2274951" y="1590929"/>
                        <a:pt x="2263394" y="1609598"/>
                      </a:cubicBezTo>
                      <a:cubicBezTo>
                        <a:pt x="2251837" y="1628267"/>
                        <a:pt x="2231390" y="1639570"/>
                        <a:pt x="2209419" y="1639570"/>
                      </a:cubicBezTo>
                      <a:lnTo>
                        <a:pt x="1906143" y="1639570"/>
                      </a:lnTo>
                      <a:lnTo>
                        <a:pt x="1906143" y="1576070"/>
                      </a:lnTo>
                      <a:lnTo>
                        <a:pt x="1969643" y="1576070"/>
                      </a:lnTo>
                      <a:lnTo>
                        <a:pt x="1969643" y="1868297"/>
                      </a:lnTo>
                      <a:lnTo>
                        <a:pt x="1906143" y="1868297"/>
                      </a:lnTo>
                      <a:lnTo>
                        <a:pt x="1969643" y="1868297"/>
                      </a:lnTo>
                      <a:cubicBezTo>
                        <a:pt x="1969643" y="2044954"/>
                        <a:pt x="1849882" y="2158619"/>
                        <a:pt x="1675765" y="2158619"/>
                      </a:cubicBezTo>
                      <a:lnTo>
                        <a:pt x="1335405" y="2158619"/>
                      </a:lnTo>
                      <a:lnTo>
                        <a:pt x="1335405" y="2095119"/>
                      </a:lnTo>
                      <a:lnTo>
                        <a:pt x="1398905" y="2095119"/>
                      </a:lnTo>
                      <a:lnTo>
                        <a:pt x="1398905" y="2512822"/>
                      </a:lnTo>
                      <a:cubicBezTo>
                        <a:pt x="1398905" y="2547874"/>
                        <a:pt x="1370457" y="2576322"/>
                        <a:pt x="1335405" y="2576322"/>
                      </a:cubicBezTo>
                      <a:cubicBezTo>
                        <a:pt x="1300353" y="2576322"/>
                        <a:pt x="1271905" y="2547874"/>
                        <a:pt x="1271905" y="2512822"/>
                      </a:cubicBezTo>
                      <a:lnTo>
                        <a:pt x="1271905" y="2094992"/>
                      </a:lnTo>
                      <a:cubicBezTo>
                        <a:pt x="1271905" y="2059940"/>
                        <a:pt x="1300353" y="2031492"/>
                        <a:pt x="1335405" y="2031492"/>
                      </a:cubicBezTo>
                      <a:lnTo>
                        <a:pt x="1675765" y="2031492"/>
                      </a:lnTo>
                      <a:cubicBezTo>
                        <a:pt x="1782318" y="2031492"/>
                        <a:pt x="1842643" y="1972056"/>
                        <a:pt x="1842643" y="1868170"/>
                      </a:cubicBezTo>
                      <a:lnTo>
                        <a:pt x="1842643" y="1575943"/>
                      </a:lnTo>
                      <a:cubicBezTo>
                        <a:pt x="1842643" y="1540891"/>
                        <a:pt x="1871091" y="1512443"/>
                        <a:pt x="1906143" y="1512443"/>
                      </a:cubicBezTo>
                      <a:lnTo>
                        <a:pt x="2209546" y="1512443"/>
                      </a:lnTo>
                      <a:lnTo>
                        <a:pt x="2209546" y="1575943"/>
                      </a:lnTo>
                      <a:lnTo>
                        <a:pt x="2152650" y="1604137"/>
                      </a:lnTo>
                      <a:lnTo>
                        <a:pt x="1890395" y="1074801"/>
                      </a:lnTo>
                      <a:cubicBezTo>
                        <a:pt x="1885696" y="1065276"/>
                        <a:pt x="1883410" y="1054735"/>
                        <a:pt x="1883791" y="1044194"/>
                      </a:cubicBezTo>
                      <a:lnTo>
                        <a:pt x="1884045" y="1036828"/>
                      </a:lnTo>
                      <a:lnTo>
                        <a:pt x="1884045" y="1032891"/>
                      </a:lnTo>
                      <a:lnTo>
                        <a:pt x="1884045" y="1024890"/>
                      </a:lnTo>
                      <a:lnTo>
                        <a:pt x="1883918" y="1010793"/>
                      </a:lnTo>
                      <a:lnTo>
                        <a:pt x="1883918" y="1005459"/>
                      </a:lnTo>
                      <a:cubicBezTo>
                        <a:pt x="1883918" y="521335"/>
                        <a:pt x="1481328" y="127000"/>
                        <a:pt x="995299" y="127000"/>
                      </a:cubicBezTo>
                      <a:cubicBezTo>
                        <a:pt x="511048" y="127000"/>
                        <a:pt x="127254" y="519430"/>
                        <a:pt x="127254" y="1005459"/>
                      </a:cubicBezTo>
                      <a:cubicBezTo>
                        <a:pt x="127254" y="1246759"/>
                        <a:pt x="238125" y="1484884"/>
                        <a:pt x="397510" y="1644650"/>
                      </a:cubicBezTo>
                      <a:cubicBezTo>
                        <a:pt x="409448" y="1656588"/>
                        <a:pt x="416052" y="1672717"/>
                        <a:pt x="416052" y="1689481"/>
                      </a:cubicBezTo>
                      <a:lnTo>
                        <a:pt x="416052" y="2391156"/>
                      </a:lnTo>
                      <a:cubicBezTo>
                        <a:pt x="416052" y="2426208"/>
                        <a:pt x="387604" y="2454656"/>
                        <a:pt x="352552" y="2454656"/>
                      </a:cubicBezTo>
                      <a:cubicBezTo>
                        <a:pt x="317500" y="2454656"/>
                        <a:pt x="289052" y="2426208"/>
                        <a:pt x="289052" y="2391156"/>
                      </a:cubicBezTo>
                      <a:close/>
                    </a:path>
                  </a:pathLst>
                </a:custGeom>
                <a:grpFill/>
              </p:spPr>
              <p:txBody>
                <a:bodyPr/>
                <a:lstStyle/>
                <a:p>
                  <a:endParaRPr lang="en-US" sz="1828" dirty="0"/>
                </a:p>
              </p:txBody>
            </p:sp>
            <p:sp>
              <p:nvSpPr>
                <p:cNvPr id="51" name="Freeform 26">
                  <a:extLst>
                    <a:ext uri="{FF2B5EF4-FFF2-40B4-BE49-F238E27FC236}">
                      <a16:creationId xmlns:a16="http://schemas.microsoft.com/office/drawing/2014/main" id="{06F28DCE-70C7-890A-CADC-9475A90E9EE1}"/>
                    </a:ext>
                  </a:extLst>
                </p:cNvPr>
                <p:cNvSpPr/>
                <p:nvPr/>
              </p:nvSpPr>
              <p:spPr>
                <a:xfrm>
                  <a:off x="1378458" y="3067558"/>
                  <a:ext cx="1067435" cy="28968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67435" h="289687">
                      <a:moveTo>
                        <a:pt x="1067435" y="226822"/>
                      </a:moveTo>
                      <a:lnTo>
                        <a:pt x="1033145" y="237363"/>
                      </a:lnTo>
                      <a:cubicBezTo>
                        <a:pt x="916178" y="271399"/>
                        <a:pt x="792480" y="289687"/>
                        <a:pt x="664718" y="289687"/>
                      </a:cubicBezTo>
                      <a:cubicBezTo>
                        <a:pt x="422275" y="289687"/>
                        <a:pt x="195072" y="224028"/>
                        <a:pt x="0" y="109474"/>
                      </a:cubicBezTo>
                      <a:lnTo>
                        <a:pt x="64262" y="0"/>
                      </a:lnTo>
                      <a:cubicBezTo>
                        <a:pt x="240411" y="103378"/>
                        <a:pt x="445516" y="162687"/>
                        <a:pt x="664718" y="162687"/>
                      </a:cubicBezTo>
                      <a:cubicBezTo>
                        <a:pt x="780415" y="162687"/>
                        <a:pt x="892048" y="146177"/>
                        <a:pt x="997585" y="115443"/>
                      </a:cubicBezTo>
                      <a:lnTo>
                        <a:pt x="1015365" y="176403"/>
                      </a:lnTo>
                      <a:lnTo>
                        <a:pt x="997585" y="115443"/>
                      </a:lnTo>
                      <a:cubicBezTo>
                        <a:pt x="1007999" y="112395"/>
                        <a:pt x="1018286" y="109220"/>
                        <a:pt x="1028573" y="105918"/>
                      </a:cubicBezTo>
                      <a:close/>
                    </a:path>
                  </a:pathLst>
                </a:custGeom>
                <a:grpFill/>
              </p:spPr>
              <p:txBody>
                <a:bodyPr/>
                <a:lstStyle/>
                <a:p>
                  <a:endParaRPr lang="en-US" sz="1828" dirty="0"/>
                </a:p>
              </p:txBody>
            </p:sp>
          </p:grpSp>
          <p:sp>
            <p:nvSpPr>
              <p:cNvPr id="46" name="TextBox 27">
                <a:extLst>
                  <a:ext uri="{FF2B5EF4-FFF2-40B4-BE49-F238E27FC236}">
                    <a16:creationId xmlns:a16="http://schemas.microsoft.com/office/drawing/2014/main" id="{904B4456-BA89-9444-9E9C-D89851A6D8AE}"/>
                  </a:ext>
                </a:extLst>
              </p:cNvPr>
              <p:cNvSpPr txBox="1"/>
              <p:nvPr/>
            </p:nvSpPr>
            <p:spPr>
              <a:xfrm>
                <a:off x="17785" y="644412"/>
                <a:ext cx="1202680" cy="262209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1556"/>
                  </a:lnSpc>
                </a:pPr>
                <a:r>
                  <a:rPr lang="en-US" sz="1111" dirty="0">
                    <a:solidFill>
                      <a:srgbClr val="FFFFFF"/>
                    </a:solidFill>
                    <a:latin typeface="GT Walsheim Pro Regular" panose="02000503040000020003" pitchFamily="50" charset="0"/>
                  </a:rPr>
                  <a:t>Innovative</a:t>
                </a:r>
              </a:p>
            </p:txBody>
          </p:sp>
        </p:grpSp>
        <p:grpSp>
          <p:nvGrpSpPr>
            <p:cNvPr id="52" name="Group 39">
              <a:extLst>
                <a:ext uri="{FF2B5EF4-FFF2-40B4-BE49-F238E27FC236}">
                  <a16:creationId xmlns:a16="http://schemas.microsoft.com/office/drawing/2014/main" id="{621FAD1B-3D86-BAAD-78F2-8B40577F53CB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961133" y="4171781"/>
              <a:ext cx="448436" cy="448436"/>
              <a:chOff x="0" y="0"/>
              <a:chExt cx="4087000" cy="4087000"/>
            </a:xfrm>
            <a:grpFill/>
          </p:grpSpPr>
          <p:sp>
            <p:nvSpPr>
              <p:cNvPr id="53" name="Freeform 40">
                <a:extLst>
                  <a:ext uri="{FF2B5EF4-FFF2-40B4-BE49-F238E27FC236}">
                    <a16:creationId xmlns:a16="http://schemas.microsoft.com/office/drawing/2014/main" id="{6424DA76-3A63-3955-FC85-4EDAE87984FA}"/>
                  </a:ext>
                </a:extLst>
              </p:cNvPr>
              <p:cNvSpPr/>
              <p:nvPr/>
            </p:nvSpPr>
            <p:spPr>
              <a:xfrm>
                <a:off x="63500" y="63500"/>
                <a:ext cx="3960114" cy="3959987"/>
              </a:xfrm>
              <a:custGeom>
                <a:avLst/>
                <a:gdLst/>
                <a:ahLst/>
                <a:cxnLst/>
                <a:rect l="l" t="t" r="r" b="b"/>
                <a:pathLst>
                  <a:path w="3960114" h="3959987">
                    <a:moveTo>
                      <a:pt x="1980057" y="0"/>
                    </a:moveTo>
                    <a:cubicBezTo>
                      <a:pt x="886460" y="0"/>
                      <a:pt x="0" y="886460"/>
                      <a:pt x="0" y="1980057"/>
                    </a:cubicBezTo>
                    <a:cubicBezTo>
                      <a:pt x="0" y="3073654"/>
                      <a:pt x="886460" y="3959987"/>
                      <a:pt x="1980057" y="3959987"/>
                    </a:cubicBezTo>
                    <a:cubicBezTo>
                      <a:pt x="3073654" y="3959987"/>
                      <a:pt x="3960114" y="3073527"/>
                      <a:pt x="3960114" y="1980057"/>
                    </a:cubicBezTo>
                    <a:cubicBezTo>
                      <a:pt x="3960114" y="886587"/>
                      <a:pt x="3073527" y="0"/>
                      <a:pt x="1980057" y="0"/>
                    </a:cubicBezTo>
                    <a:moveTo>
                      <a:pt x="1980057" y="127000"/>
                    </a:moveTo>
                    <a:cubicBezTo>
                      <a:pt x="2474976" y="127000"/>
                      <a:pt x="2940304" y="319786"/>
                      <a:pt x="3290316" y="669671"/>
                    </a:cubicBezTo>
                    <a:cubicBezTo>
                      <a:pt x="3640328" y="1019556"/>
                      <a:pt x="3832987" y="1485011"/>
                      <a:pt x="3832987" y="1979930"/>
                    </a:cubicBezTo>
                    <a:cubicBezTo>
                      <a:pt x="3832987" y="2474849"/>
                      <a:pt x="3640201" y="2940177"/>
                      <a:pt x="3290316" y="3290189"/>
                    </a:cubicBezTo>
                    <a:cubicBezTo>
                      <a:pt x="2940431" y="3640201"/>
                      <a:pt x="2474976" y="3832987"/>
                      <a:pt x="1980057" y="3832987"/>
                    </a:cubicBezTo>
                    <a:cubicBezTo>
                      <a:pt x="1485138" y="3832987"/>
                      <a:pt x="1019810" y="3640201"/>
                      <a:pt x="669798" y="3290189"/>
                    </a:cubicBezTo>
                    <a:cubicBezTo>
                      <a:pt x="319786" y="2940177"/>
                      <a:pt x="127000" y="2474976"/>
                      <a:pt x="127000" y="1980057"/>
                    </a:cubicBezTo>
                    <a:cubicBezTo>
                      <a:pt x="127000" y="1485138"/>
                      <a:pt x="319786" y="1019683"/>
                      <a:pt x="669798" y="669671"/>
                    </a:cubicBezTo>
                    <a:cubicBezTo>
                      <a:pt x="1019810" y="319659"/>
                      <a:pt x="1485011" y="127000"/>
                      <a:pt x="1980057" y="127000"/>
                    </a:cubicBezTo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54" name="Freeform 41">
                <a:extLst>
                  <a:ext uri="{FF2B5EF4-FFF2-40B4-BE49-F238E27FC236}">
                    <a16:creationId xmlns:a16="http://schemas.microsoft.com/office/drawing/2014/main" id="{94012937-42CE-4D46-B873-78ECC5872900}"/>
                  </a:ext>
                </a:extLst>
              </p:cNvPr>
              <p:cNvSpPr/>
              <p:nvPr/>
            </p:nvSpPr>
            <p:spPr>
              <a:xfrm>
                <a:off x="728726" y="728726"/>
                <a:ext cx="2629535" cy="2629535"/>
              </a:xfrm>
              <a:custGeom>
                <a:avLst/>
                <a:gdLst/>
                <a:ahLst/>
                <a:cxnLst/>
                <a:rect l="l" t="t" r="r" b="b"/>
                <a:pathLst>
                  <a:path w="2629535" h="2629535">
                    <a:moveTo>
                      <a:pt x="2502535" y="1314831"/>
                    </a:moveTo>
                    <a:cubicBezTo>
                      <a:pt x="2502535" y="658876"/>
                      <a:pt x="1970786" y="127127"/>
                      <a:pt x="1314831" y="127127"/>
                    </a:cubicBezTo>
                    <a:cubicBezTo>
                      <a:pt x="658876" y="127127"/>
                      <a:pt x="127127" y="658876"/>
                      <a:pt x="127127" y="1314831"/>
                    </a:cubicBezTo>
                    <a:lnTo>
                      <a:pt x="63627" y="1314831"/>
                    </a:lnTo>
                    <a:lnTo>
                      <a:pt x="127127" y="1314831"/>
                    </a:lnTo>
                    <a:cubicBezTo>
                      <a:pt x="127127" y="1970786"/>
                      <a:pt x="658876" y="2502535"/>
                      <a:pt x="1314831" y="2502535"/>
                    </a:cubicBezTo>
                    <a:lnTo>
                      <a:pt x="1314831" y="2566035"/>
                    </a:lnTo>
                    <a:lnTo>
                      <a:pt x="1314831" y="2502535"/>
                    </a:lnTo>
                    <a:cubicBezTo>
                      <a:pt x="1970786" y="2502535"/>
                      <a:pt x="2502535" y="1970786"/>
                      <a:pt x="2502535" y="1314831"/>
                    </a:cubicBezTo>
                    <a:lnTo>
                      <a:pt x="2566035" y="1314831"/>
                    </a:lnTo>
                    <a:lnTo>
                      <a:pt x="2502535" y="1314831"/>
                    </a:lnTo>
                    <a:moveTo>
                      <a:pt x="2629535" y="1314831"/>
                    </a:moveTo>
                    <a:cubicBezTo>
                      <a:pt x="2629535" y="2040890"/>
                      <a:pt x="2040890" y="2629535"/>
                      <a:pt x="1314831" y="2629535"/>
                    </a:cubicBezTo>
                    <a:cubicBezTo>
                      <a:pt x="588772" y="2629535"/>
                      <a:pt x="0" y="2040890"/>
                      <a:pt x="0" y="1314831"/>
                    </a:cubicBezTo>
                    <a:cubicBezTo>
                      <a:pt x="0" y="588772"/>
                      <a:pt x="588645" y="0"/>
                      <a:pt x="1314831" y="0"/>
                    </a:cubicBezTo>
                    <a:cubicBezTo>
                      <a:pt x="2041017" y="0"/>
                      <a:pt x="2629535" y="588645"/>
                      <a:pt x="2629535" y="1314704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55" name="Freeform 42">
                <a:extLst>
                  <a:ext uri="{FF2B5EF4-FFF2-40B4-BE49-F238E27FC236}">
                    <a16:creationId xmlns:a16="http://schemas.microsoft.com/office/drawing/2014/main" id="{59B638D0-D41D-F2AE-66EF-C3A06BF6B9C7}"/>
                  </a:ext>
                </a:extLst>
              </p:cNvPr>
              <p:cNvSpPr/>
              <p:nvPr/>
            </p:nvSpPr>
            <p:spPr>
              <a:xfrm>
                <a:off x="990092" y="990092"/>
                <a:ext cx="2106930" cy="2106930"/>
              </a:xfrm>
              <a:custGeom>
                <a:avLst/>
                <a:gdLst/>
                <a:ahLst/>
                <a:cxnLst/>
                <a:rect l="l" t="t" r="r" b="b"/>
                <a:pathLst>
                  <a:path w="2106930" h="2106930">
                    <a:moveTo>
                      <a:pt x="1979930" y="1053465"/>
                    </a:moveTo>
                    <a:cubicBezTo>
                      <a:pt x="1979930" y="541782"/>
                      <a:pt x="1565148" y="127000"/>
                      <a:pt x="1053465" y="127000"/>
                    </a:cubicBezTo>
                    <a:cubicBezTo>
                      <a:pt x="541782" y="127000"/>
                      <a:pt x="127000" y="541782"/>
                      <a:pt x="127000" y="1053465"/>
                    </a:cubicBezTo>
                    <a:lnTo>
                      <a:pt x="63500" y="1053465"/>
                    </a:lnTo>
                    <a:lnTo>
                      <a:pt x="127000" y="1053465"/>
                    </a:lnTo>
                    <a:cubicBezTo>
                      <a:pt x="127000" y="1565148"/>
                      <a:pt x="541782" y="1979930"/>
                      <a:pt x="1053465" y="1979930"/>
                    </a:cubicBezTo>
                    <a:lnTo>
                      <a:pt x="1053465" y="2043430"/>
                    </a:lnTo>
                    <a:lnTo>
                      <a:pt x="1053465" y="1979930"/>
                    </a:lnTo>
                    <a:cubicBezTo>
                      <a:pt x="1565148" y="1979930"/>
                      <a:pt x="1979930" y="1565148"/>
                      <a:pt x="1979930" y="1053465"/>
                    </a:cubicBezTo>
                    <a:lnTo>
                      <a:pt x="2043430" y="1053465"/>
                    </a:lnTo>
                    <a:lnTo>
                      <a:pt x="1979930" y="1053465"/>
                    </a:lnTo>
                    <a:moveTo>
                      <a:pt x="2106930" y="1053465"/>
                    </a:moveTo>
                    <a:cubicBezTo>
                      <a:pt x="2106930" y="1635252"/>
                      <a:pt x="1635252" y="2106930"/>
                      <a:pt x="1053465" y="2106930"/>
                    </a:cubicBezTo>
                    <a:cubicBezTo>
                      <a:pt x="471678" y="2106930"/>
                      <a:pt x="0" y="1635252"/>
                      <a:pt x="0" y="1053465"/>
                    </a:cubicBezTo>
                    <a:cubicBezTo>
                      <a:pt x="0" y="471678"/>
                      <a:pt x="471678" y="0"/>
                      <a:pt x="1053465" y="0"/>
                    </a:cubicBezTo>
                    <a:cubicBezTo>
                      <a:pt x="1635252" y="0"/>
                      <a:pt x="2106930" y="471678"/>
                      <a:pt x="2106930" y="1053465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56" name="Freeform 43">
                <a:extLst>
                  <a:ext uri="{FF2B5EF4-FFF2-40B4-BE49-F238E27FC236}">
                    <a16:creationId xmlns:a16="http://schemas.microsoft.com/office/drawing/2014/main" id="{ABE78DE1-87BF-EE3C-2CCD-5266DCC7FD2D}"/>
                  </a:ext>
                </a:extLst>
              </p:cNvPr>
              <p:cNvSpPr/>
              <p:nvPr/>
            </p:nvSpPr>
            <p:spPr>
              <a:xfrm>
                <a:off x="2215261" y="1495806"/>
                <a:ext cx="375920" cy="862076"/>
              </a:xfrm>
              <a:custGeom>
                <a:avLst/>
                <a:gdLst/>
                <a:ahLst/>
                <a:cxnLst/>
                <a:rect l="l" t="t" r="r" b="b"/>
                <a:pathLst>
                  <a:path w="375920" h="862076">
                    <a:moveTo>
                      <a:pt x="365125" y="90932"/>
                    </a:moveTo>
                    <a:lnTo>
                      <a:pt x="131699" y="810387"/>
                    </a:lnTo>
                    <a:cubicBezTo>
                      <a:pt x="120904" y="843788"/>
                      <a:pt x="85090" y="862076"/>
                      <a:pt x="51689" y="851154"/>
                    </a:cubicBezTo>
                    <a:cubicBezTo>
                      <a:pt x="18288" y="840232"/>
                      <a:pt x="0" y="804545"/>
                      <a:pt x="10922" y="771144"/>
                    </a:cubicBezTo>
                    <a:lnTo>
                      <a:pt x="244221" y="51689"/>
                    </a:lnTo>
                    <a:cubicBezTo>
                      <a:pt x="255016" y="18288"/>
                      <a:pt x="290830" y="0"/>
                      <a:pt x="324231" y="10922"/>
                    </a:cubicBezTo>
                    <a:cubicBezTo>
                      <a:pt x="357632" y="21844"/>
                      <a:pt x="375920" y="57531"/>
                      <a:pt x="364998" y="90932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58" name="Freeform 44">
                <a:extLst>
                  <a:ext uri="{FF2B5EF4-FFF2-40B4-BE49-F238E27FC236}">
                    <a16:creationId xmlns:a16="http://schemas.microsoft.com/office/drawing/2014/main" id="{40647CA3-66C5-FC67-4783-535993D6C623}"/>
                  </a:ext>
                </a:extLst>
              </p:cNvPr>
              <p:cNvSpPr/>
              <p:nvPr/>
            </p:nvSpPr>
            <p:spPr>
              <a:xfrm>
                <a:off x="1729232" y="1495933"/>
                <a:ext cx="861822" cy="375666"/>
              </a:xfrm>
              <a:custGeom>
                <a:avLst/>
                <a:gdLst/>
                <a:ahLst/>
                <a:cxnLst/>
                <a:rect l="l" t="t" r="r" b="b"/>
                <a:pathLst>
                  <a:path w="861822" h="375666">
                    <a:moveTo>
                      <a:pt x="810260" y="131572"/>
                    </a:moveTo>
                    <a:lnTo>
                      <a:pt x="90805" y="364871"/>
                    </a:lnTo>
                    <a:cubicBezTo>
                      <a:pt x="57404" y="375666"/>
                      <a:pt x="21590" y="357378"/>
                      <a:pt x="10795" y="324104"/>
                    </a:cubicBezTo>
                    <a:cubicBezTo>
                      <a:pt x="0" y="290830"/>
                      <a:pt x="18288" y="254889"/>
                      <a:pt x="51562" y="244094"/>
                    </a:cubicBezTo>
                    <a:lnTo>
                      <a:pt x="771017" y="10795"/>
                    </a:lnTo>
                    <a:cubicBezTo>
                      <a:pt x="804418" y="0"/>
                      <a:pt x="840232" y="18288"/>
                      <a:pt x="851027" y="51562"/>
                    </a:cubicBezTo>
                    <a:cubicBezTo>
                      <a:pt x="861822" y="84836"/>
                      <a:pt x="843534" y="120777"/>
                      <a:pt x="810260" y="131572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0" name="Freeform 45">
                <a:extLst>
                  <a:ext uri="{FF2B5EF4-FFF2-40B4-BE49-F238E27FC236}">
                    <a16:creationId xmlns:a16="http://schemas.microsoft.com/office/drawing/2014/main" id="{55E03204-C328-226F-C9DF-78199D851E7C}"/>
                  </a:ext>
                </a:extLst>
              </p:cNvPr>
              <p:cNvSpPr/>
              <p:nvPr/>
            </p:nvSpPr>
            <p:spPr>
              <a:xfrm>
                <a:off x="1495806" y="1729232"/>
                <a:ext cx="375920" cy="862076"/>
              </a:xfrm>
              <a:custGeom>
                <a:avLst/>
                <a:gdLst/>
                <a:ahLst/>
                <a:cxnLst/>
                <a:rect l="l" t="t" r="r" b="b"/>
                <a:pathLst>
                  <a:path w="375920" h="862076">
                    <a:moveTo>
                      <a:pt x="10922" y="771144"/>
                    </a:moveTo>
                    <a:lnTo>
                      <a:pt x="244221" y="51689"/>
                    </a:lnTo>
                    <a:cubicBezTo>
                      <a:pt x="255016" y="18288"/>
                      <a:pt x="290830" y="0"/>
                      <a:pt x="324231" y="10922"/>
                    </a:cubicBezTo>
                    <a:cubicBezTo>
                      <a:pt x="357632" y="21844"/>
                      <a:pt x="375920" y="57531"/>
                      <a:pt x="364998" y="90932"/>
                    </a:cubicBezTo>
                    <a:lnTo>
                      <a:pt x="131699" y="810387"/>
                    </a:lnTo>
                    <a:cubicBezTo>
                      <a:pt x="120904" y="843788"/>
                      <a:pt x="85090" y="862076"/>
                      <a:pt x="51689" y="851154"/>
                    </a:cubicBezTo>
                    <a:cubicBezTo>
                      <a:pt x="18288" y="840232"/>
                      <a:pt x="0" y="804545"/>
                      <a:pt x="10922" y="771144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1" name="Freeform 46">
                <a:extLst>
                  <a:ext uri="{FF2B5EF4-FFF2-40B4-BE49-F238E27FC236}">
                    <a16:creationId xmlns:a16="http://schemas.microsoft.com/office/drawing/2014/main" id="{F3194EC3-F93E-BFF9-0E23-AECF3FA62839}"/>
                  </a:ext>
                </a:extLst>
              </p:cNvPr>
              <p:cNvSpPr/>
              <p:nvPr/>
            </p:nvSpPr>
            <p:spPr>
              <a:xfrm>
                <a:off x="1495933" y="2215388"/>
                <a:ext cx="861822" cy="375666"/>
              </a:xfrm>
              <a:custGeom>
                <a:avLst/>
                <a:gdLst/>
                <a:ahLst/>
                <a:cxnLst/>
                <a:rect l="l" t="t" r="r" b="b"/>
                <a:pathLst>
                  <a:path w="861822" h="375666">
                    <a:moveTo>
                      <a:pt x="51562" y="244094"/>
                    </a:moveTo>
                    <a:lnTo>
                      <a:pt x="771017" y="10795"/>
                    </a:lnTo>
                    <a:cubicBezTo>
                      <a:pt x="804418" y="0"/>
                      <a:pt x="840232" y="18288"/>
                      <a:pt x="851027" y="51562"/>
                    </a:cubicBezTo>
                    <a:cubicBezTo>
                      <a:pt x="861822" y="84836"/>
                      <a:pt x="843534" y="120777"/>
                      <a:pt x="810260" y="131572"/>
                    </a:cubicBezTo>
                    <a:lnTo>
                      <a:pt x="90805" y="364871"/>
                    </a:lnTo>
                    <a:cubicBezTo>
                      <a:pt x="57404" y="375666"/>
                      <a:pt x="21590" y="357378"/>
                      <a:pt x="10795" y="324104"/>
                    </a:cubicBezTo>
                    <a:cubicBezTo>
                      <a:pt x="0" y="290830"/>
                      <a:pt x="18288" y="254889"/>
                      <a:pt x="51562" y="244094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2" name="Freeform 47">
                <a:extLst>
                  <a:ext uri="{FF2B5EF4-FFF2-40B4-BE49-F238E27FC236}">
                    <a16:creationId xmlns:a16="http://schemas.microsoft.com/office/drawing/2014/main" id="{05C61F4B-5F71-E159-5BA2-5EBAFBCF8394}"/>
                  </a:ext>
                </a:extLst>
              </p:cNvPr>
              <p:cNvSpPr/>
              <p:nvPr/>
            </p:nvSpPr>
            <p:spPr>
              <a:xfrm>
                <a:off x="1980057" y="989965"/>
                <a:ext cx="127000" cy="291973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291973">
                    <a:moveTo>
                      <a:pt x="127000" y="63500"/>
                    </a:moveTo>
                    <a:lnTo>
                      <a:pt x="127000" y="228473"/>
                    </a:lnTo>
                    <a:cubicBezTo>
                      <a:pt x="127000" y="263525"/>
                      <a:pt x="98552" y="291973"/>
                      <a:pt x="63500" y="291973"/>
                    </a:cubicBezTo>
                    <a:cubicBezTo>
                      <a:pt x="28448" y="291973"/>
                      <a:pt x="0" y="263525"/>
                      <a:pt x="0" y="228473"/>
                    </a:cubicBezTo>
                    <a:lnTo>
                      <a:pt x="0" y="63500"/>
                    </a:lnTo>
                    <a:cubicBezTo>
                      <a:pt x="0" y="28448"/>
                      <a:pt x="28448" y="0"/>
                      <a:pt x="63500" y="0"/>
                    </a:cubicBezTo>
                    <a:cubicBezTo>
                      <a:pt x="98552" y="0"/>
                      <a:pt x="127000" y="28448"/>
                      <a:pt x="127000" y="6350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3" name="Freeform 48">
                <a:extLst>
                  <a:ext uri="{FF2B5EF4-FFF2-40B4-BE49-F238E27FC236}">
                    <a16:creationId xmlns:a16="http://schemas.microsoft.com/office/drawing/2014/main" id="{3C6635C4-78F0-0D35-7F39-3067701240E8}"/>
                  </a:ext>
                </a:extLst>
              </p:cNvPr>
              <p:cNvSpPr/>
              <p:nvPr/>
            </p:nvSpPr>
            <p:spPr>
              <a:xfrm>
                <a:off x="1980057" y="2805049"/>
                <a:ext cx="127000" cy="291973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291973">
                    <a:moveTo>
                      <a:pt x="127000" y="63500"/>
                    </a:moveTo>
                    <a:lnTo>
                      <a:pt x="127000" y="228473"/>
                    </a:lnTo>
                    <a:cubicBezTo>
                      <a:pt x="127000" y="263525"/>
                      <a:pt x="98552" y="291973"/>
                      <a:pt x="63500" y="291973"/>
                    </a:cubicBezTo>
                    <a:cubicBezTo>
                      <a:pt x="28448" y="291973"/>
                      <a:pt x="0" y="263525"/>
                      <a:pt x="0" y="228473"/>
                    </a:cubicBezTo>
                    <a:lnTo>
                      <a:pt x="0" y="63500"/>
                    </a:lnTo>
                    <a:cubicBezTo>
                      <a:pt x="0" y="28448"/>
                      <a:pt x="28448" y="0"/>
                      <a:pt x="63500" y="0"/>
                    </a:cubicBezTo>
                    <a:cubicBezTo>
                      <a:pt x="98552" y="0"/>
                      <a:pt x="127000" y="28448"/>
                      <a:pt x="127000" y="6350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4" name="Freeform 49">
                <a:extLst>
                  <a:ext uri="{FF2B5EF4-FFF2-40B4-BE49-F238E27FC236}">
                    <a16:creationId xmlns:a16="http://schemas.microsoft.com/office/drawing/2014/main" id="{4DAD1E1B-A694-39AF-5271-8B87E047A1B8}"/>
                  </a:ext>
                </a:extLst>
              </p:cNvPr>
              <p:cNvSpPr/>
              <p:nvPr/>
            </p:nvSpPr>
            <p:spPr>
              <a:xfrm>
                <a:off x="1089025" y="1089025"/>
                <a:ext cx="324231" cy="324104"/>
              </a:xfrm>
              <a:custGeom>
                <a:avLst/>
                <a:gdLst/>
                <a:ahLst/>
                <a:cxnLst/>
                <a:rect l="l" t="t" r="r" b="b"/>
                <a:pathLst>
                  <a:path w="324231" h="324104">
                    <a:moveTo>
                      <a:pt x="114681" y="24765"/>
                    </a:moveTo>
                    <a:lnTo>
                      <a:pt x="299466" y="209550"/>
                    </a:lnTo>
                    <a:cubicBezTo>
                      <a:pt x="324231" y="234315"/>
                      <a:pt x="324231" y="274574"/>
                      <a:pt x="299466" y="299339"/>
                    </a:cubicBezTo>
                    <a:cubicBezTo>
                      <a:pt x="274701" y="324104"/>
                      <a:pt x="234442" y="324104"/>
                      <a:pt x="209677" y="299339"/>
                    </a:cubicBezTo>
                    <a:lnTo>
                      <a:pt x="24765" y="114554"/>
                    </a:lnTo>
                    <a:cubicBezTo>
                      <a:pt x="0" y="89789"/>
                      <a:pt x="0" y="49530"/>
                      <a:pt x="24765" y="24765"/>
                    </a:cubicBezTo>
                    <a:cubicBezTo>
                      <a:pt x="49530" y="0"/>
                      <a:pt x="89789" y="0"/>
                      <a:pt x="114554" y="24765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5" name="Freeform 50">
                <a:extLst>
                  <a:ext uri="{FF2B5EF4-FFF2-40B4-BE49-F238E27FC236}">
                    <a16:creationId xmlns:a16="http://schemas.microsoft.com/office/drawing/2014/main" id="{1054A9F7-960E-FD42-D42C-4DCF0F7EE204}"/>
                  </a:ext>
                </a:extLst>
              </p:cNvPr>
              <p:cNvSpPr/>
              <p:nvPr/>
            </p:nvSpPr>
            <p:spPr>
              <a:xfrm>
                <a:off x="2673858" y="2673858"/>
                <a:ext cx="324104" cy="324104"/>
              </a:xfrm>
              <a:custGeom>
                <a:avLst/>
                <a:gdLst/>
                <a:ahLst/>
                <a:cxnLst/>
                <a:rect l="l" t="t" r="r" b="b"/>
                <a:pathLst>
                  <a:path w="324104" h="324104">
                    <a:moveTo>
                      <a:pt x="114554" y="24765"/>
                    </a:moveTo>
                    <a:lnTo>
                      <a:pt x="299339" y="209550"/>
                    </a:lnTo>
                    <a:cubicBezTo>
                      <a:pt x="324104" y="234315"/>
                      <a:pt x="324104" y="274574"/>
                      <a:pt x="299339" y="299339"/>
                    </a:cubicBezTo>
                    <a:cubicBezTo>
                      <a:pt x="274574" y="324104"/>
                      <a:pt x="234315" y="324104"/>
                      <a:pt x="209550" y="299339"/>
                    </a:cubicBezTo>
                    <a:lnTo>
                      <a:pt x="24765" y="114554"/>
                    </a:lnTo>
                    <a:cubicBezTo>
                      <a:pt x="0" y="89789"/>
                      <a:pt x="0" y="49530"/>
                      <a:pt x="24765" y="24765"/>
                    </a:cubicBezTo>
                    <a:cubicBezTo>
                      <a:pt x="49530" y="0"/>
                      <a:pt x="89789" y="0"/>
                      <a:pt x="114554" y="24765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6" name="Freeform 51">
                <a:extLst>
                  <a:ext uri="{FF2B5EF4-FFF2-40B4-BE49-F238E27FC236}">
                    <a16:creationId xmlns:a16="http://schemas.microsoft.com/office/drawing/2014/main" id="{9F5552C9-91C5-FF5B-F6AF-ADAA59E5B531}"/>
                  </a:ext>
                </a:extLst>
              </p:cNvPr>
              <p:cNvSpPr/>
              <p:nvPr/>
            </p:nvSpPr>
            <p:spPr>
              <a:xfrm>
                <a:off x="989965" y="1980057"/>
                <a:ext cx="292100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127000">
                    <a:moveTo>
                      <a:pt x="63500" y="0"/>
                    </a:moveTo>
                    <a:lnTo>
                      <a:pt x="228600" y="0"/>
                    </a:lnTo>
                    <a:cubicBezTo>
                      <a:pt x="263652" y="0"/>
                      <a:pt x="292100" y="28448"/>
                      <a:pt x="292100" y="63500"/>
                    </a:cubicBezTo>
                    <a:cubicBezTo>
                      <a:pt x="292100" y="98552"/>
                      <a:pt x="263652" y="127000"/>
                      <a:pt x="228600" y="127000"/>
                    </a:cubicBezTo>
                    <a:lnTo>
                      <a:pt x="63500" y="127000"/>
                    </a:lnTo>
                    <a:cubicBezTo>
                      <a:pt x="28448" y="127000"/>
                      <a:pt x="0" y="98552"/>
                      <a:pt x="0" y="63500"/>
                    </a:cubicBezTo>
                    <a:cubicBezTo>
                      <a:pt x="0" y="28448"/>
                      <a:pt x="28448" y="0"/>
                      <a:pt x="635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7" name="Freeform 52">
                <a:extLst>
                  <a:ext uri="{FF2B5EF4-FFF2-40B4-BE49-F238E27FC236}">
                    <a16:creationId xmlns:a16="http://schemas.microsoft.com/office/drawing/2014/main" id="{CF2DCDF7-EAD4-7429-8AD7-2BAE434A4C80}"/>
                  </a:ext>
                </a:extLst>
              </p:cNvPr>
              <p:cNvSpPr/>
              <p:nvPr/>
            </p:nvSpPr>
            <p:spPr>
              <a:xfrm>
                <a:off x="2805049" y="1980057"/>
                <a:ext cx="291973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291973" h="127000">
                    <a:moveTo>
                      <a:pt x="63500" y="0"/>
                    </a:moveTo>
                    <a:lnTo>
                      <a:pt x="228473" y="0"/>
                    </a:lnTo>
                    <a:cubicBezTo>
                      <a:pt x="263525" y="0"/>
                      <a:pt x="291973" y="28448"/>
                      <a:pt x="291973" y="63500"/>
                    </a:cubicBezTo>
                    <a:cubicBezTo>
                      <a:pt x="291973" y="98552"/>
                      <a:pt x="263525" y="127000"/>
                      <a:pt x="228473" y="127000"/>
                    </a:cubicBezTo>
                    <a:lnTo>
                      <a:pt x="63500" y="127000"/>
                    </a:lnTo>
                    <a:cubicBezTo>
                      <a:pt x="28448" y="127000"/>
                      <a:pt x="0" y="98552"/>
                      <a:pt x="0" y="63500"/>
                    </a:cubicBezTo>
                    <a:cubicBezTo>
                      <a:pt x="0" y="28448"/>
                      <a:pt x="28448" y="0"/>
                      <a:pt x="635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8" name="Freeform 53">
                <a:extLst>
                  <a:ext uri="{FF2B5EF4-FFF2-40B4-BE49-F238E27FC236}">
                    <a16:creationId xmlns:a16="http://schemas.microsoft.com/office/drawing/2014/main" id="{6BFD94AB-23E9-54E4-1594-2D7F8A6CE213}"/>
                  </a:ext>
                </a:extLst>
              </p:cNvPr>
              <p:cNvSpPr/>
              <p:nvPr/>
            </p:nvSpPr>
            <p:spPr>
              <a:xfrm>
                <a:off x="1089152" y="2673858"/>
                <a:ext cx="323977" cy="324104"/>
              </a:xfrm>
              <a:custGeom>
                <a:avLst/>
                <a:gdLst/>
                <a:ahLst/>
                <a:cxnLst/>
                <a:rect l="l" t="t" r="r" b="b"/>
                <a:pathLst>
                  <a:path w="323977" h="324104">
                    <a:moveTo>
                      <a:pt x="24638" y="209550"/>
                    </a:moveTo>
                    <a:lnTo>
                      <a:pt x="209423" y="24765"/>
                    </a:lnTo>
                    <a:cubicBezTo>
                      <a:pt x="234188" y="0"/>
                      <a:pt x="274447" y="0"/>
                      <a:pt x="299212" y="24765"/>
                    </a:cubicBezTo>
                    <a:cubicBezTo>
                      <a:pt x="323977" y="49530"/>
                      <a:pt x="323977" y="89789"/>
                      <a:pt x="299212" y="114554"/>
                    </a:cubicBezTo>
                    <a:lnTo>
                      <a:pt x="114554" y="299339"/>
                    </a:lnTo>
                    <a:cubicBezTo>
                      <a:pt x="89789" y="324104"/>
                      <a:pt x="49530" y="324104"/>
                      <a:pt x="24765" y="299339"/>
                    </a:cubicBezTo>
                    <a:cubicBezTo>
                      <a:pt x="0" y="274574"/>
                      <a:pt x="0" y="234315"/>
                      <a:pt x="24765" y="20955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9" name="Freeform 54">
                <a:extLst>
                  <a:ext uri="{FF2B5EF4-FFF2-40B4-BE49-F238E27FC236}">
                    <a16:creationId xmlns:a16="http://schemas.microsoft.com/office/drawing/2014/main" id="{ED434BC7-738B-8EDA-EA2A-8D2F4A9B16AC}"/>
                  </a:ext>
                </a:extLst>
              </p:cNvPr>
              <p:cNvSpPr/>
              <p:nvPr/>
            </p:nvSpPr>
            <p:spPr>
              <a:xfrm>
                <a:off x="2673858" y="1089025"/>
                <a:ext cx="324104" cy="324104"/>
              </a:xfrm>
              <a:custGeom>
                <a:avLst/>
                <a:gdLst/>
                <a:ahLst/>
                <a:cxnLst/>
                <a:rect l="l" t="t" r="r" b="b"/>
                <a:pathLst>
                  <a:path w="324104" h="324104">
                    <a:moveTo>
                      <a:pt x="24765" y="209550"/>
                    </a:moveTo>
                    <a:lnTo>
                      <a:pt x="209550" y="24765"/>
                    </a:lnTo>
                    <a:cubicBezTo>
                      <a:pt x="234315" y="0"/>
                      <a:pt x="274574" y="0"/>
                      <a:pt x="299339" y="24765"/>
                    </a:cubicBezTo>
                    <a:cubicBezTo>
                      <a:pt x="324104" y="49530"/>
                      <a:pt x="324104" y="89789"/>
                      <a:pt x="299339" y="114554"/>
                    </a:cubicBezTo>
                    <a:lnTo>
                      <a:pt x="114554" y="299339"/>
                    </a:lnTo>
                    <a:cubicBezTo>
                      <a:pt x="89789" y="324104"/>
                      <a:pt x="49530" y="324104"/>
                      <a:pt x="24765" y="299339"/>
                    </a:cubicBezTo>
                    <a:cubicBezTo>
                      <a:pt x="0" y="274574"/>
                      <a:pt x="0" y="234315"/>
                      <a:pt x="24765" y="20955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</p:grpSp>
        <p:sp>
          <p:nvSpPr>
            <p:cNvPr id="70" name="TextBox 55">
              <a:extLst>
                <a:ext uri="{FF2B5EF4-FFF2-40B4-BE49-F238E27FC236}">
                  <a16:creationId xmlns:a16="http://schemas.microsoft.com/office/drawing/2014/main" id="{C301BC60-D0EE-BB0F-D986-27C142A518B4}"/>
                </a:ext>
              </a:extLst>
            </p:cNvPr>
            <p:cNvSpPr txBox="1"/>
            <p:nvPr/>
          </p:nvSpPr>
          <p:spPr>
            <a:xfrm>
              <a:off x="903399" y="1850922"/>
              <a:ext cx="3693036" cy="957826"/>
            </a:xfrm>
            <a:prstGeom prst="rect">
              <a:avLst/>
            </a:prstGeom>
            <a:noFill/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3821"/>
                </a:lnSpc>
              </a:pPr>
              <a:r>
                <a:rPr lang="en-US" sz="2729" dirty="0">
                  <a:solidFill>
                    <a:srgbClr val="FFFFFF"/>
                  </a:solidFill>
                  <a:latin typeface="GT Walsheim Pro Bold" panose="02000503040000020003" pitchFamily="50" charset="0"/>
                </a:rPr>
                <a:t>AI Readiness &amp;</a:t>
              </a:r>
            </a:p>
            <a:p>
              <a:pPr>
                <a:lnSpc>
                  <a:spcPts val="3821"/>
                </a:lnSpc>
              </a:pPr>
              <a:r>
                <a:rPr lang="en-US" sz="2729" dirty="0">
                  <a:solidFill>
                    <a:srgbClr val="FFFFFF"/>
                  </a:solidFill>
                  <a:latin typeface="GT Walsheim Pro Bold" panose="02000503040000020003" pitchFamily="50" charset="0"/>
                </a:rPr>
                <a:t>Risk Assessment</a:t>
              </a:r>
            </a:p>
          </p:txBody>
        </p:sp>
        <p:sp>
          <p:nvSpPr>
            <p:cNvPr id="71" name="TextBox 56">
              <a:extLst>
                <a:ext uri="{FF2B5EF4-FFF2-40B4-BE49-F238E27FC236}">
                  <a16:creationId xmlns:a16="http://schemas.microsoft.com/office/drawing/2014/main" id="{CA5CE202-4ED5-A349-1A04-4DE8CE3D90F9}"/>
                </a:ext>
              </a:extLst>
            </p:cNvPr>
            <p:cNvSpPr txBox="1"/>
            <p:nvPr/>
          </p:nvSpPr>
          <p:spPr>
            <a:xfrm>
              <a:off x="903399" y="3153322"/>
              <a:ext cx="3840259" cy="691531"/>
            </a:xfrm>
            <a:prstGeom prst="rect">
              <a:avLst/>
            </a:prstGeom>
            <a:noFill/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2726"/>
                </a:lnSpc>
              </a:pPr>
              <a:r>
                <a:rPr lang="en-US" sz="1947" dirty="0">
                  <a:solidFill>
                    <a:srgbClr val="FFFFFF"/>
                  </a:solidFill>
                  <a:latin typeface="GT Walsheim Pro Regular" panose="02000503040000020003" pitchFamily="50" charset="0"/>
                </a:rPr>
                <a:t>Proposal  |  October 2026</a:t>
              </a:r>
            </a:p>
          </p:txBody>
        </p:sp>
        <p:sp>
          <p:nvSpPr>
            <p:cNvPr id="72" name="TextBox 57">
              <a:extLst>
                <a:ext uri="{FF2B5EF4-FFF2-40B4-BE49-F238E27FC236}">
                  <a16:creationId xmlns:a16="http://schemas.microsoft.com/office/drawing/2014/main" id="{CEB98C11-C7C3-B0B0-BA55-37DD93B5C49A}"/>
                </a:ext>
              </a:extLst>
            </p:cNvPr>
            <p:cNvSpPr txBox="1"/>
            <p:nvPr/>
          </p:nvSpPr>
          <p:spPr>
            <a:xfrm>
              <a:off x="868693" y="4646014"/>
              <a:ext cx="621524" cy="19973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</a:pPr>
              <a:r>
                <a:rPr lang="en-US" sz="1111" dirty="0">
                  <a:solidFill>
                    <a:srgbClr val="FFFFFF"/>
                  </a:solidFill>
                  <a:latin typeface="GT Walsheim Pro Regular" panose="02000503040000020003" pitchFamily="50" charset="0"/>
                </a:rPr>
                <a:t>Adaptive</a:t>
              </a:r>
            </a:p>
          </p:txBody>
        </p:sp>
      </p:grpSp>
      <p:pic>
        <p:nvPicPr>
          <p:cNvPr id="2092" name="Picture 2091" descr="A white line drawing of a head with dots and lines in a black circle&#10;&#10;Description automatically generated">
            <a:extLst>
              <a:ext uri="{FF2B5EF4-FFF2-40B4-BE49-F238E27FC236}">
                <a16:creationId xmlns:a16="http://schemas.microsoft.com/office/drawing/2014/main" id="{941A6AFE-F817-05EC-A97E-219EF5AA10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1328" y="3955846"/>
            <a:ext cx="484633" cy="484633"/>
          </a:xfrm>
          <a:prstGeom prst="rect">
            <a:avLst/>
          </a:prstGeom>
        </p:spPr>
      </p:pic>
      <p:pic>
        <p:nvPicPr>
          <p:cNvPr id="2096" name="Picture 2095" descr="A white line on a black background&#10;&#10;Description automatically generated">
            <a:extLst>
              <a:ext uri="{FF2B5EF4-FFF2-40B4-BE49-F238E27FC236}">
                <a16:creationId xmlns:a16="http://schemas.microsoft.com/office/drawing/2014/main" id="{292375E3-A834-8FA9-B80A-2842137AA65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5180" y="3945451"/>
            <a:ext cx="484632" cy="484632"/>
          </a:xfrm>
          <a:prstGeom prst="rect">
            <a:avLst/>
          </a:prstGeom>
        </p:spPr>
      </p:pic>
      <p:pic>
        <p:nvPicPr>
          <p:cNvPr id="2100" name="Picture 2099" descr="A light bulb with a lightning bolt in a circle&#10;&#10;Description automatically generated">
            <a:extLst>
              <a:ext uri="{FF2B5EF4-FFF2-40B4-BE49-F238E27FC236}">
                <a16:creationId xmlns:a16="http://schemas.microsoft.com/office/drawing/2014/main" id="{F8CFC82A-1B69-DE01-D642-63CFAC5CB43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745" y="3945450"/>
            <a:ext cx="484633" cy="48463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Placeholder 33" descr="Abstract background of data">
            <a:extLst>
              <a:ext uri="{FF2B5EF4-FFF2-40B4-BE49-F238E27FC236}">
                <a16:creationId xmlns:a16="http://schemas.microsoft.com/office/drawing/2014/main" id="{881463A5-889B-024C-847C-15EF14B39645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485" r="26485"/>
          <a:stretch/>
        </p:blipFill>
        <p:spPr>
          <a:xfrm>
            <a:off x="-95693" y="-9301"/>
            <a:ext cx="5741776" cy="6867301"/>
          </a:xfr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9CE8E20-ACA3-3A44-B5A3-DBF3E541B2B9}"/>
              </a:ext>
            </a:extLst>
          </p:cNvPr>
          <p:cNvSpPr txBox="1"/>
          <p:nvPr/>
        </p:nvSpPr>
        <p:spPr>
          <a:xfrm>
            <a:off x="6756411" y="306186"/>
            <a:ext cx="1571264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AGENDA</a:t>
            </a:r>
          </a:p>
        </p:txBody>
      </p:sp>
      <p:sp>
        <p:nvSpPr>
          <p:cNvPr id="6" name="Diamond 5">
            <a:extLst>
              <a:ext uri="{FF2B5EF4-FFF2-40B4-BE49-F238E27FC236}">
                <a16:creationId xmlns:a16="http://schemas.microsoft.com/office/drawing/2014/main" id="{D75AB539-68A9-3C4B-B57C-4B023BAA9F3A}"/>
              </a:ext>
            </a:extLst>
          </p:cNvPr>
          <p:cNvSpPr/>
          <p:nvPr/>
        </p:nvSpPr>
        <p:spPr>
          <a:xfrm>
            <a:off x="5098612" y="1493772"/>
            <a:ext cx="1037967" cy="1037967"/>
          </a:xfrm>
          <a:prstGeom prst="diamond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10" name="Diamond 9">
            <a:extLst>
              <a:ext uri="{FF2B5EF4-FFF2-40B4-BE49-F238E27FC236}">
                <a16:creationId xmlns:a16="http://schemas.microsoft.com/office/drawing/2014/main" id="{BFCE72D1-9595-B548-9B7A-3AB6307C5326}"/>
              </a:ext>
            </a:extLst>
          </p:cNvPr>
          <p:cNvSpPr/>
          <p:nvPr/>
        </p:nvSpPr>
        <p:spPr>
          <a:xfrm>
            <a:off x="5098612" y="2804011"/>
            <a:ext cx="1037967" cy="1037967"/>
          </a:xfrm>
          <a:prstGeom prst="diamond">
            <a:avLst/>
          </a:prstGeom>
          <a:solidFill>
            <a:srgbClr val="0048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11" name="Diamond 10">
            <a:extLst>
              <a:ext uri="{FF2B5EF4-FFF2-40B4-BE49-F238E27FC236}">
                <a16:creationId xmlns:a16="http://schemas.microsoft.com/office/drawing/2014/main" id="{6A05D8C9-5455-EA48-8E04-21E0F5A2CAF0}"/>
              </a:ext>
            </a:extLst>
          </p:cNvPr>
          <p:cNvSpPr/>
          <p:nvPr/>
        </p:nvSpPr>
        <p:spPr>
          <a:xfrm>
            <a:off x="5098612" y="4114250"/>
            <a:ext cx="1037967" cy="1037967"/>
          </a:xfrm>
          <a:prstGeom prst="diamond">
            <a:avLst/>
          </a:prstGeom>
          <a:solidFill>
            <a:srgbClr val="31008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83459D4-4AF6-6F47-8BB4-1CA1BBA68B26}"/>
              </a:ext>
            </a:extLst>
          </p:cNvPr>
          <p:cNvSpPr txBox="1"/>
          <p:nvPr/>
        </p:nvSpPr>
        <p:spPr>
          <a:xfrm>
            <a:off x="6795700" y="1846875"/>
            <a:ext cx="4485523" cy="338554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l"/>
            <a:r>
              <a:rPr lang="en-US" sz="1800" b="1" dirty="0">
                <a:solidFill>
                  <a:schemeClr val="tx2"/>
                </a:solidFill>
                <a:latin typeface="Arial" panose="020B0604020202020204" pitchFamily="34" charset="0"/>
                <a:ea typeface="League Spartan" charset="0"/>
                <a:cs typeface="Arial" panose="020B0604020202020204" pitchFamily="34" charset="0"/>
              </a:rPr>
              <a:t>Why AI Readiness Matters Now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B171435-CE3B-DA48-ABAF-76E18E9E7D13}"/>
              </a:ext>
            </a:extLst>
          </p:cNvPr>
          <p:cNvSpPr txBox="1"/>
          <p:nvPr/>
        </p:nvSpPr>
        <p:spPr>
          <a:xfrm>
            <a:off x="5453127" y="1735756"/>
            <a:ext cx="328937" cy="553998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algn="ctr"/>
            <a:r>
              <a:rPr lang="en-US" sz="3000" b="1" dirty="0">
                <a:solidFill>
                  <a:schemeClr val="bg1"/>
                </a:solidFill>
                <a:latin typeface="Poppins" pitchFamily="2" charset="77"/>
                <a:ea typeface="League Spartan" charset="0"/>
                <a:cs typeface="Poppins" pitchFamily="2" charset="77"/>
              </a:rPr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2EDFA74-273E-6741-9B19-FEDEFBFA1B5C}"/>
              </a:ext>
            </a:extLst>
          </p:cNvPr>
          <p:cNvSpPr txBox="1"/>
          <p:nvPr/>
        </p:nvSpPr>
        <p:spPr>
          <a:xfrm>
            <a:off x="5415457" y="3045995"/>
            <a:ext cx="404278" cy="553998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algn="ctr"/>
            <a:r>
              <a:rPr lang="en-US" sz="3000" b="1" dirty="0">
                <a:solidFill>
                  <a:schemeClr val="bg1"/>
                </a:solidFill>
                <a:latin typeface="Poppins" pitchFamily="2" charset="77"/>
                <a:ea typeface="League Spartan" charset="0"/>
                <a:cs typeface="Poppins" pitchFamily="2" charset="77"/>
              </a:rPr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792AAC7-9301-134C-88BB-2FEEB9D9B9C1}"/>
              </a:ext>
            </a:extLst>
          </p:cNvPr>
          <p:cNvSpPr txBox="1"/>
          <p:nvPr/>
        </p:nvSpPr>
        <p:spPr>
          <a:xfrm>
            <a:off x="5409045" y="4356234"/>
            <a:ext cx="417102" cy="553998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algn="ctr"/>
            <a:r>
              <a:rPr lang="en-US" sz="3000" b="1" dirty="0">
                <a:solidFill>
                  <a:schemeClr val="bg1"/>
                </a:solidFill>
                <a:latin typeface="Poppins" pitchFamily="2" charset="77"/>
                <a:ea typeface="League Spartan" charset="0"/>
                <a:cs typeface="Poppins" pitchFamily="2" charset="77"/>
              </a:rPr>
              <a:t>3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DD006F5-1C04-4972-41F2-04748EC080EE}"/>
              </a:ext>
            </a:extLst>
          </p:cNvPr>
          <p:cNvSpPr txBox="1"/>
          <p:nvPr/>
        </p:nvSpPr>
        <p:spPr>
          <a:xfrm>
            <a:off x="6795700" y="3160226"/>
            <a:ext cx="4485523" cy="338554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l"/>
            <a:r>
              <a:rPr lang="en-US" sz="1800" b="1" dirty="0">
                <a:solidFill>
                  <a:schemeClr val="tx2"/>
                </a:solidFill>
                <a:latin typeface="Arial" panose="020B0604020202020204" pitchFamily="34" charset="0"/>
                <a:ea typeface="League Spartan" charset="0"/>
                <a:cs typeface="Arial" panose="020B0604020202020204" pitchFamily="34" charset="0"/>
              </a:rPr>
              <a:t>Approach &amp; Methodology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9055BF-7125-8B17-C755-56ADD56F160A}"/>
              </a:ext>
            </a:extLst>
          </p:cNvPr>
          <p:cNvSpPr txBox="1"/>
          <p:nvPr/>
        </p:nvSpPr>
        <p:spPr>
          <a:xfrm>
            <a:off x="6795700" y="4441010"/>
            <a:ext cx="4485523" cy="338554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l"/>
            <a:r>
              <a:rPr lang="en-US" sz="1800" b="1" dirty="0">
                <a:solidFill>
                  <a:schemeClr val="tx2"/>
                </a:solidFill>
                <a:latin typeface="Arial" panose="020B0604020202020204" pitchFamily="34" charset="0"/>
                <a:ea typeface="League Spartan" charset="0"/>
                <a:cs typeface="Arial" panose="020B0604020202020204" pitchFamily="34" charset="0"/>
              </a:rPr>
              <a:t>Engagement Plan &amp; Deliverables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3B38F-803F-E011-B715-1E592BF45B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B5A2760F-4C29-FD80-F2C0-2D5EA36B7BDD}"/>
              </a:ext>
            </a:extLst>
          </p:cNvPr>
          <p:cNvSpPr txBox="1"/>
          <p:nvPr/>
        </p:nvSpPr>
        <p:spPr>
          <a:xfrm>
            <a:off x="6756411" y="306186"/>
            <a:ext cx="1571264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AGENDA</a:t>
            </a:r>
          </a:p>
        </p:txBody>
      </p:sp>
      <p:sp>
        <p:nvSpPr>
          <p:cNvPr id="6" name="Diamond 5">
            <a:extLst>
              <a:ext uri="{FF2B5EF4-FFF2-40B4-BE49-F238E27FC236}">
                <a16:creationId xmlns:a16="http://schemas.microsoft.com/office/drawing/2014/main" id="{4CAA9825-59F6-5A15-059C-497AB6525B89}"/>
              </a:ext>
            </a:extLst>
          </p:cNvPr>
          <p:cNvSpPr/>
          <p:nvPr/>
        </p:nvSpPr>
        <p:spPr>
          <a:xfrm>
            <a:off x="5098612" y="1493772"/>
            <a:ext cx="1037967" cy="1037967"/>
          </a:xfrm>
          <a:prstGeom prst="diamond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10" name="Diamond 9">
            <a:extLst>
              <a:ext uri="{FF2B5EF4-FFF2-40B4-BE49-F238E27FC236}">
                <a16:creationId xmlns:a16="http://schemas.microsoft.com/office/drawing/2014/main" id="{27AEEA94-A964-D111-DE54-B641C2D23E45}"/>
              </a:ext>
            </a:extLst>
          </p:cNvPr>
          <p:cNvSpPr/>
          <p:nvPr/>
        </p:nvSpPr>
        <p:spPr>
          <a:xfrm>
            <a:off x="5098612" y="2804011"/>
            <a:ext cx="1037967" cy="1037967"/>
          </a:xfrm>
          <a:prstGeom prst="diamond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11" name="Diamond 10">
            <a:extLst>
              <a:ext uri="{FF2B5EF4-FFF2-40B4-BE49-F238E27FC236}">
                <a16:creationId xmlns:a16="http://schemas.microsoft.com/office/drawing/2014/main" id="{AB3168E6-2681-8853-F77E-D01C3517A6F5}"/>
              </a:ext>
            </a:extLst>
          </p:cNvPr>
          <p:cNvSpPr/>
          <p:nvPr/>
        </p:nvSpPr>
        <p:spPr>
          <a:xfrm>
            <a:off x="5098612" y="4114250"/>
            <a:ext cx="1037967" cy="1037967"/>
          </a:xfrm>
          <a:prstGeom prst="diamond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7DB12C8-1698-0770-C567-BEFC297CDB26}"/>
              </a:ext>
            </a:extLst>
          </p:cNvPr>
          <p:cNvSpPr txBox="1"/>
          <p:nvPr/>
        </p:nvSpPr>
        <p:spPr>
          <a:xfrm>
            <a:off x="6795700" y="1846875"/>
            <a:ext cx="4485523" cy="338554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l"/>
            <a:r>
              <a:rPr lang="en-US" sz="1800" b="1" dirty="0">
                <a:solidFill>
                  <a:schemeClr val="tx2"/>
                </a:solidFill>
                <a:latin typeface="Arial" panose="020B0604020202020204" pitchFamily="34" charset="0"/>
                <a:ea typeface="League Spartan" charset="0"/>
                <a:cs typeface="Arial" panose="020B0604020202020204" pitchFamily="34" charset="0"/>
              </a:rPr>
              <a:t>Why AI Readiness Matters Now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0902F58-77A1-AF97-4F2C-D77955E40D89}"/>
              </a:ext>
            </a:extLst>
          </p:cNvPr>
          <p:cNvSpPr txBox="1"/>
          <p:nvPr/>
        </p:nvSpPr>
        <p:spPr>
          <a:xfrm>
            <a:off x="5453127" y="1735756"/>
            <a:ext cx="328937" cy="553998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algn="ctr"/>
            <a:r>
              <a:rPr lang="en-US" sz="3000" b="1" dirty="0">
                <a:solidFill>
                  <a:schemeClr val="bg1"/>
                </a:solidFill>
                <a:latin typeface="Poppins" pitchFamily="2" charset="77"/>
                <a:ea typeface="League Spartan" charset="0"/>
                <a:cs typeface="Poppins" pitchFamily="2" charset="77"/>
              </a:rPr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21955B4-4E3B-B846-6234-10D024666E45}"/>
              </a:ext>
            </a:extLst>
          </p:cNvPr>
          <p:cNvSpPr txBox="1"/>
          <p:nvPr/>
        </p:nvSpPr>
        <p:spPr>
          <a:xfrm>
            <a:off x="5415457" y="3045995"/>
            <a:ext cx="404278" cy="553998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algn="ctr"/>
            <a:r>
              <a:rPr lang="en-US" sz="3000" b="1" dirty="0">
                <a:solidFill>
                  <a:schemeClr val="bg1"/>
                </a:solidFill>
                <a:latin typeface="Poppins" pitchFamily="2" charset="77"/>
                <a:ea typeface="League Spartan" charset="0"/>
                <a:cs typeface="Poppins" pitchFamily="2" charset="77"/>
              </a:rPr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24AE5AD-E238-8918-BC34-4ACB64D50E69}"/>
              </a:ext>
            </a:extLst>
          </p:cNvPr>
          <p:cNvSpPr txBox="1"/>
          <p:nvPr/>
        </p:nvSpPr>
        <p:spPr>
          <a:xfrm>
            <a:off x="5409045" y="4356234"/>
            <a:ext cx="417102" cy="553998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algn="ctr"/>
            <a:r>
              <a:rPr lang="en-US" sz="3000" b="1" dirty="0">
                <a:solidFill>
                  <a:schemeClr val="bg1"/>
                </a:solidFill>
                <a:latin typeface="Poppins" pitchFamily="2" charset="77"/>
                <a:ea typeface="League Spartan" charset="0"/>
                <a:cs typeface="Poppins" pitchFamily="2" charset="77"/>
              </a:rPr>
              <a:t>3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15658A-C26E-929D-3947-61F49C63C96D}"/>
              </a:ext>
            </a:extLst>
          </p:cNvPr>
          <p:cNvSpPr txBox="1"/>
          <p:nvPr/>
        </p:nvSpPr>
        <p:spPr>
          <a:xfrm>
            <a:off x="6795700" y="3160226"/>
            <a:ext cx="4485523" cy="338554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l"/>
            <a:r>
              <a:rPr lang="en-US" sz="1800" b="1" dirty="0">
                <a:solidFill>
                  <a:schemeClr val="tx2"/>
                </a:solidFill>
                <a:latin typeface="Arial" panose="020B0604020202020204" pitchFamily="34" charset="0"/>
                <a:ea typeface="League Spartan" charset="0"/>
                <a:cs typeface="Arial" panose="020B0604020202020204" pitchFamily="34" charset="0"/>
              </a:rPr>
              <a:t>Approach &amp; Methodology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49DDF0-EAEA-0A58-FA51-92881C3C9761}"/>
              </a:ext>
            </a:extLst>
          </p:cNvPr>
          <p:cNvSpPr txBox="1"/>
          <p:nvPr/>
        </p:nvSpPr>
        <p:spPr>
          <a:xfrm>
            <a:off x="6795700" y="4441010"/>
            <a:ext cx="4485523" cy="338554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l"/>
            <a:r>
              <a:rPr lang="en-US" sz="1800" b="1" dirty="0">
                <a:solidFill>
                  <a:schemeClr val="tx2"/>
                </a:solidFill>
                <a:latin typeface="Arial" panose="020B0604020202020204" pitchFamily="34" charset="0"/>
                <a:ea typeface="League Spartan" charset="0"/>
                <a:cs typeface="Arial" panose="020B0604020202020204" pitchFamily="34" charset="0"/>
              </a:rPr>
              <a:t>Engagement Plan &amp; Deliverables</a:t>
            </a:r>
          </a:p>
        </p:txBody>
      </p:sp>
    </p:spTree>
    <p:extLst>
      <p:ext uri="{BB962C8B-B14F-4D97-AF65-F5344CB8AC3E}">
        <p14:creationId xmlns:p14="http://schemas.microsoft.com/office/powerpoint/2010/main" val="4949223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4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The Shift Has Already Happened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AI has moved from experiment to infrastructure. The competitive question in 2026 isn't whether your peers are using it - it's how far ahead they already 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380000"/>
            <a:ext cx="3654362" cy="190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ic_peo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396" y="1550000"/>
            <a:ext cx="620000" cy="62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74396" y="1500000"/>
            <a:ext cx="2754362" cy="7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Arial"/>
              </a:rPr>
              <a:t>78-88%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4396" y="2180000"/>
            <a:ext cx="2754362" cy="3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Enterprise AI adoption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4396" y="2630000"/>
            <a:ext cx="3354362" cy="6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Arial"/>
              </a:rPr>
              <a:t>of organisations report using AI in at least one business function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28758" y="1380000"/>
            <a:ext cx="3654362" cy="190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ic_chi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8758" y="1550000"/>
            <a:ext cx="620000" cy="620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178758" y="1500000"/>
            <a:ext cx="2754362" cy="7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Arial"/>
              </a:rPr>
              <a:t>$407B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78758" y="2180000"/>
            <a:ext cx="2754362" cy="3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Worldwide AI spending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78758" y="2630000"/>
            <a:ext cx="3354362" cy="6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Arial"/>
              </a:rPr>
              <a:t>34.8% annual growth in AI and GenAI spending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120" y="1380000"/>
            <a:ext cx="3654362" cy="190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c_a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3120" y="1550000"/>
            <a:ext cx="620000" cy="620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983120" y="1500000"/>
            <a:ext cx="2754362" cy="7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Arial"/>
              </a:rPr>
              <a:t>$15.7T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83120" y="2180000"/>
            <a:ext cx="2754362" cy="3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Global economic impact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3120" y="2630000"/>
            <a:ext cx="3354362" cy="6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Arial"/>
              </a:rPr>
              <a:t>potential contribution of AI to the global economy by 2030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24396" y="3430000"/>
            <a:ext cx="5556543" cy="38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What it means for leadership teams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4396" y="3880000"/>
            <a:ext cx="5556543" cy="17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•  AI is already inside the organisation - in staff tools, purchased software and suppliers' services</a:t>
            </a:r>
          </a:p>
          <a:p>
            <a:pPr algn="l">
              <a:spcAft>
                <a:spcPts val="12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•  Value goes to organisations that scale AI safely, not those that run the most pilots</a:t>
            </a:r>
          </a:p>
          <a:p>
            <a:pPr algn="l">
              <a:spcAft>
                <a:spcPts val="12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•  Boards, regulators and clients increasingly ask for evidence that AI is governed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30939" y="3430000"/>
            <a:ext cx="5556543" cy="38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In Bahrain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30939" y="3860000"/>
            <a:ext cx="5556543" cy="15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•  Economic Vision 2030 positions AI as a lever for productivity and diversification</a:t>
            </a:r>
          </a:p>
          <a:p>
            <a:pPr algn="l">
              <a:spcAft>
                <a:spcPts val="12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•  iGA General Policy for the Use of AI (2025) sets expectations for compliance, adoption and awareness</a:t>
            </a:r>
          </a:p>
          <a:p>
            <a:pPr algn="l">
              <a:spcAft>
                <a:spcPts val="12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•  Bahrain PDPL applies whenever AI processes personal data; sector regulators (CBB, NHRA, TRA) expect controls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4396" y="5930000"/>
            <a:ext cx="11263086" cy="3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Source: McKinsey's State of AI 2025 Survey; IDC's Worldwide AI and Generative AI Spending Guide 2025.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5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What AI Unlocks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AI delivers measurable outcomes across the organisation - when it is adopted with the right foundations.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380000"/>
            <a:ext cx="2164617" cy="56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ic_gea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96" y="1430000"/>
            <a:ext cx="460000" cy="46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84396" y="1460000"/>
            <a:ext cx="1564617" cy="42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Automate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4396" y="1940000"/>
            <a:ext cx="2164617" cy="138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24396" y="3360000"/>
            <a:ext cx="2164617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800" b="1">
                <a:solidFill>
                  <a:srgbClr val="4F2D7F"/>
                </a:solidFill>
                <a:latin typeface="Arial"/>
              </a:rPr>
              <a:t>-27%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4396" y="3900000"/>
            <a:ext cx="2164617" cy="33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Arial"/>
              </a:rPr>
              <a:t>operational costs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4396" y="4260000"/>
            <a:ext cx="2164617" cy="9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1150" b="0">
                <a:solidFill>
                  <a:srgbClr val="222222"/>
                </a:solidFill>
                <a:latin typeface="Arial"/>
              </a:rPr>
              <a:t>JPM Coin turns deposits into on-chain, programmable, always-on digital money.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99013" y="1380000"/>
            <a:ext cx="2164617" cy="56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ic_se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69013" y="1430000"/>
            <a:ext cx="460000" cy="4600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359013" y="1460000"/>
            <a:ext cx="1564617" cy="42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Analyze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99013" y="1940000"/>
            <a:ext cx="2164617" cy="138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ex_analyz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9013" y="1980000"/>
            <a:ext cx="2084617" cy="1300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799013" y="3360000"/>
            <a:ext cx="2164617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800" b="1">
                <a:solidFill>
                  <a:srgbClr val="7B5BA6"/>
                </a:solidFill>
                <a:latin typeface="Arial"/>
              </a:rPr>
              <a:t>-31%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99013" y="3900000"/>
            <a:ext cx="2164617" cy="33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Arial"/>
              </a:rPr>
              <a:t>downtime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99013" y="4260000"/>
            <a:ext cx="2164617" cy="9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1150" b="0">
                <a:solidFill>
                  <a:srgbClr val="222222"/>
                </a:solidFill>
                <a:latin typeface="Arial"/>
              </a:rPr>
              <a:t>Shell scales AI-fuelled predictive maintenance to 10,000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73630" y="1380000"/>
            <a:ext cx="2164617" cy="56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43630" y="1430000"/>
            <a:ext cx="460000" cy="4600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633630" y="1460000"/>
            <a:ext cx="1564617" cy="42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Generate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73630" y="1940000"/>
            <a:ext cx="2164617" cy="138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073630" y="3360000"/>
            <a:ext cx="2164617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>
                <a:solidFill>
                  <a:srgbClr val="00A7B5"/>
                </a:solidFill>
                <a:latin typeface="Arial"/>
              </a:rPr>
              <a:t>+26-60%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73630" y="3900000"/>
            <a:ext cx="2164617" cy="33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Arial"/>
              </a:rPr>
              <a:t>developer productivity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73630" y="4260000"/>
            <a:ext cx="2164617" cy="9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1150" b="0">
                <a:solidFill>
                  <a:srgbClr val="222222"/>
                </a:solidFill>
                <a:latin typeface="Arial"/>
              </a:rPr>
              <a:t>AI coding assistants accelerate software delivery.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48247" y="1380000"/>
            <a:ext cx="2164617" cy="56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Picture 34" descr="ic_dat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18247" y="1430000"/>
            <a:ext cx="460000" cy="460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7908247" y="1460000"/>
            <a:ext cx="1564617" cy="42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Predict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348247" y="1940000"/>
            <a:ext cx="2164617" cy="138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8" name="Picture 37" descr="ex_predic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88247" y="1980000"/>
            <a:ext cx="2084617" cy="13000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348247" y="3360000"/>
            <a:ext cx="2164617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800" b="1">
                <a:solidFill>
                  <a:srgbClr val="2E1A47"/>
                </a:solidFill>
                <a:latin typeface="Arial"/>
              </a:rPr>
              <a:t>22%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48247" y="3900000"/>
            <a:ext cx="2164617" cy="33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Arial"/>
              </a:rPr>
              <a:t>efficiency gains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348247" y="4260000"/>
            <a:ext cx="2164617" cy="9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1150" b="0">
                <a:solidFill>
                  <a:srgbClr val="222222"/>
                </a:solidFill>
                <a:latin typeface="Arial"/>
              </a:rPr>
              <a:t>UPS ORION optimises delivery routes with advanced analytics.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622864" y="1380000"/>
            <a:ext cx="2164617" cy="56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3" name="Picture 42" descr="ic_perso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92864" y="1430000"/>
            <a:ext cx="460000" cy="4600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182864" y="1460000"/>
            <a:ext cx="1564617" cy="42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Assist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622864" y="1940000"/>
            <a:ext cx="2164617" cy="138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6" name="Picture 45" descr="ex_assis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62864" y="1980000"/>
            <a:ext cx="2084617" cy="130000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622864" y="3360000"/>
            <a:ext cx="2164617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800" b="1">
                <a:solidFill>
                  <a:srgbClr val="E8705F"/>
                </a:solidFill>
                <a:latin typeface="Arial"/>
              </a:rPr>
              <a:t>&lt;2 min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22864" y="3900000"/>
            <a:ext cx="2164617" cy="33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Arial"/>
              </a:rPr>
              <a:t>resolution time  |  +$40M profit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622864" y="4260000"/>
            <a:ext cx="2164617" cy="9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1150" b="0">
                <a:solidFill>
                  <a:srgbClr val="222222"/>
                </a:solidFill>
                <a:latin typeface="Arial"/>
              </a:rPr>
              <a:t>Klarna's AI assistant handled two-thirds of customer-service chats in its first month.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24396" y="5310000"/>
            <a:ext cx="11263086" cy="50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The same capabilities create new risks </a:t>
            </a:r>
            <a:r>
              <a:rPr sz="1200" b="0">
                <a:solidFill>
                  <a:srgbClr val="FFFFFF"/>
                </a:solidFill>
                <a:latin typeface="Arial"/>
              </a:rPr>
              <a:t>- to data, decisions, customers and compliance - unless governance keeps pace. That is what this assessment measures.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4396" y="5880000"/>
            <a:ext cx="11263086" cy="3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Source: McKinsey's State of AI 2025 Survey; IDC's Worldwide AI and Generative AI Spending Guide 2025.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913FDE5-DD06-8106-C03F-F2BA75001810}"/>
              </a:ext>
            </a:extLst>
          </p:cNvPr>
          <p:cNvSpPr/>
          <p:nvPr/>
        </p:nvSpPr>
        <p:spPr>
          <a:xfrm>
            <a:off x="566348" y="1980000"/>
            <a:ext cx="2084617" cy="1290000"/>
          </a:xfrm>
          <a:prstGeom prst="rect">
            <a:avLst/>
          </a:prstGeom>
          <a:solidFill>
            <a:srgbClr val="304C8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702E2983-F480-17CC-955D-65328C888208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t="20645"/>
          <a:stretch>
            <a:fillRect/>
          </a:stretch>
        </p:blipFill>
        <p:spPr>
          <a:xfrm>
            <a:off x="570158" y="1980000"/>
            <a:ext cx="2086943" cy="1310000"/>
          </a:xfrm>
          <a:prstGeom prst="roundRect">
            <a:avLst>
              <a:gd name="adj" fmla="val 1959"/>
            </a:avLst>
          </a:prstGeom>
          <a:effectLst>
            <a:softEdge rad="63500"/>
          </a:effectLst>
        </p:spPr>
      </p:pic>
      <p:sp>
        <p:nvSpPr>
          <p:cNvPr id="56" name="Rectangle 55">
            <a:extLst>
              <a:ext uri="{FF2B5EF4-FFF2-40B4-BE49-F238E27FC236}">
                <a16:creationId xmlns:a16="http://schemas.microsoft.com/office/drawing/2014/main" id="{03B19232-1F4C-D728-AB38-1C3C3AFB7612}"/>
              </a:ext>
            </a:extLst>
          </p:cNvPr>
          <p:cNvSpPr/>
          <p:nvPr/>
        </p:nvSpPr>
        <p:spPr>
          <a:xfrm>
            <a:off x="5113583" y="1981430"/>
            <a:ext cx="2084617" cy="1290000"/>
          </a:xfrm>
          <a:prstGeom prst="rect">
            <a:avLst/>
          </a:prstGeom>
          <a:solidFill>
            <a:srgbClr val="304C8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8" name="Picture 57" descr="Kiro Interface - IDE - Docs - Kiro">
            <a:extLst>
              <a:ext uri="{FF2B5EF4-FFF2-40B4-BE49-F238E27FC236}">
                <a16:creationId xmlns:a16="http://schemas.microsoft.com/office/drawing/2014/main" id="{C71551D2-063C-D62F-0A61-2ED30685BD49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162549" y="2011905"/>
            <a:ext cx="2002155" cy="1215248"/>
          </a:xfrm>
          <a:prstGeom prst="roundRect">
            <a:avLst>
              <a:gd name="adj" fmla="val 34"/>
            </a:avLst>
          </a:prstGeom>
          <a:effectLst>
            <a:softEdge rad="12700"/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6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The AI Adoption Maturity Curve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25758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dirty="0" err="1">
                <a:solidFill>
                  <a:srgbClr val="595959"/>
                </a:solidFill>
                <a:latin typeface="Arial"/>
              </a:rPr>
              <a:t>Organisations</a:t>
            </a:r>
            <a:r>
              <a:rPr sz="1150" b="0" dirty="0">
                <a:solidFill>
                  <a:srgbClr val="595959"/>
                </a:solidFill>
                <a:latin typeface="Arial"/>
              </a:rPr>
              <a:t> move from awareness to governed, enterprise-wide AI - and the governance required rises at every stage. </a:t>
            </a:r>
            <a:endParaRPr lang="en-US" sz="1150" b="0" dirty="0">
              <a:solidFill>
                <a:srgbClr val="595959"/>
              </a:solidFill>
              <a:latin typeface="Arial"/>
            </a:endParaRPr>
          </a:p>
          <a:p>
            <a:pPr algn="l">
              <a:spcAft>
                <a:spcPts val="200"/>
              </a:spcAft>
            </a:pPr>
            <a:r>
              <a:rPr sz="1150" b="0" dirty="0">
                <a:solidFill>
                  <a:srgbClr val="595959"/>
                </a:solidFill>
                <a:latin typeface="Arial"/>
              </a:rPr>
              <a:t>Example: JPMorgan Chase LLM Suite (2023-2025).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3130000"/>
            <a:ext cx="2180617" cy="70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74396" y="3190000"/>
            <a:ext cx="2080617" cy="42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4F2D7F"/>
                </a:solidFill>
                <a:latin typeface="Arial"/>
              </a:rPr>
              <a:t>1  Awareness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4396" y="3560000"/>
            <a:ext cx="2080617" cy="25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Arial"/>
              </a:rPr>
              <a:t>Late 2022-2023: </a:t>
            </a:r>
            <a:r>
              <a:rPr sz="950" b="0">
                <a:solidFill>
                  <a:srgbClr val="222222"/>
                </a:solidFill>
                <a:latin typeface="Arial"/>
              </a:rPr>
              <a:t>Pilots &amp; hackathons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4396" y="3910000"/>
            <a:ext cx="2180617" cy="1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1000" b="0">
                <a:solidFill>
                  <a:srgbClr val="222222"/>
                </a:solidFill>
                <a:latin typeface="Arial"/>
              </a:rPr>
              <a:t>Acceptable-use policy; AI literacy; ban on client data in public tools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95013" y="2800000"/>
            <a:ext cx="2180617" cy="103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845013" y="2860000"/>
            <a:ext cx="2080617" cy="42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2  Use-case discovery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45013" y="3230000"/>
            <a:ext cx="2080617" cy="5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Early-mid 2024: </a:t>
            </a:r>
            <a:r>
              <a:rPr sz="950" b="0">
                <a:solidFill>
                  <a:srgbClr val="FFFFFF"/>
                </a:solidFill>
                <a:latin typeface="Arial"/>
              </a:rPr>
              <a:t>Initial rollout to 60,000 employees, usage tracked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95013" y="3910000"/>
            <a:ext cx="2180617" cy="1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1000" b="0">
                <a:solidFill>
                  <a:srgbClr val="222222"/>
                </a:solidFill>
                <a:latin typeface="Arial"/>
              </a:rPr>
              <a:t>AI inventory; use-case intake; owner for every tool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65630" y="2470000"/>
            <a:ext cx="2180617" cy="136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115630" y="2530000"/>
            <a:ext cx="2080617" cy="42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3  Controlled adoption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15630" y="2900000"/>
            <a:ext cx="2080617" cy="91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Late 2024: </a:t>
            </a:r>
            <a:r>
              <a:rPr sz="950" b="0">
                <a:solidFill>
                  <a:srgbClr val="FFFFFF"/>
                </a:solidFill>
                <a:latin typeface="Arial"/>
              </a:rPr>
              <a:t>Opt-in scaling to 140,000-200,000 employees in 8 months, proving ROI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65630" y="3910000"/>
            <a:ext cx="2180617" cy="1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1000" b="0">
                <a:solidFill>
                  <a:srgbClr val="222222"/>
                </a:solidFill>
                <a:latin typeface="Arial"/>
              </a:rPr>
              <a:t>Risk assessment by tier; human oversight; vendor due diligence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36247" y="2140000"/>
            <a:ext cx="2180617" cy="169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386247" y="2200000"/>
            <a:ext cx="2080617" cy="42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4  Enterprise enablement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86247" y="2570000"/>
            <a:ext cx="2080617" cy="124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Late 2025: </a:t>
            </a:r>
            <a:r>
              <a:rPr sz="950" b="0">
                <a:solidFill>
                  <a:srgbClr val="FFFFFF"/>
                </a:solidFill>
                <a:latin typeface="Arial"/>
              </a:rPr>
              <a:t>Multi-model, firm-wide use by 250,000+ employees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36247" y="3910000"/>
            <a:ext cx="2180617" cy="1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1000" b="0">
                <a:solidFill>
                  <a:srgbClr val="222222"/>
                </a:solidFill>
                <a:latin typeface="Arial"/>
              </a:rPr>
              <a:t>AI committee; monitoring &amp; KRIs; secure architecture; model validation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606864" y="1810000"/>
            <a:ext cx="2180617" cy="202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656864" y="1870000"/>
            <a:ext cx="2080617" cy="42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5  Governance maturity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6864" y="2240000"/>
            <a:ext cx="2080617" cy="157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2025 onward: </a:t>
            </a:r>
            <a:r>
              <a:rPr sz="950" b="0">
                <a:solidFill>
                  <a:srgbClr val="FFFFFF"/>
                </a:solidFill>
                <a:latin typeface="Arial"/>
              </a:rPr>
              <a:t>Oversight &amp; controls embedded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06864" y="3910000"/>
            <a:ext cx="2180617" cy="1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1000" b="0">
                <a:solidFill>
                  <a:srgbClr val="222222"/>
                </a:solidFill>
                <a:latin typeface="Arial"/>
              </a:rPr>
              <a:t>Board oversight; assurance; ISO/IEC 42001-aligned management system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14396" y="5000000"/>
            <a:ext cx="11263086" cy="6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24396" y="5060000"/>
            <a:ext cx="11263086" cy="2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4F2D7F"/>
                </a:solidFill>
                <a:latin typeface="Arial"/>
              </a:rPr>
              <a:t>Governance focus needed at each stage (what the assessment checks)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4396" y="5560000"/>
            <a:ext cx="11263086" cy="52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Where are you on the curve? </a:t>
            </a:r>
            <a:r>
              <a:rPr sz="1100" b="0">
                <a:solidFill>
                  <a:srgbClr val="FFFFFF"/>
                </a:solidFill>
                <a:latin typeface="Arial"/>
              </a:rPr>
              <a:t>The assessment places the organisation on this journey and shows what must be in place - governance, risk, skills, strategy and data - to move up safely.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4396" y="6110000"/>
            <a:ext cx="11263086" cy="25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Arial"/>
              </a:rPr>
              <a:t>Source: JPMorgan Chase public disclosures on LLM Suite adoption (2023-2025).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7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Why Organisations Are Moving Fast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The commercial pressure for AI adoption is becoming difficult to ignore - but adoption is moving faster than governance.</a:t>
            </a:r>
          </a:p>
        </p:txBody>
      </p:sp>
      <p:sp>
        <p:nvSpPr>
          <p:cNvPr id="10" name="Hexagon 9"/>
          <p:cNvSpPr/>
          <p:nvPr/>
        </p:nvSpPr>
        <p:spPr>
          <a:xfrm>
            <a:off x="2454396" y="2470000"/>
            <a:ext cx="1240000" cy="720000"/>
          </a:xfrm>
          <a:prstGeom prst="hexagon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300" b="1">
                <a:solidFill>
                  <a:srgbClr val="4F2D7F"/>
                </a:solidFill>
                <a:latin typeface="Arial"/>
              </a:rPr>
              <a:t>AI adoption</a:t>
            </a:r>
          </a:p>
        </p:txBody>
      </p:sp>
      <p:sp>
        <p:nvSpPr>
          <p:cNvPr id="11" name="Hexagon 10"/>
          <p:cNvSpPr/>
          <p:nvPr/>
        </p:nvSpPr>
        <p:spPr>
          <a:xfrm>
            <a:off x="2374396" y="1450000"/>
            <a:ext cx="1400000" cy="600000"/>
          </a:xfrm>
          <a:prstGeom prst="hexagon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Faster decision cycles</a:t>
            </a:r>
          </a:p>
        </p:txBody>
      </p:sp>
      <p:sp>
        <p:nvSpPr>
          <p:cNvPr id="12" name="Hexagon 11"/>
          <p:cNvSpPr/>
          <p:nvPr/>
        </p:nvSpPr>
        <p:spPr>
          <a:xfrm>
            <a:off x="3889940" y="1990000"/>
            <a:ext cx="1400000" cy="600000"/>
          </a:xfrm>
          <a:prstGeom prst="hexagon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Productivity pressure</a:t>
            </a:r>
          </a:p>
        </p:txBody>
      </p:sp>
      <p:sp>
        <p:nvSpPr>
          <p:cNvPr id="13" name="Hexagon 12"/>
          <p:cNvSpPr/>
          <p:nvPr/>
        </p:nvSpPr>
        <p:spPr>
          <a:xfrm>
            <a:off x="3889940" y="3070000"/>
            <a:ext cx="1400000" cy="600000"/>
          </a:xfrm>
          <a:prstGeom prst="hexagon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Cost optimisation</a:t>
            </a:r>
          </a:p>
        </p:txBody>
      </p:sp>
      <p:sp>
        <p:nvSpPr>
          <p:cNvPr id="14" name="Hexagon 13"/>
          <p:cNvSpPr/>
          <p:nvPr/>
        </p:nvSpPr>
        <p:spPr>
          <a:xfrm>
            <a:off x="2374396" y="3610000"/>
            <a:ext cx="1400000" cy="600000"/>
          </a:xfrm>
          <a:prstGeom prst="hexagon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Customer expectations</a:t>
            </a:r>
          </a:p>
        </p:txBody>
      </p:sp>
      <p:sp>
        <p:nvSpPr>
          <p:cNvPr id="15" name="Hexagon 14"/>
          <p:cNvSpPr/>
          <p:nvPr/>
        </p:nvSpPr>
        <p:spPr>
          <a:xfrm>
            <a:off x="858851" y="3070000"/>
            <a:ext cx="1400000" cy="600000"/>
          </a:xfrm>
          <a:prstGeom prst="hexagon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Data volume growth</a:t>
            </a:r>
          </a:p>
        </p:txBody>
      </p:sp>
      <p:sp>
        <p:nvSpPr>
          <p:cNvPr id="16" name="Hexagon 15"/>
          <p:cNvSpPr/>
          <p:nvPr/>
        </p:nvSpPr>
        <p:spPr>
          <a:xfrm>
            <a:off x="858851" y="1990000"/>
            <a:ext cx="1400000" cy="600000"/>
          </a:xfrm>
          <a:prstGeom prst="hexagon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Competitive pressure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24396" y="1380000"/>
            <a:ext cx="5763086" cy="46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But adoption is moving faster than governance.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24396" y="1900000"/>
            <a:ext cx="5763086" cy="11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100" b="1">
                <a:solidFill>
                  <a:srgbClr val="222222"/>
                </a:solidFill>
                <a:latin typeface="Arial"/>
              </a:rPr>
              <a:t>Example: </a:t>
            </a:r>
            <a:r>
              <a:rPr sz="1100" b="0">
                <a:solidFill>
                  <a:srgbClr val="222222"/>
                </a:solidFill>
                <a:latin typeface="Arial"/>
              </a:rPr>
              <a:t>Morgan Stanley deployed Microsoft 365 Copilot and AI assistants to thousands of financial advisors - less time searching internal documents, more time serving clients and faster responses.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24396" y="3130000"/>
            <a:ext cx="5763086" cy="10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050" b="0">
                <a:solidFill>
                  <a:srgbClr val="4F2D7F"/>
                </a:solidFill>
                <a:latin typeface="Arial"/>
              </a:rPr>
              <a:t>“Bahrain's National AI Strategy promotes embedding AI in finance and operations while requiring governance to support economic diversification and regulatory compliance.”</a:t>
            </a:r>
          </a:p>
          <a:p>
            <a:pPr algn="l"/>
            <a:r>
              <a:rPr sz="1050" b="1">
                <a:solidFill>
                  <a:srgbClr val="4F2D7F"/>
                </a:solidFill>
                <a:latin typeface="Arial"/>
              </a:rPr>
              <a:t>Information &amp; eGovernment Authority (iGA), Bahrain AI Report, 2025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4396" y="4330000"/>
            <a:ext cx="11263086" cy="36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When governance lags behind adoption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4396" y="4740000"/>
            <a:ext cx="2733271" cy="13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594396" y="4820000"/>
            <a:ext cx="520000" cy="520000"/>
          </a:xfrm>
          <a:prstGeom prst="ellipse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ic_ey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96" y="4820000"/>
            <a:ext cx="520000" cy="520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184396" y="4780000"/>
            <a:ext cx="2033271" cy="60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4F2D7F"/>
                </a:solidFill>
                <a:latin typeface="Arial"/>
              </a:rPr>
              <a:t>Shadow AI &amp; data leakage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4396" y="5400000"/>
            <a:ext cx="2553271" cy="62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Staff paste confidential or personal data into public AI tools.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67667" y="4740000"/>
            <a:ext cx="2733271" cy="13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3437667" y="4820000"/>
            <a:ext cx="520000" cy="520000"/>
          </a:xfrm>
          <a:prstGeom prst="ellipse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ic_ris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7667" y="4820000"/>
            <a:ext cx="520000" cy="520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027667" y="4780000"/>
            <a:ext cx="2033271" cy="60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4F2D7F"/>
                </a:solidFill>
                <a:latin typeface="Arial"/>
              </a:rPr>
              <a:t>Unreliable or biased outputs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57667" y="5400000"/>
            <a:ext cx="2553271" cy="62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Errors and bias reach customers and decisions unchecked.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0938" y="4740000"/>
            <a:ext cx="2733271" cy="13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6280938" y="4820000"/>
            <a:ext cx="520000" cy="520000"/>
          </a:xfrm>
          <a:prstGeom prst="ellipse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ic_doc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0938" y="4820000"/>
            <a:ext cx="520000" cy="5200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870938" y="4780000"/>
            <a:ext cx="2033271" cy="60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4F2D7F"/>
                </a:solidFill>
                <a:latin typeface="Arial"/>
              </a:rPr>
              <a:t>Regulatory exposure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0938" y="5400000"/>
            <a:ext cx="2553271" cy="62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PDPL, sector-regulator and EU AI Act obligations missed.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054209" y="4740000"/>
            <a:ext cx="2733271" cy="13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9124209" y="4820000"/>
            <a:ext cx="520000" cy="520000"/>
          </a:xfrm>
          <a:prstGeom prst="ellipse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8" name="Picture 37" descr="ic_a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4209" y="4820000"/>
            <a:ext cx="520000" cy="5200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9714209" y="4780000"/>
            <a:ext cx="2033271" cy="60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4F2D7F"/>
                </a:solidFill>
                <a:latin typeface="Arial"/>
              </a:rPr>
              <a:t>AI-enabled fraud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209" y="5400000"/>
            <a:ext cx="2553271" cy="62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Deepfake payment requests and AI-crafted phishing succeed.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8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Why Assess AI Readiness and Risk Now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AI is already in the organisation - in staff tools, in software and in suppliers' services. Boards and regulators now expect it to be governed.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380000"/>
            <a:ext cx="3654362" cy="202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24396" y="1380000"/>
            <a:ext cx="3654362" cy="62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ic_doc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396" y="1450000"/>
            <a:ext cx="480000" cy="480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74396" y="1440000"/>
            <a:ext cx="2954362" cy="50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Regulation is arriving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396" y="2080000"/>
            <a:ext cx="3474362" cy="127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EU AI Act obligations phase in to 2026-27 (AI literacy since Feb 2025); Bahrain PDPL applies to AI processing personal data; iGA AI Policy (2025); CBB expectations for licensees; draft Bahrain AI law.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28758" y="1380000"/>
            <a:ext cx="3654362" cy="202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28758" y="1380000"/>
            <a:ext cx="3654362" cy="62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ic_ey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8758" y="1450000"/>
            <a:ext cx="480000" cy="480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978758" y="1440000"/>
            <a:ext cx="2954362" cy="50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Shadow AI and embedded 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8758" y="2080000"/>
            <a:ext cx="3474362" cy="127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Staff use public GenAI tools; vendors switch on AI features in existing software. Without an inventory, risk is invisible.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120" y="1380000"/>
            <a:ext cx="3654362" cy="202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133120" y="1380000"/>
            <a:ext cx="3654362" cy="62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ic_gea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3120" y="1450000"/>
            <a:ext cx="480000" cy="480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783120" y="1440000"/>
            <a:ext cx="2954362" cy="50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Agentic AI raises the stakes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3120" y="2080000"/>
            <a:ext cx="3474362" cy="127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AI that takes actions through tools and APIs introduces prompt injection, excessive agency and new fraud paths (ISACA, 2026).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24396" y="3530000"/>
            <a:ext cx="3654362" cy="202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24396" y="3530000"/>
            <a:ext cx="3654362" cy="62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ic_ris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4396" y="3600000"/>
            <a:ext cx="480000" cy="4800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174396" y="3590000"/>
            <a:ext cx="2954362" cy="50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AI-enabled threats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4396" y="4230000"/>
            <a:ext cx="3474362" cy="127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Deepfake payment fraud, AI-crafted phishing and automated attacks target every organisation - whether or not it uses AI itself.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28758" y="3530000"/>
            <a:ext cx="3654362" cy="202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328758" y="3530000"/>
            <a:ext cx="3654362" cy="62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ic_peopl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18758" y="3600000"/>
            <a:ext cx="480000" cy="4800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978758" y="3590000"/>
            <a:ext cx="2954362" cy="50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Boards are asking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18758" y="4230000"/>
            <a:ext cx="3474362" cy="127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Who owns AI? What is our risk appetite? Which AI do we use, with what data, and who checks it?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33120" y="3530000"/>
            <a:ext cx="3654362" cy="202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8133120" y="3530000"/>
            <a:ext cx="3654362" cy="620000"/>
          </a:xfrm>
          <a:prstGeom prst="rect">
            <a:avLst/>
          </a:prstGeom>
          <a:solidFill>
            <a:srgbClr val="5BA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7" name="Picture 36" descr="ic_sear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3120" y="3600000"/>
            <a:ext cx="480000" cy="4800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783120" y="3590000"/>
            <a:ext cx="2954362" cy="50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Investment needs a baseline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3120" y="4230000"/>
            <a:ext cx="3474362" cy="127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A measured starting point focuses budgets on the gaps that matter and shows progress over time.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What the Assessment Answers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Four answers in one report - about 45 minutes of the client's time, delivered within 5 working days.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380000"/>
            <a:ext cx="1000000" cy="103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ic_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396" y="1580000"/>
            <a:ext cx="560000" cy="5600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1524396" y="1380000"/>
            <a:ext cx="2300000" cy="103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400" b="1">
                <a:solidFill>
                  <a:srgbClr val="4F2D7F"/>
                </a:solidFill>
                <a:latin typeface="Arial"/>
              </a:rPr>
              <a:t>How ready are we?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24396" y="1380000"/>
            <a:ext cx="3457851" cy="103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150" b="0">
                <a:solidFill>
                  <a:srgbClr val="222222"/>
                </a:solidFill>
                <a:latin typeface="Arial"/>
              </a:rPr>
              <a:t>Readiness score and maturity (Partial / Informed / Repeatable / Adaptive) overall and for each of the five domains.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4396" y="2510000"/>
            <a:ext cx="1000000" cy="103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ic_ris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396" y="2710000"/>
            <a:ext cx="560000" cy="5600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1524396" y="2510000"/>
            <a:ext cx="2300000" cy="103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400" b="1">
                <a:solidFill>
                  <a:srgbClr val="4F2D7F"/>
                </a:solidFill>
                <a:latin typeface="Arial"/>
              </a:rPr>
              <a:t>How risky is our AI?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24396" y="2510000"/>
            <a:ext cx="3457851" cy="103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150" b="0">
                <a:solidFill>
                  <a:srgbClr val="222222"/>
                </a:solidFill>
                <a:latin typeface="Arial"/>
              </a:rPr>
              <a:t>Inherent AI risk tier (Low to Very high) from how AI is used, the decisions it influences, the data it touches and the oversight in place.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4396" y="3640000"/>
            <a:ext cx="1000000" cy="103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ic_ey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4396" y="3840000"/>
            <a:ext cx="560000" cy="5600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1524396" y="3640000"/>
            <a:ext cx="2300000" cy="103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400" b="1">
                <a:solidFill>
                  <a:srgbClr val="4F2D7F"/>
                </a:solidFill>
                <a:latin typeface="Arial"/>
              </a:rPr>
              <a:t>Is our readiness enough for our risk?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24396" y="3640000"/>
            <a:ext cx="3457851" cy="103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150" b="0">
                <a:solidFill>
                  <a:srgbClr val="222222"/>
                </a:solidFill>
                <a:latin typeface="Arial"/>
              </a:rPr>
              <a:t>Overall AI risk exposure and a recommended pathway: proceed, proceed with conditions, remediate before scaling, or pause.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4396" y="4770000"/>
            <a:ext cx="1000000" cy="103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ic_doc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4396" y="4970000"/>
            <a:ext cx="560000" cy="56000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1524396" y="4770000"/>
            <a:ext cx="2300000" cy="103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400" b="1">
                <a:solidFill>
                  <a:srgbClr val="4F2D7F"/>
                </a:solidFill>
                <a:latin typeface="Arial"/>
              </a:rPr>
              <a:t>What should we do first?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24396" y="4770000"/>
            <a:ext cx="3457851" cy="103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150" b="0">
                <a:solidFill>
                  <a:srgbClr val="222222"/>
                </a:solidFill>
                <a:latin typeface="Arial"/>
              </a:rPr>
              <a:t>Findings per question, top-5 priority actions, a phased roadmap, regulatory considerations and next steps.</a:t>
            </a:r>
          </a:p>
        </p:txBody>
      </p:sp>
      <p:pic>
        <p:nvPicPr>
          <p:cNvPr id="26" name="Picture 25" descr="rep0_domai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32247" y="1780000"/>
            <a:ext cx="4355235" cy="2434880"/>
          </a:xfrm>
          <a:prstGeom prst="rect">
            <a:avLst/>
          </a:prstGeom>
          <a:ln>
            <a:solidFill>
              <a:srgbClr val="D9CCEB"/>
            </a:solidFill>
          </a:ln>
        </p:spPr>
      </p:pic>
      <p:sp>
        <p:nvSpPr>
          <p:cNvPr id="27" name="TextBox 26"/>
          <p:cNvSpPr txBox="1"/>
          <p:nvPr/>
        </p:nvSpPr>
        <p:spPr>
          <a:xfrm>
            <a:off x="7432247" y="1380000"/>
            <a:ext cx="4355235" cy="3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4F2D7F"/>
                </a:solidFill>
                <a:latin typeface="Arial"/>
              </a:rPr>
              <a:t>Readiness by domain - as shown in the report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2247" y="4278931"/>
            <a:ext cx="4355235" cy="3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Illustrative sample report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06C7AD44-C87D-49F0-8292-A94679109843}"/>
              </a:ext>
            </a:extLst>
          </p:cNvPr>
          <p:cNvSpPr/>
          <p:nvPr/>
        </p:nvSpPr>
        <p:spPr>
          <a:xfrm>
            <a:off x="0" y="-1"/>
            <a:ext cx="12192000" cy="7139483"/>
          </a:xfrm>
          <a:custGeom>
            <a:avLst/>
            <a:gdLst/>
            <a:ahLst/>
            <a:cxnLst/>
            <a:rect l="l" t="t" r="r" b="b"/>
            <a:pathLst>
              <a:path w="18288000" h="12390120">
                <a:moveTo>
                  <a:pt x="0" y="0"/>
                </a:moveTo>
                <a:lnTo>
                  <a:pt x="18288000" y="0"/>
                </a:lnTo>
                <a:lnTo>
                  <a:pt x="18288000" y="12390120"/>
                </a:lnTo>
                <a:lnTo>
                  <a:pt x="0" y="1239012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696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18508D9-0E0F-F987-DECA-55A7FA5DE6B8}"/>
              </a:ext>
            </a:extLst>
          </p:cNvPr>
          <p:cNvSpPr/>
          <p:nvPr/>
        </p:nvSpPr>
        <p:spPr>
          <a:xfrm>
            <a:off x="0" y="-2"/>
            <a:ext cx="12191998" cy="7139483"/>
          </a:xfrm>
          <a:prstGeom prst="rect">
            <a:avLst/>
          </a:prstGeom>
          <a:solidFill>
            <a:srgbClr val="4F2D7F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8072897C-39BA-0A66-797A-BEB0C83AAE45}"/>
              </a:ext>
            </a:extLst>
          </p:cNvPr>
          <p:cNvSpPr/>
          <p:nvPr/>
        </p:nvSpPr>
        <p:spPr>
          <a:xfrm>
            <a:off x="0" y="-2"/>
            <a:ext cx="12192000" cy="713948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04260" t="-226076" r="-109432" b="-22213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4344EC82-137F-8FD9-DA67-38F5137810B6}"/>
              </a:ext>
            </a:extLst>
          </p:cNvPr>
          <p:cNvSpPr/>
          <p:nvPr/>
        </p:nvSpPr>
        <p:spPr>
          <a:xfrm>
            <a:off x="-2" y="0"/>
            <a:ext cx="12192002" cy="7139482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04261" t="-226073" r="-109430" b="-222131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94221826-FB15-5DA1-6707-F4C163C6CFDB}"/>
              </a:ext>
            </a:extLst>
          </p:cNvPr>
          <p:cNvSpPr/>
          <p:nvPr/>
        </p:nvSpPr>
        <p:spPr>
          <a:xfrm>
            <a:off x="-1" y="-93230"/>
            <a:ext cx="12192002" cy="7325942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04264" t="-219047" r="-109427" b="-21520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6511A8A3-B4EE-EB7E-9F2C-93D45BFD6D32}"/>
              </a:ext>
            </a:extLst>
          </p:cNvPr>
          <p:cNvSpPr/>
          <p:nvPr/>
        </p:nvSpPr>
        <p:spPr>
          <a:xfrm>
            <a:off x="-1" y="-2"/>
            <a:ext cx="12192001" cy="723271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04262" t="-223154" r="-109429" b="-217984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Freeform 9">
            <a:extLst>
              <a:ext uri="{FF2B5EF4-FFF2-40B4-BE49-F238E27FC236}">
                <a16:creationId xmlns:a16="http://schemas.microsoft.com/office/drawing/2014/main" id="{F8233354-9791-7BF2-2983-D614F879A572}"/>
              </a:ext>
            </a:extLst>
          </p:cNvPr>
          <p:cNvSpPr/>
          <p:nvPr/>
        </p:nvSpPr>
        <p:spPr>
          <a:xfrm>
            <a:off x="-1" y="-2"/>
            <a:ext cx="12192000" cy="723271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04263" t="-223159" r="-109428" b="-217975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1E39F0D-B44A-F824-E008-8560A6309DBA}"/>
              </a:ext>
            </a:extLst>
          </p:cNvPr>
          <p:cNvSpPr txBox="1"/>
          <p:nvPr/>
        </p:nvSpPr>
        <p:spPr>
          <a:xfrm>
            <a:off x="1004473" y="3157343"/>
            <a:ext cx="58308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Approach &amp;</a:t>
            </a:r>
          </a:p>
          <a:p>
            <a:pPr algn="ctr"/>
            <a:r>
              <a:rPr lang="en-US" sz="4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Methodology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F4EA642-D069-958E-A24D-5CB99B0F44AA}"/>
              </a:ext>
            </a:extLst>
          </p:cNvPr>
          <p:cNvCxnSpPr>
            <a:cxnSpLocks/>
          </p:cNvCxnSpPr>
          <p:nvPr/>
        </p:nvCxnSpPr>
        <p:spPr>
          <a:xfrm>
            <a:off x="8286904" y="6464483"/>
            <a:ext cx="3523342" cy="0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3B6A2FC1-11AA-1477-5B10-756FBF7DCA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88337" y="6552802"/>
            <a:ext cx="1121909" cy="216879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27E14C6E-C1B2-BAC8-41CB-FE011227B300}"/>
              </a:ext>
            </a:extLst>
          </p:cNvPr>
          <p:cNvSpPr txBox="1"/>
          <p:nvPr/>
        </p:nvSpPr>
        <p:spPr>
          <a:xfrm>
            <a:off x="8277097" y="6554237"/>
            <a:ext cx="212269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" dirty="0">
                <a:solidFill>
                  <a:schemeClr val="bg1"/>
                </a:solidFill>
              </a:rPr>
              <a:t>© 2026 Grant Thornton Bahrain. All rights reserved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11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Our Approach - Report Within 5 Working Days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Light-touch for the client, rigorous behind the scenes. The scoring engine stays with GT - the client receives a clear, independent report.</a:t>
            </a:r>
          </a:p>
        </p:txBody>
      </p:sp>
      <p:sp>
        <p:nvSpPr>
          <p:cNvPr id="10" name="Pentagon 9"/>
          <p:cNvSpPr/>
          <p:nvPr/>
        </p:nvSpPr>
        <p:spPr>
          <a:xfrm>
            <a:off x="524396" y="1380000"/>
            <a:ext cx="2300617" cy="600000"/>
          </a:xfrm>
          <a:prstGeom prst="homePlate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Day 1  Kick-off</a:t>
            </a:r>
          </a:p>
        </p:txBody>
      </p:sp>
      <p:sp>
        <p:nvSpPr>
          <p:cNvPr id="11" name="Chevron 10"/>
          <p:cNvSpPr/>
          <p:nvPr/>
        </p:nvSpPr>
        <p:spPr>
          <a:xfrm>
            <a:off x="2765013" y="1380000"/>
            <a:ext cx="2300617" cy="600000"/>
          </a:xfrm>
          <a:prstGeom prst="chevron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Day 1-2  Questionnaire</a:t>
            </a:r>
          </a:p>
        </p:txBody>
      </p:sp>
      <p:sp>
        <p:nvSpPr>
          <p:cNvPr id="12" name="Chevron 11"/>
          <p:cNvSpPr/>
          <p:nvPr/>
        </p:nvSpPr>
        <p:spPr>
          <a:xfrm>
            <a:off x="5005630" y="1380000"/>
            <a:ext cx="2300617" cy="600000"/>
          </a:xfrm>
          <a:prstGeom prst="chevron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Day 3-4  GT analysis</a:t>
            </a:r>
          </a:p>
        </p:txBody>
      </p:sp>
      <p:sp>
        <p:nvSpPr>
          <p:cNvPr id="13" name="Chevron 12"/>
          <p:cNvSpPr/>
          <p:nvPr/>
        </p:nvSpPr>
        <p:spPr>
          <a:xfrm>
            <a:off x="7246247" y="1380000"/>
            <a:ext cx="2300617" cy="600000"/>
          </a:xfrm>
          <a:prstGeom prst="chevron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Day 5  Report</a:t>
            </a:r>
          </a:p>
        </p:txBody>
      </p:sp>
      <p:sp>
        <p:nvSpPr>
          <p:cNvPr id="14" name="Chevron 13"/>
          <p:cNvSpPr/>
          <p:nvPr/>
        </p:nvSpPr>
        <p:spPr>
          <a:xfrm>
            <a:off x="9486864" y="1380000"/>
            <a:ext cx="2300617" cy="600000"/>
          </a:xfrm>
          <a:prstGeom prst="chevron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Day 5  Debrief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4396" y="2080000"/>
            <a:ext cx="2180617" cy="2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384704" y="2140000"/>
            <a:ext cx="520000" cy="520000"/>
          </a:xfrm>
          <a:prstGeom prst="ellipse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ic_peo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4704" y="2140000"/>
            <a:ext cx="520000" cy="520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4396" y="2720000"/>
            <a:ext cx="2120617" cy="14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30-minute call with the sponsor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Scope: whole organisation, unit or AI system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Respondents agreed; link sent the same day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54396" y="4200000"/>
            <a:ext cx="2180617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Client time: </a:t>
            </a:r>
            <a:r>
              <a:rPr sz="1050" b="0">
                <a:solidFill>
                  <a:srgbClr val="4F2D7F"/>
                </a:solidFill>
                <a:latin typeface="Arial"/>
              </a:rPr>
              <a:t>30 min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4396" y="4770000"/>
            <a:ext cx="2180617" cy="52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Output: </a:t>
            </a:r>
            <a:r>
              <a:rPr sz="1050" b="0">
                <a:solidFill>
                  <a:srgbClr val="4F2D7F"/>
                </a:solidFill>
                <a:latin typeface="Arial"/>
              </a:rPr>
              <a:t>Scope confirmed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95013" y="2080000"/>
            <a:ext cx="2180617" cy="2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3625321" y="2140000"/>
            <a:ext cx="520000" cy="520000"/>
          </a:xfrm>
          <a:prstGeom prst="ellipse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ic_lapt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25321" y="2140000"/>
            <a:ext cx="520000" cy="520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825013" y="2720000"/>
            <a:ext cx="2120617" cy="14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Secure Microsoft Forms questionnaire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34 questions: profile, AI use, readiness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Plain-language options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95013" y="4200000"/>
            <a:ext cx="2180617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Client time: </a:t>
            </a:r>
            <a:r>
              <a:rPr sz="1050" b="0">
                <a:solidFill>
                  <a:srgbClr val="4F2D7F"/>
                </a:solidFill>
                <a:latin typeface="Arial"/>
              </a:rPr>
              <a:t>~45 min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95013" y="4770000"/>
            <a:ext cx="2180617" cy="52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Output: </a:t>
            </a:r>
            <a:r>
              <a:rPr sz="1050" b="0">
                <a:solidFill>
                  <a:srgbClr val="4F2D7F"/>
                </a:solidFill>
                <a:latin typeface="Arial"/>
              </a:rPr>
              <a:t>Completed responses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35630" y="2080000"/>
            <a:ext cx="2180617" cy="2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5865938" y="2140000"/>
            <a:ext cx="520000" cy="520000"/>
          </a:xfrm>
          <a:prstGeom prst="ellipse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ic_gea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5938" y="2140000"/>
            <a:ext cx="520000" cy="5200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065630" y="2720000"/>
            <a:ext cx="2120617" cy="14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Responses processed in GT's proprietary engine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Risk tier, maturity, exposure, findings, roadmap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GT AI GRC professional review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35630" y="4200000"/>
            <a:ext cx="2180617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Client time: </a:t>
            </a:r>
            <a:r>
              <a:rPr sz="1050" b="0">
                <a:solidFill>
                  <a:srgbClr val="4F2D7F"/>
                </a:solidFill>
                <a:latin typeface="Arial"/>
              </a:rPr>
              <a:t>None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35630" y="4770000"/>
            <a:ext cx="2180617" cy="52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Output: </a:t>
            </a:r>
            <a:r>
              <a:rPr sz="1050" b="0">
                <a:solidFill>
                  <a:srgbClr val="4F2D7F"/>
                </a:solidFill>
                <a:latin typeface="Arial"/>
              </a:rPr>
              <a:t>Quality-reviewed results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76247" y="2080000"/>
            <a:ext cx="2180617" cy="2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8106555" y="2140000"/>
            <a:ext cx="520000" cy="520000"/>
          </a:xfrm>
          <a:prstGeom prst="ellipse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Picture 34" descr="ic_doc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06555" y="2140000"/>
            <a:ext cx="520000" cy="520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7306247" y="2720000"/>
            <a:ext cx="2120617" cy="14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Confidential PDF report (7-9 pages)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Emailed to the sponsor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Headline results in the email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76247" y="4200000"/>
            <a:ext cx="2180617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Client time: </a:t>
            </a:r>
            <a:r>
              <a:rPr sz="1050" b="0">
                <a:solidFill>
                  <a:srgbClr val="4F2D7F"/>
                </a:solidFill>
                <a:latin typeface="Arial"/>
              </a:rPr>
              <a:t>None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76247" y="4770000"/>
            <a:ext cx="2180617" cy="52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Output: </a:t>
            </a:r>
            <a:r>
              <a:rPr sz="1050" b="0">
                <a:solidFill>
                  <a:srgbClr val="4F2D7F"/>
                </a:solidFill>
                <a:latin typeface="Arial"/>
              </a:rPr>
              <a:t>Report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516864" y="2080000"/>
            <a:ext cx="2180617" cy="2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10347172" y="2140000"/>
            <a:ext cx="520000" cy="520000"/>
          </a:xfrm>
          <a:prstGeom prst="ellipse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1" name="Picture 40" descr="ic_bul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47172" y="2140000"/>
            <a:ext cx="520000" cy="5200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546864" y="2720000"/>
            <a:ext cx="2120617" cy="14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60-90 minute leadership debrief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Priorities and owners agreed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Follow-on options discussed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516864" y="4200000"/>
            <a:ext cx="2180617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Client time: </a:t>
            </a:r>
            <a:r>
              <a:rPr sz="1050" b="0">
                <a:solidFill>
                  <a:srgbClr val="4F2D7F"/>
                </a:solidFill>
                <a:latin typeface="Arial"/>
              </a:rPr>
              <a:t>60-90 min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516864" y="4770000"/>
            <a:ext cx="2180617" cy="52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Output: </a:t>
            </a:r>
            <a:r>
              <a:rPr sz="1050" b="0">
                <a:solidFill>
                  <a:srgbClr val="4F2D7F"/>
                </a:solidFill>
                <a:latin typeface="Arial"/>
              </a:rPr>
              <a:t>90-day action plan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24396" y="5400000"/>
            <a:ext cx="11263086" cy="45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100" b="0">
                <a:solidFill>
                  <a:srgbClr val="FFFFFF"/>
                </a:solidFill>
                <a:latin typeface="Arial"/>
              </a:rPr>
              <a:t>Timeline assumes the questionnaire is completed by Day 2; otherwise the report is issued within 3 working days of receiving complete responses.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12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Five Assessment Domains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16 readiness questions across five equally weighted domains, aligned to ISO/IEC 42001, ISO/IEC 23894, NIST AI RMF and the NSW AI Assessment Framework.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380000"/>
            <a:ext cx="2172617" cy="100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ic_or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0704" y="1430000"/>
            <a:ext cx="480000" cy="48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4396" y="1930000"/>
            <a:ext cx="2172617" cy="42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AI Governance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4396" y="2380000"/>
            <a:ext cx="2172617" cy="28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4 questions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4396" y="2660000"/>
            <a:ext cx="2172617" cy="16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54396" y="2710000"/>
            <a:ext cx="2112617" cy="16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AI governance structure &amp; accountability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AI policy, acceptable use &amp; regulatory compliance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Responsible-AI guardrails &amp; human oversight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AI incidents, monitoring &amp; assurance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4396" y="4360000"/>
            <a:ext cx="2172617" cy="13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900" b="1">
                <a:solidFill>
                  <a:srgbClr val="222222"/>
                </a:solidFill>
                <a:latin typeface="Arial"/>
              </a:rPr>
              <a:t>If weak: </a:t>
            </a:r>
            <a:r>
              <a:rPr sz="900" b="0">
                <a:solidFill>
                  <a:srgbClr val="222222"/>
                </a:solidFill>
                <a:latin typeface="Arial"/>
              </a:rPr>
              <a:t>Without clear accountability, policy, oversight and assurance, AI is adopted inconsistently, misused and breaches regulation without anyone noticing or answering for it.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97013" y="1380000"/>
            <a:ext cx="2172617" cy="100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ic_ris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3321" y="1430000"/>
            <a:ext cx="480000" cy="480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797013" y="1930000"/>
            <a:ext cx="2172617" cy="42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AI Risk &amp; Security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97013" y="2380000"/>
            <a:ext cx="2172617" cy="28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6 questions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97013" y="2660000"/>
            <a:ext cx="2172617" cy="16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827013" y="2710000"/>
            <a:ext cx="2112617" cy="16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AI risk management framework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AI risk appetite, KRIs &amp; reporting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AI inventory &amp; risk / impact assessment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Third-party &amp; AI supply-chain risk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Securing AI systems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Defending against AI-enabled threats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97013" y="4360000"/>
            <a:ext cx="2172617" cy="13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7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900" b="1">
                <a:solidFill>
                  <a:srgbClr val="222222"/>
                </a:solidFill>
                <a:latin typeface="Arial"/>
              </a:rPr>
              <a:t>If weak: </a:t>
            </a:r>
            <a:r>
              <a:rPr sz="900" b="0">
                <a:solidFill>
                  <a:srgbClr val="222222"/>
                </a:solidFill>
                <a:latin typeface="Arial"/>
              </a:rPr>
              <a:t>Without an AI risk framework, risk appetite, impact assessments, third-party controls and AI security, the organisation is exposed to unmanaged AI risk, prompt injection, data leakage, model compromise and deepfake-enabled fraud.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69630" y="1380000"/>
            <a:ext cx="2172617" cy="100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ic_pers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15938" y="1430000"/>
            <a:ext cx="480000" cy="480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069630" y="1930000"/>
            <a:ext cx="2172617" cy="42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Training &amp; Awareness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69630" y="2380000"/>
            <a:ext cx="2172617" cy="28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1 question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69630" y="2660000"/>
            <a:ext cx="2172617" cy="16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099630" y="2710000"/>
            <a:ext cx="2112617" cy="16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AI training, literacy &amp; awareness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69630" y="4360000"/>
            <a:ext cx="2172617" cy="13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A7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900" b="1">
                <a:solidFill>
                  <a:srgbClr val="222222"/>
                </a:solidFill>
                <a:latin typeface="Arial"/>
              </a:rPr>
              <a:t>If weak: </a:t>
            </a:r>
            <a:r>
              <a:rPr sz="900" b="0">
                <a:solidFill>
                  <a:srgbClr val="222222"/>
                </a:solidFill>
                <a:latin typeface="Arial"/>
              </a:rPr>
              <a:t>Low AI literacy and awareness increase unsafe use of AI tools, unchecked or biased outputs and susceptibility to AI-enabled phishing and deepfakes.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42247" y="1380000"/>
            <a:ext cx="2172617" cy="100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88555" y="1430000"/>
            <a:ext cx="480000" cy="4800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342247" y="1930000"/>
            <a:ext cx="2172617" cy="42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Strategy &amp; Value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42247" y="2380000"/>
            <a:ext cx="2172617" cy="28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2 questions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42247" y="2660000"/>
            <a:ext cx="2172617" cy="16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372247" y="2710000"/>
            <a:ext cx="2112617" cy="16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AI strategy &amp; executive ownership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Use-case portfolio &amp; value realisation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342247" y="4360000"/>
            <a:ext cx="2172617" cy="13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B5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900" b="1">
                <a:solidFill>
                  <a:srgbClr val="222222"/>
                </a:solidFill>
                <a:latin typeface="Arial"/>
              </a:rPr>
              <a:t>If weak: </a:t>
            </a:r>
            <a:r>
              <a:rPr sz="900" b="0">
                <a:solidFill>
                  <a:srgbClr val="222222"/>
                </a:solidFill>
                <a:latin typeface="Arial"/>
              </a:rPr>
              <a:t>Without clear direction, ownership and value tracking, AI adoption is fragmented, duplicated and hard to justify.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614864" y="1380000"/>
            <a:ext cx="2172617" cy="100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9" name="Picture 38" descr="ic_dat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61172" y="1430000"/>
            <a:ext cx="480000" cy="480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9614864" y="1930000"/>
            <a:ext cx="2172617" cy="42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Data &amp; Technology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14864" y="2380000"/>
            <a:ext cx="2172617" cy="28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3 questions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614864" y="2660000"/>
            <a:ext cx="2172617" cy="16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644864" y="2710000"/>
            <a:ext cx="2112617" cy="16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Data governance, quality &amp; privacy for AI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AI architecture, integration &amp; monitoring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Model risk management &amp; validation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614864" y="4360000"/>
            <a:ext cx="2172617" cy="13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2E1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900" b="1">
                <a:solidFill>
                  <a:srgbClr val="222222"/>
                </a:solidFill>
                <a:latin typeface="Arial"/>
              </a:rPr>
              <a:t>If weak: </a:t>
            </a:r>
            <a:r>
              <a:rPr sz="900" b="0">
                <a:solidFill>
                  <a:srgbClr val="222222"/>
                </a:solidFill>
                <a:latin typeface="Arial"/>
              </a:rPr>
              <a:t>Weak data governance, architecture and model validation lead to inaccurate or biased outputs, privacy breaches, undetected drift and unsustainable costs.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24396" y="5780000"/>
            <a:ext cx="11263086" cy="40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100" b="0">
                <a:solidFill>
                  <a:srgbClr val="FFFFFF"/>
                </a:solidFill>
                <a:latin typeface="Arial"/>
              </a:rPr>
              <a:t>Each question maps to findings, recommendations and GT AI RCM v2.1 controls - so results convert directly into an action plan.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13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Inherent AI Risk Profile (NSW AIAF-based)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Four questions establish how much risk the organisation's AI use carries - before considering its controls.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380000"/>
            <a:ext cx="2900000" cy="75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ic_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396" y="1505000"/>
            <a:ext cx="500000" cy="50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74396" y="1380000"/>
            <a:ext cx="2200000" cy="75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AI use profile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24396" y="1380000"/>
            <a:ext cx="4000000" cy="7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050" b="0">
                <a:solidFill>
                  <a:srgbClr val="222222"/>
                </a:solidFill>
                <a:latin typeface="Arial"/>
              </a:rPr>
              <a:t>Which statement best describes how AI is used in your organisation today (including AI embedded in software and tools used by staff)?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4396" y="2210000"/>
            <a:ext cx="2900000" cy="75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ic_peop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396" y="2335000"/>
            <a:ext cx="500000" cy="50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74396" y="2210000"/>
            <a:ext cx="2200000" cy="75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Decision impact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24396" y="2210000"/>
            <a:ext cx="4000000" cy="7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050" b="0">
                <a:solidFill>
                  <a:srgbClr val="222222"/>
                </a:solidFill>
                <a:latin typeface="Arial"/>
              </a:rPr>
              <a:t>What is the most significant type of decision or outcome your AI systems influence?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4396" y="3040000"/>
            <a:ext cx="2900000" cy="75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ic_da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4396" y="3165000"/>
            <a:ext cx="500000" cy="5000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74396" y="3040000"/>
            <a:ext cx="2200000" cy="75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Data sensitivity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24396" y="3040000"/>
            <a:ext cx="4000000" cy="7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050" b="0">
                <a:solidFill>
                  <a:srgbClr val="222222"/>
                </a:solidFill>
                <a:latin typeface="Arial"/>
              </a:rPr>
              <a:t>What is the most sensitive data processed by your AI systems (including data staff enter into AI tools)?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4396" y="3870000"/>
            <a:ext cx="2900000" cy="75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ic_ey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4396" y="3995000"/>
            <a:ext cx="500000" cy="500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174396" y="3870000"/>
            <a:ext cx="2200000" cy="75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Oversight &amp; reversibility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24396" y="3870000"/>
            <a:ext cx="4000000" cy="7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050" b="0">
                <a:solidFill>
                  <a:srgbClr val="222222"/>
                </a:solidFill>
                <a:latin typeface="Arial"/>
              </a:rPr>
              <a:t>How much human oversight applies to AI outputs, and how reversible are the outcomes?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24396" y="1380000"/>
            <a:ext cx="4163086" cy="38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Inherent risk tier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24396" y="1810000"/>
            <a:ext cx="4163086" cy="480000"/>
          </a:xfrm>
          <a:prstGeom prst="rect">
            <a:avLst/>
          </a:prstGeom>
          <a:solidFill>
            <a:srgbClr val="C6E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050" b="1">
                <a:solidFill>
                  <a:srgbClr val="222222"/>
                </a:solidFill>
                <a:latin typeface="Arial"/>
              </a:rPr>
              <a:t>Low  </a:t>
            </a:r>
            <a:r>
              <a:rPr sz="1050" b="0">
                <a:solidFill>
                  <a:srgbClr val="222222"/>
                </a:solidFill>
                <a:latin typeface="Arial"/>
              </a:rPr>
              <a:t>Internal productivity tools, human checks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624396" y="2330000"/>
            <a:ext cx="4163086" cy="480000"/>
          </a:xfrm>
          <a:prstGeom prst="rect">
            <a:avLst/>
          </a:prstGeom>
          <a:solidFill>
            <a:srgbClr val="FFE6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050" b="1">
                <a:solidFill>
                  <a:srgbClr val="222222"/>
                </a:solidFill>
                <a:latin typeface="Arial"/>
              </a:rPr>
              <a:t>Medium  </a:t>
            </a:r>
            <a:r>
              <a:rPr sz="1050" b="0">
                <a:solidFill>
                  <a:srgbClr val="222222"/>
                </a:solidFill>
                <a:latin typeface="Arial"/>
              </a:rPr>
              <a:t>Customer-facing or confidential data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24396" y="2850000"/>
            <a:ext cx="4163086" cy="480000"/>
          </a:xfrm>
          <a:prstGeom prst="rect">
            <a:avLst/>
          </a:prstGeom>
          <a:solidFill>
            <a:srgbClr val="F4B1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050" b="1">
                <a:solidFill>
                  <a:srgbClr val="222222"/>
                </a:solidFill>
                <a:latin typeface="Arial"/>
              </a:rPr>
              <a:t>High  </a:t>
            </a:r>
            <a:r>
              <a:rPr sz="1050" b="0">
                <a:solidFill>
                  <a:srgbClr val="222222"/>
                </a:solidFill>
                <a:latin typeface="Arial"/>
              </a:rPr>
              <a:t>Decisions affecting people or sensitive data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24396" y="3370000"/>
            <a:ext cx="4163086" cy="480000"/>
          </a:xfrm>
          <a:prstGeom prst="rect">
            <a:avLst/>
          </a:prstGeom>
          <a:solidFill>
            <a:srgbClr val="E0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050" b="1">
                <a:solidFill>
                  <a:srgbClr val="222222"/>
                </a:solidFill>
                <a:latin typeface="Arial"/>
              </a:rPr>
              <a:t>Very high  </a:t>
            </a:r>
            <a:r>
              <a:rPr sz="1050" b="0">
                <a:solidFill>
                  <a:srgbClr val="222222"/>
                </a:solidFill>
                <a:latin typeface="Arial"/>
              </a:rPr>
              <a:t>Significant decisions with little oversight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24396" y="3930000"/>
            <a:ext cx="4163086" cy="8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Overrides apply - AI that makes or materially influences decisions about individuals' rights or access to services cannot be rated Low.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4396" y="4830000"/>
            <a:ext cx="11263086" cy="65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150" b="1">
                <a:solidFill>
                  <a:srgbClr val="222222"/>
                </a:solidFill>
                <a:latin typeface="Arial"/>
              </a:rPr>
              <a:t>Exposure = inherent risk tier x readiness maturity. </a:t>
            </a:r>
            <a:r>
              <a:rPr sz="1150" b="0">
                <a:solidFill>
                  <a:srgbClr val="222222"/>
                </a:solidFill>
                <a:latin typeface="Arial"/>
              </a:rPr>
              <a:t>A mature organisation with high-risk AI can be at moderate exposure; an immature organisation with the same AI is at critical exposure. The pathway follows from the exposure.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4396" y="5580000"/>
            <a:ext cx="11263086" cy="4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Basis: NSW AI Assessment Framework; EU AI Act risk categories; ISO/IEC 23894 and ISO/IEC 42005.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14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How Results Are Expressed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Clear, comparable results for every client; the detailed scoring rules remain GT's proprietary methodology.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380000"/>
            <a:ext cx="6757851" cy="34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Arial"/>
              </a:rPr>
              <a:t>1  Every answer on a five-level scale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4396" y="1770000"/>
            <a:ext cx="1303570" cy="520000"/>
          </a:xfrm>
          <a:prstGeom prst="rect">
            <a:avLst/>
          </a:prstGeom>
          <a:solidFill>
            <a:srgbClr val="F8CB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00" b="1">
                <a:solidFill>
                  <a:srgbClr val="222222"/>
                </a:solidFill>
                <a:latin typeface="Arial"/>
              </a:rPr>
              <a:t>Level 0</a:t>
            </a:r>
          </a:p>
          <a:p>
            <a:pPr algn="ctr"/>
            <a:r>
              <a:rPr sz="1000" b="0">
                <a:solidFill>
                  <a:srgbClr val="222222"/>
                </a:solidFill>
                <a:latin typeface="Arial"/>
              </a:rPr>
              <a:t>Not in place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87966" y="1770000"/>
            <a:ext cx="1303570" cy="520000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00" b="1">
                <a:solidFill>
                  <a:srgbClr val="222222"/>
                </a:solidFill>
                <a:latin typeface="Arial"/>
              </a:rPr>
              <a:t>Level 1</a:t>
            </a:r>
          </a:p>
          <a:p>
            <a:pPr algn="ctr"/>
            <a:r>
              <a:rPr sz="1000" b="0">
                <a:solidFill>
                  <a:srgbClr val="222222"/>
                </a:solidFill>
                <a:latin typeface="Arial"/>
              </a:rPr>
              <a:t>Initial / ad hoc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51536" y="1770000"/>
            <a:ext cx="1303570" cy="520000"/>
          </a:xfrm>
          <a:prstGeom prst="rect">
            <a:avLst/>
          </a:prstGeom>
          <a:solidFill>
            <a:srgbClr val="FFE6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00" b="1">
                <a:solidFill>
                  <a:srgbClr val="222222"/>
                </a:solidFill>
                <a:latin typeface="Arial"/>
              </a:rPr>
              <a:t>Level 2</a:t>
            </a:r>
          </a:p>
          <a:p>
            <a:pPr algn="ctr"/>
            <a:r>
              <a:rPr sz="1000" b="0">
                <a:solidFill>
                  <a:srgbClr val="222222"/>
                </a:solidFill>
                <a:latin typeface="Arial"/>
              </a:rPr>
              <a:t>Defined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15106" y="1770000"/>
            <a:ext cx="1303570" cy="520000"/>
          </a:xfrm>
          <a:prstGeom prst="rect">
            <a:avLst/>
          </a:prstGeom>
          <a:solidFill>
            <a:srgbClr val="C6E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00" b="1">
                <a:solidFill>
                  <a:srgbClr val="222222"/>
                </a:solidFill>
                <a:latin typeface="Arial"/>
              </a:rPr>
              <a:t>Level 3</a:t>
            </a:r>
          </a:p>
          <a:p>
            <a:pPr algn="ctr"/>
            <a:r>
              <a:rPr sz="1000" b="0">
                <a:solidFill>
                  <a:srgbClr val="222222"/>
                </a:solidFill>
                <a:latin typeface="Arial"/>
              </a:rPr>
              <a:t>Implemented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78676" y="1770000"/>
            <a:ext cx="1303570" cy="520000"/>
          </a:xfrm>
          <a:prstGeom prst="rect">
            <a:avLst/>
          </a:prstGeom>
          <a:solidFill>
            <a:srgbClr val="9BC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00" b="1">
                <a:solidFill>
                  <a:srgbClr val="222222"/>
                </a:solidFill>
                <a:latin typeface="Arial"/>
              </a:rPr>
              <a:t>Level 4</a:t>
            </a:r>
          </a:p>
          <a:p>
            <a:pPr algn="ctr"/>
            <a:r>
              <a:rPr sz="1000" b="0">
                <a:solidFill>
                  <a:srgbClr val="222222"/>
                </a:solidFill>
                <a:latin typeface="Arial"/>
              </a:rPr>
              <a:t>Optimised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4396" y="2380000"/>
            <a:ext cx="6757851" cy="34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Arial"/>
              </a:rPr>
              <a:t>2  Domain and overall scores placed in four maturity bands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4396" y="2770000"/>
            <a:ext cx="1644462" cy="1150000"/>
          </a:xfrm>
          <a:prstGeom prst="rect">
            <a:avLst/>
          </a:prstGeom>
          <a:solidFill>
            <a:srgbClr val="F8CB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950" b="1">
                <a:solidFill>
                  <a:srgbClr val="222222"/>
                </a:solidFill>
                <a:latin typeface="Arial"/>
              </a:rPr>
              <a:t>Partial  &lt; 50%</a:t>
            </a:r>
          </a:p>
          <a:p>
            <a:pPr algn="ctr"/>
            <a:r>
              <a:rPr sz="950" b="0">
                <a:solidFill>
                  <a:srgbClr val="222222"/>
                </a:solidFill>
                <a:latin typeface="Arial"/>
              </a:rPr>
              <a:t>Foundational capabilities are missing or ad hoc; AI risk is largely unmanaged.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28858" y="2770000"/>
            <a:ext cx="1644462" cy="1150000"/>
          </a:xfrm>
          <a:prstGeom prst="rect">
            <a:avLst/>
          </a:prstGeom>
          <a:solidFill>
            <a:srgbClr val="FFE6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950" b="1">
                <a:solidFill>
                  <a:srgbClr val="222222"/>
                </a:solidFill>
                <a:latin typeface="Arial"/>
              </a:rPr>
              <a:t>Informed  50 - 70%</a:t>
            </a:r>
          </a:p>
          <a:p>
            <a:pPr algn="ctr"/>
            <a:r>
              <a:rPr sz="950" b="0">
                <a:solidFill>
                  <a:srgbClr val="222222"/>
                </a:solidFill>
                <a:latin typeface="Arial"/>
              </a:rPr>
              <a:t>Awareness and some defined practices exist, but they are not consistently implemented.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33320" y="2770000"/>
            <a:ext cx="1644462" cy="1150000"/>
          </a:xfrm>
          <a:prstGeom prst="rect">
            <a:avLst/>
          </a:prstGeom>
          <a:solidFill>
            <a:srgbClr val="C6E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950" b="1">
                <a:solidFill>
                  <a:srgbClr val="222222"/>
                </a:solidFill>
                <a:latin typeface="Arial"/>
              </a:rPr>
              <a:t>Repeatable  70 - 90%</a:t>
            </a:r>
          </a:p>
          <a:p>
            <a:pPr algn="ctr"/>
            <a:r>
              <a:rPr sz="950" b="0">
                <a:solidFill>
                  <a:srgbClr val="222222"/>
                </a:solidFill>
                <a:latin typeface="Arial"/>
              </a:rPr>
              <a:t>Practices are defined and consistently applied across most of the organisation.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37782" y="2770000"/>
            <a:ext cx="1644462" cy="1150000"/>
          </a:xfrm>
          <a:prstGeom prst="rect">
            <a:avLst/>
          </a:prstGeom>
          <a:solidFill>
            <a:srgbClr val="9BC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950" b="1">
                <a:solidFill>
                  <a:srgbClr val="222222"/>
                </a:solidFill>
                <a:latin typeface="Arial"/>
              </a:rPr>
              <a:t>Adaptive  90%+</a:t>
            </a:r>
          </a:p>
          <a:p>
            <a:pPr algn="ctr"/>
            <a:r>
              <a:rPr sz="950" b="0">
                <a:solidFill>
                  <a:srgbClr val="222222"/>
                </a:solidFill>
                <a:latin typeface="Arial"/>
              </a:rPr>
              <a:t>Practices are optimised, measured and continuously improved.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4396" y="4010000"/>
            <a:ext cx="6757851" cy="34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Arial"/>
              </a:rPr>
              <a:t>3  Exposure (risk tier x maturity) sets the recommended pathway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4396" y="4400000"/>
            <a:ext cx="1644462" cy="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Low exposure</a:t>
            </a:r>
          </a:p>
          <a:p>
            <a:pPr algn="ctr"/>
            <a:r>
              <a:rPr sz="1000" b="0">
                <a:solidFill>
                  <a:srgbClr val="4F2D7F"/>
                </a:solidFill>
                <a:latin typeface="Arial"/>
              </a:rPr>
              <a:t>Proceed - self-managed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28858" y="4400000"/>
            <a:ext cx="1644462" cy="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Moderate exposure</a:t>
            </a:r>
          </a:p>
          <a:p>
            <a:pPr algn="ctr"/>
            <a:r>
              <a:rPr sz="1000" b="0">
                <a:solidFill>
                  <a:srgbClr val="4F2D7F"/>
                </a:solidFill>
                <a:latin typeface="Arial"/>
              </a:rPr>
              <a:t>Proceed with conditions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33320" y="4400000"/>
            <a:ext cx="1644462" cy="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High exposure</a:t>
            </a:r>
          </a:p>
          <a:p>
            <a:pPr algn="ctr"/>
            <a:r>
              <a:rPr sz="1000" b="0">
                <a:solidFill>
                  <a:srgbClr val="4F2D7F"/>
                </a:solidFill>
                <a:latin typeface="Arial"/>
              </a:rPr>
              <a:t>Remediate before scaling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37782" y="4400000"/>
            <a:ext cx="1644462" cy="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Critical exposure</a:t>
            </a:r>
          </a:p>
          <a:p>
            <a:pPr algn="ctr"/>
            <a:r>
              <a:rPr sz="1000" b="0">
                <a:solidFill>
                  <a:srgbClr val="4F2D7F"/>
                </a:solidFill>
                <a:latin typeface="Arial"/>
              </a:rPr>
              <a:t>Pause high-impact AI and escalate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4396" y="5380000"/>
            <a:ext cx="6757851" cy="45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Domains are equally weighted. Findings, risks, controls (GT AI RCM v2.1) and recommendations are generated by the GT engine and reviewed by a GT professional.</a:t>
            </a:r>
          </a:p>
        </p:txBody>
      </p:sp>
      <p:pic>
        <p:nvPicPr>
          <p:cNvPr id="27" name="Picture 26" descr="rep0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2247" y="1380000"/>
            <a:ext cx="4355235" cy="3694860"/>
          </a:xfrm>
          <a:prstGeom prst="rect">
            <a:avLst/>
          </a:prstGeom>
          <a:ln>
            <a:solidFill>
              <a:srgbClr val="D9CCEB"/>
            </a:solidFill>
          </a:ln>
        </p:spPr>
      </p:pic>
      <p:sp>
        <p:nvSpPr>
          <p:cNvPr id="28" name="TextBox 27"/>
          <p:cNvSpPr txBox="1"/>
          <p:nvPr/>
        </p:nvSpPr>
        <p:spPr>
          <a:xfrm>
            <a:off x="7432247" y="5330000"/>
            <a:ext cx="4355235" cy="3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How it looks in the report (illustrative sample)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15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How Answers Are Collected - and Why the Engine Stays with GT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The client never handles spreadsheets or formulas. Responses flow securely from a form to a reviewed PDF report.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380000"/>
            <a:ext cx="2108617" cy="100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ic_lap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8704" y="1440000"/>
            <a:ext cx="500000" cy="50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4396" y="1960000"/>
            <a:ext cx="2108617" cy="3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Client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4396" y="2380000"/>
            <a:ext cx="2108617" cy="10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Completes the secure Microsoft Forms questionnaire (one respondent or a coordinated team response)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53013" y="1780000"/>
            <a:ext cx="140000" cy="300000"/>
          </a:xfrm>
          <a:prstGeom prst="rightArrow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813013" y="1380000"/>
            <a:ext cx="2108617" cy="100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ic_da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7321" y="1440000"/>
            <a:ext cx="500000" cy="500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813013" y="1960000"/>
            <a:ext cx="2108617" cy="3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GT secure tenant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13013" y="2380000"/>
            <a:ext cx="2108617" cy="10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Responses exported from Forms in GT's Microsoft 365 environment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941630" y="1780000"/>
            <a:ext cx="140000" cy="300000"/>
          </a:xfrm>
          <a:prstGeom prst="rightArrow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101630" y="1380000"/>
            <a:ext cx="2108617" cy="100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c_gea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05938" y="1440000"/>
            <a:ext cx="500000" cy="500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101630" y="1960000"/>
            <a:ext cx="2108617" cy="3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GT assessment engine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01630" y="2380000"/>
            <a:ext cx="2108617" cy="10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Proprietary scoring, findings and roadmap logic - not shared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230247" y="1780000"/>
            <a:ext cx="140000" cy="300000"/>
          </a:xfrm>
          <a:prstGeom prst="rightArrow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390247" y="1380000"/>
            <a:ext cx="2108617" cy="100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Picture 25" descr="ic_sear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4555" y="1440000"/>
            <a:ext cx="500000" cy="500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390247" y="1960000"/>
            <a:ext cx="2108617" cy="3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GT reviewer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90247" y="2380000"/>
            <a:ext cx="2108617" cy="10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AI GRC professional reviews results and context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518864" y="1780000"/>
            <a:ext cx="140000" cy="300000"/>
          </a:xfrm>
          <a:prstGeom prst="rightArrow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9678864" y="1380000"/>
            <a:ext cx="2108617" cy="100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ic_docche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83172" y="1440000"/>
            <a:ext cx="500000" cy="5000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678864" y="1960000"/>
            <a:ext cx="2108617" cy="3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Client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678864" y="2380000"/>
            <a:ext cx="2108617" cy="10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Receives the PDF report by email; debrief session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24396" y="3530000"/>
            <a:ext cx="5556543" cy="40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Why we do not send the Excel engine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4396" y="3980000"/>
            <a:ext cx="5556543" cy="19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Protects GT methodology, weightings and content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Avoids answers being 'tuned' to the score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Consistent, quality-reviewed results across clients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No macros, formulas or printing issues on client devices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30939" y="3530000"/>
            <a:ext cx="5556543" cy="40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How we protect the client's answers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30939" y="3980000"/>
            <a:ext cx="5556543" cy="19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Stored only in GT's Microsoft 365 tenant; access limited to the engagement team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No personal data beyond contact details; Bahrain PDPL-compliant handling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Never entered into public AI tools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Retained per engagement terms; deleted on request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Report marked confidential; shared only with the named sponsor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16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The Report - What the Client Receives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Pages from an illustrative sample report (sample answers). The full report runs to 7-9 pages.</a:t>
            </a:r>
          </a:p>
        </p:txBody>
      </p:sp>
      <p:pic>
        <p:nvPicPr>
          <p:cNvPr id="10" name="Picture 9" descr="rep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396" y="1380000"/>
            <a:ext cx="3039119" cy="4300000"/>
          </a:xfrm>
          <a:prstGeom prst="rect">
            <a:avLst/>
          </a:prstGeom>
          <a:ln w="9525">
            <a:solidFill>
              <a:srgbClr val="D9CCEB"/>
            </a:solidFill>
          </a:ln>
        </p:spPr>
      </p:pic>
      <p:pic>
        <p:nvPicPr>
          <p:cNvPr id="11" name="Picture 10" descr="rep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4396" y="1380000"/>
            <a:ext cx="3039119" cy="4300000"/>
          </a:xfrm>
          <a:prstGeom prst="rect">
            <a:avLst/>
          </a:prstGeom>
          <a:ln w="9525">
            <a:solidFill>
              <a:srgbClr val="D9CCEB"/>
            </a:solidFill>
          </a:ln>
        </p:spPr>
      </p:pic>
      <p:pic>
        <p:nvPicPr>
          <p:cNvPr id="12" name="Picture 11" descr="rep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24396" y="1380000"/>
            <a:ext cx="3039119" cy="4300000"/>
          </a:xfrm>
          <a:prstGeom prst="rect">
            <a:avLst/>
          </a:prstGeom>
          <a:ln w="9525">
            <a:solidFill>
              <a:srgbClr val="D9CCEB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524396" y="5700000"/>
            <a:ext cx="3000000" cy="3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4F2D7F"/>
                </a:solidFill>
                <a:latin typeface="Arial"/>
              </a:rPr>
              <a:t>Executive summary &amp; domains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74396" y="5700000"/>
            <a:ext cx="3000000" cy="3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4F2D7F"/>
                </a:solidFill>
                <a:latin typeface="Arial"/>
              </a:rPr>
              <a:t>Findings &amp;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24396" y="5700000"/>
            <a:ext cx="3000000" cy="3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4F2D7F"/>
                </a:solidFill>
                <a:latin typeface="Arial"/>
              </a:rPr>
              <a:t>Roadmap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74396" y="1380000"/>
            <a:ext cx="1813086" cy="43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1">
                <a:solidFill>
                  <a:srgbClr val="222222"/>
                </a:solidFill>
                <a:latin typeface="Arial"/>
              </a:rPr>
              <a:t>Report sections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Executive summary &amp; pathway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Readiness by domain (radar)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AI use &amp; inherent risk profile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Responsible-AI principle coverage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Detailed findings &amp; recommendations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Top-5 priority actions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Suggested roadmap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Regulatory &amp; standards considerations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How GT can help; next steps &amp; sign-off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17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Our Own Starting Point - GT Bahrain AI Ready7 (Sept 2026)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We assessed ourselves first. GT Bahrain's AI Ready7 results by pillar, and consolidated into the five assessment domains.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524396" y="1430000"/>
          <a:ext cx="5856804" cy="42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719093" y="1430000"/>
          <a:ext cx="5068388" cy="29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3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109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43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Assessment domain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Compared Ready7 pillar(s)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Score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</a:rPr>
                        <a:t>AI Governance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Governance &amp; Ethics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60%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</a:rPr>
                        <a:t>AI Risk &amp; Security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Protect AI Systems + Protection from AI Threats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63%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</a:rPr>
                        <a:t>Training &amp; Awareness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Training &amp; Development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69%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</a:rPr>
                        <a:t>Strategy &amp; Value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Business Alignment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50%</a:t>
                      </a:r>
                    </a:p>
                  </a:txBody>
                  <a:tcPr marL="54864" marR="54864" marT="27432" marB="27432" anchor="ctr">
                    <a:solidFill>
                      <a:srgbClr val="F8CBA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</a:rPr>
                        <a:t>Data &amp; Technology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Architecture &amp; Technology + Data &amp; Quality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63%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</a:rPr>
                        <a:t>Overall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Readiness status: Informed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61.4%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719093" y="4530000"/>
            <a:ext cx="5068389" cy="12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222222"/>
                </a:solidFill>
                <a:latin typeface="Arial"/>
              </a:rPr>
              <a:t>Our priorities: </a:t>
            </a:r>
            <a:r>
              <a:rPr sz="1050" b="0">
                <a:solidFill>
                  <a:srgbClr val="222222"/>
                </a:solidFill>
                <a:latin typeface="Arial"/>
              </a:rPr>
              <a:t>Strategy &amp; Value (50%) and AI Governance (60%) - including lifecycle AI risk assessment (Ready7 2.4) and data classification for AI (5.1), both 'Not Met'. The AI Readiness &amp; Risk Assessment adds deeper governance and risk-management questions to measure exactly these areas.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4396" y="5730000"/>
            <a:ext cx="11263086" cy="3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Source: GT Bahrain AI Ready7 Result Report (Sept 2026). Domain = average of its Ready7 pillars. Coral = below 60%.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06C7AD44-C87D-49F0-8292-A94679109843}"/>
              </a:ext>
            </a:extLst>
          </p:cNvPr>
          <p:cNvSpPr/>
          <p:nvPr/>
        </p:nvSpPr>
        <p:spPr>
          <a:xfrm>
            <a:off x="0" y="-1"/>
            <a:ext cx="12192000" cy="7139483"/>
          </a:xfrm>
          <a:custGeom>
            <a:avLst/>
            <a:gdLst/>
            <a:ahLst/>
            <a:cxnLst/>
            <a:rect l="l" t="t" r="r" b="b"/>
            <a:pathLst>
              <a:path w="18288000" h="12390120">
                <a:moveTo>
                  <a:pt x="0" y="0"/>
                </a:moveTo>
                <a:lnTo>
                  <a:pt x="18288000" y="0"/>
                </a:lnTo>
                <a:lnTo>
                  <a:pt x="18288000" y="12390120"/>
                </a:lnTo>
                <a:lnTo>
                  <a:pt x="0" y="1239012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696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18508D9-0E0F-F987-DECA-55A7FA5DE6B8}"/>
              </a:ext>
            </a:extLst>
          </p:cNvPr>
          <p:cNvSpPr/>
          <p:nvPr/>
        </p:nvSpPr>
        <p:spPr>
          <a:xfrm>
            <a:off x="0" y="-2"/>
            <a:ext cx="12191998" cy="7139483"/>
          </a:xfrm>
          <a:prstGeom prst="rect">
            <a:avLst/>
          </a:prstGeom>
          <a:solidFill>
            <a:srgbClr val="4F2D7F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8072897C-39BA-0A66-797A-BEB0C83AAE45}"/>
              </a:ext>
            </a:extLst>
          </p:cNvPr>
          <p:cNvSpPr/>
          <p:nvPr/>
        </p:nvSpPr>
        <p:spPr>
          <a:xfrm>
            <a:off x="0" y="-2"/>
            <a:ext cx="12192000" cy="713948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04260" t="-226076" r="-109432" b="-22213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4344EC82-137F-8FD9-DA67-38F5137810B6}"/>
              </a:ext>
            </a:extLst>
          </p:cNvPr>
          <p:cNvSpPr/>
          <p:nvPr/>
        </p:nvSpPr>
        <p:spPr>
          <a:xfrm>
            <a:off x="-2" y="0"/>
            <a:ext cx="12192002" cy="7139482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04261" t="-226073" r="-109430" b="-222131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94221826-FB15-5DA1-6707-F4C163C6CFDB}"/>
              </a:ext>
            </a:extLst>
          </p:cNvPr>
          <p:cNvSpPr/>
          <p:nvPr/>
        </p:nvSpPr>
        <p:spPr>
          <a:xfrm>
            <a:off x="-1" y="-93230"/>
            <a:ext cx="12192002" cy="7325942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04264" t="-219047" r="-109427" b="-21520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6511A8A3-B4EE-EB7E-9F2C-93D45BFD6D32}"/>
              </a:ext>
            </a:extLst>
          </p:cNvPr>
          <p:cNvSpPr/>
          <p:nvPr/>
        </p:nvSpPr>
        <p:spPr>
          <a:xfrm>
            <a:off x="-1" y="-2"/>
            <a:ext cx="12192001" cy="723271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04262" t="-223154" r="-109429" b="-217984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Freeform 9">
            <a:extLst>
              <a:ext uri="{FF2B5EF4-FFF2-40B4-BE49-F238E27FC236}">
                <a16:creationId xmlns:a16="http://schemas.microsoft.com/office/drawing/2014/main" id="{F8233354-9791-7BF2-2983-D614F879A572}"/>
              </a:ext>
            </a:extLst>
          </p:cNvPr>
          <p:cNvSpPr/>
          <p:nvPr/>
        </p:nvSpPr>
        <p:spPr>
          <a:xfrm>
            <a:off x="-1" y="-2"/>
            <a:ext cx="12192000" cy="723271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04263" t="-223159" r="-109428" b="-217975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1E39F0D-B44A-F824-E008-8560A6309DBA}"/>
              </a:ext>
            </a:extLst>
          </p:cNvPr>
          <p:cNvSpPr txBox="1"/>
          <p:nvPr/>
        </p:nvSpPr>
        <p:spPr>
          <a:xfrm>
            <a:off x="1004473" y="3157343"/>
            <a:ext cx="58308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Engagement Plan &amp;</a:t>
            </a:r>
          </a:p>
          <a:p>
            <a:pPr algn="ctr"/>
            <a:r>
              <a:rPr lang="en-US" sz="4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Deliverables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F4EA642-D069-958E-A24D-5CB99B0F44AA}"/>
              </a:ext>
            </a:extLst>
          </p:cNvPr>
          <p:cNvCxnSpPr>
            <a:cxnSpLocks/>
          </p:cNvCxnSpPr>
          <p:nvPr/>
        </p:nvCxnSpPr>
        <p:spPr>
          <a:xfrm>
            <a:off x="8286904" y="6464483"/>
            <a:ext cx="3523342" cy="0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3B6A2FC1-11AA-1477-5B10-756FBF7DCA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88337" y="6552802"/>
            <a:ext cx="1121909" cy="216879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27E14C6E-C1B2-BAC8-41CB-FE011227B300}"/>
              </a:ext>
            </a:extLst>
          </p:cNvPr>
          <p:cNvSpPr txBox="1"/>
          <p:nvPr/>
        </p:nvSpPr>
        <p:spPr>
          <a:xfrm>
            <a:off x="8277097" y="6554237"/>
            <a:ext cx="212269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" dirty="0">
                <a:solidFill>
                  <a:schemeClr val="bg1"/>
                </a:solidFill>
              </a:rPr>
              <a:t>© 2026 Grant Thornton Bahrain. All rights reserved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19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Engagement Options - Report Within 5 Working Days</a:t>
            </a:r>
          </a:p>
        </p:txBody>
      </p:sp>
      <p:sp>
        <p:nvSpPr>
          <p:cNvPr id="9" name="Rectangle 8"/>
          <p:cNvSpPr/>
          <p:nvPr/>
        </p:nvSpPr>
        <p:spPr>
          <a:xfrm>
            <a:off x="524396" y="1230000"/>
            <a:ext cx="3654362" cy="64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c_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396" y="1290000"/>
            <a:ext cx="520000" cy="52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24396" y="1230000"/>
            <a:ext cx="2904362" cy="64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ESSENTIAL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report by Day 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4396" y="1870000"/>
            <a:ext cx="3654362" cy="40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Best for: a fast, independent baseline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4396" y="2270000"/>
            <a:ext cx="3654362" cy="2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96" y="2350000"/>
            <a:ext cx="3514362" cy="195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Kick-off call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Online questionnaire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GT analysis and quality review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Confidential PDF report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30-minute results call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28758" y="1230000"/>
            <a:ext cx="3654362" cy="64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ic_peop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8758" y="1290000"/>
            <a:ext cx="520000" cy="520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28758" y="1230000"/>
            <a:ext cx="2904362" cy="64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STANDARD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report by Day 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8758" y="1870000"/>
            <a:ext cx="3654362" cy="40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Best for: leadership alignment and an agreed plan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8758" y="2270000"/>
            <a:ext cx="3654362" cy="2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98758" y="2350000"/>
            <a:ext cx="3514362" cy="195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Everything in Essential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Multi-respondent input (risk, IT, business)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Review of key evidence provided with the questionnaire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Leadership debrief workshop (90 min)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Agreed 90-day action plan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33120" y="1230000"/>
            <a:ext cx="3654362" cy="64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ic_doc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3120" y="1290000"/>
            <a:ext cx="520000" cy="520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833120" y="1230000"/>
            <a:ext cx="2904362" cy="64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PLUS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report by Day 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33120" y="1870000"/>
            <a:ext cx="3654362" cy="40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Best for: regulated organisations and boards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3120" y="2270000"/>
            <a:ext cx="3654362" cy="2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03120" y="2350000"/>
            <a:ext cx="3514362" cy="195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Everything in Standard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AI inventory risk-tiering of up to 10 AI systems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Board-ready summary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Follow-on (scoped separately): RCM v2.1 control review, ISO/IEC 42001 gap assessment, AI security &amp; agent audit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4396" y="4480000"/>
            <a:ext cx="11263086" cy="38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Timeline (all options)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4396" y="4930000"/>
            <a:ext cx="2188617" cy="7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150" b="1">
                <a:solidFill>
                  <a:srgbClr val="4F2D7F"/>
                </a:solidFill>
                <a:latin typeface="Arial"/>
              </a:rPr>
              <a:t>Day 1</a:t>
            </a:r>
          </a:p>
          <a:p>
            <a:pPr algn="ctr"/>
            <a:r>
              <a:rPr sz="1150" b="0">
                <a:solidFill>
                  <a:srgbClr val="4F2D7F"/>
                </a:solidFill>
                <a:latin typeface="Arial"/>
              </a:rPr>
              <a:t>Kick-off; questionnaire sent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93013" y="4930000"/>
            <a:ext cx="2188617" cy="7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150" b="1">
                <a:solidFill>
                  <a:srgbClr val="4F2D7F"/>
                </a:solidFill>
                <a:latin typeface="Arial"/>
              </a:rPr>
              <a:t>Day 1-2</a:t>
            </a:r>
          </a:p>
          <a:p>
            <a:pPr algn="ctr"/>
            <a:r>
              <a:rPr sz="1150" b="0">
                <a:solidFill>
                  <a:srgbClr val="4F2D7F"/>
                </a:solidFill>
                <a:latin typeface="Arial"/>
              </a:rPr>
              <a:t>Client completes questionnaire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61630" y="4930000"/>
            <a:ext cx="2188617" cy="7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150" b="1">
                <a:solidFill>
                  <a:srgbClr val="4F2D7F"/>
                </a:solidFill>
                <a:latin typeface="Arial"/>
              </a:rPr>
              <a:t>Day 3-4</a:t>
            </a:r>
          </a:p>
          <a:p>
            <a:pPr algn="ctr"/>
            <a:r>
              <a:rPr sz="1150" b="0">
                <a:solidFill>
                  <a:srgbClr val="4F2D7F"/>
                </a:solidFill>
                <a:latin typeface="Arial"/>
              </a:rPr>
              <a:t>GT analysis &amp; quality review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30247" y="4930000"/>
            <a:ext cx="2188617" cy="7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150" b="1">
                <a:solidFill>
                  <a:srgbClr val="4F2D7F"/>
                </a:solidFill>
                <a:latin typeface="Arial"/>
              </a:rPr>
              <a:t>Day 5</a:t>
            </a:r>
          </a:p>
          <a:p>
            <a:pPr algn="ctr"/>
            <a:r>
              <a:rPr sz="1150" b="0">
                <a:solidFill>
                  <a:srgbClr val="4F2D7F"/>
                </a:solidFill>
                <a:latin typeface="Arial"/>
              </a:rPr>
              <a:t>Report issued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98864" y="4930000"/>
            <a:ext cx="2188617" cy="7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150" b="1">
                <a:solidFill>
                  <a:srgbClr val="4F2D7F"/>
                </a:solidFill>
                <a:latin typeface="Arial"/>
              </a:rPr>
              <a:t>Day 5</a:t>
            </a:r>
          </a:p>
          <a:p>
            <a:pPr algn="ctr"/>
            <a:r>
              <a:rPr sz="1150" b="0">
                <a:solidFill>
                  <a:srgbClr val="4F2D7F"/>
                </a:solidFill>
                <a:latin typeface="Arial"/>
              </a:rPr>
              <a:t>Debrief &amp; action plan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4396" y="5730000"/>
            <a:ext cx="11263086" cy="4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Fees are proposed per option once scope (entities, AI systems, respondents) is confirmed. Re-assessment after 6-12 months shows progress on the same scale.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20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Deliverables, Client Inputs and Standards</a:t>
            </a:r>
          </a:p>
        </p:txBody>
      </p:sp>
      <p:sp>
        <p:nvSpPr>
          <p:cNvPr id="9" name="Rectangle 8"/>
          <p:cNvSpPr/>
          <p:nvPr/>
        </p:nvSpPr>
        <p:spPr>
          <a:xfrm>
            <a:off x="524396" y="1230000"/>
            <a:ext cx="3654362" cy="62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c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396" y="1280000"/>
            <a:ext cx="520000" cy="52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24396" y="1230000"/>
            <a:ext cx="2904362" cy="62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DELIVERABLES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4396" y="1850000"/>
            <a:ext cx="3654362" cy="23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96" y="1920000"/>
            <a:ext cx="3514362" cy="22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Confidential AI Readiness &amp; Risk Assessment report (PDF) by Day 5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Readiness by domain and overall maturity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Inherent AI risk tier, exposure and pathway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Findings, top-5 priorities and roadmap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Regulatory considerations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Debrief presentation (Standard / Plus)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8758" y="1230000"/>
            <a:ext cx="3654362" cy="62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ic_peop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8758" y="1280000"/>
            <a:ext cx="520000" cy="52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8758" y="1230000"/>
            <a:ext cx="2904362" cy="62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FROM THE CLIENT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8758" y="1850000"/>
            <a:ext cx="3654362" cy="23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98758" y="1920000"/>
            <a:ext cx="3514362" cy="22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An executive sponsor and a coordinator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Completed questionnaire by Day 2 (about 45 minutes)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Optional evidence: AI policy, AI inventory, risk register, vendor contracts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Availability for the debrief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33120" y="1230000"/>
            <a:ext cx="3654362" cy="62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ic_doc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3120" y="1280000"/>
            <a:ext cx="520000" cy="520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833120" y="1230000"/>
            <a:ext cx="2904362" cy="62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STANDARDS &amp; FRAMEWORKS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33120" y="1850000"/>
            <a:ext cx="3654362" cy="23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03120" y="1920000"/>
            <a:ext cx="3514362" cy="22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NSW AI Assessment Framework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ISO/IEC 42001, ISO/IEC 23894, ISO/IEC 42005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NIST AI RMF 1.0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EU AI Act; Bahrain PDPL; CBB; iGA AI Policy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ISACA Securing AI Agents (2026); OWASP LLM Top 10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GT AI RCM v2.1 (81 controls)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24396" y="4240000"/>
            <a:ext cx="11263086" cy="33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Arial"/>
              </a:rPr>
              <a:t>What the report contains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24396" y="4610000"/>
            <a:ext cx="1207009" cy="7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B5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900" b="1">
                <a:solidFill>
                  <a:srgbClr val="4F2D7F"/>
                </a:solidFill>
                <a:latin typeface="Arial"/>
              </a:rPr>
              <a:t>1</a:t>
            </a:r>
          </a:p>
          <a:p>
            <a:pPr algn="ctr"/>
            <a:r>
              <a:rPr sz="900" b="0">
                <a:solidFill>
                  <a:srgbClr val="4F2D7F"/>
                </a:solidFill>
                <a:latin typeface="Arial"/>
              </a:rPr>
              <a:t>Executive summary &amp; pathway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81405" y="4610000"/>
            <a:ext cx="1207009" cy="7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B5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900" b="1">
                <a:solidFill>
                  <a:srgbClr val="4F2D7F"/>
                </a:solidFill>
                <a:latin typeface="Arial"/>
              </a:rPr>
              <a:t>2</a:t>
            </a:r>
          </a:p>
          <a:p>
            <a:pPr algn="ctr"/>
            <a:r>
              <a:rPr sz="900" b="0">
                <a:solidFill>
                  <a:srgbClr val="4F2D7F"/>
                </a:solidFill>
                <a:latin typeface="Arial"/>
              </a:rPr>
              <a:t>Readiness by domain (radar)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38414" y="4610000"/>
            <a:ext cx="1207009" cy="7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B5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900" b="1">
                <a:solidFill>
                  <a:srgbClr val="4F2D7F"/>
                </a:solidFill>
                <a:latin typeface="Arial"/>
              </a:rPr>
              <a:t>3</a:t>
            </a:r>
          </a:p>
          <a:p>
            <a:pPr algn="ctr"/>
            <a:r>
              <a:rPr sz="900" b="0">
                <a:solidFill>
                  <a:srgbClr val="4F2D7F"/>
                </a:solidFill>
                <a:latin typeface="Arial"/>
              </a:rPr>
              <a:t>AI use &amp; inherent risk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95423" y="4610000"/>
            <a:ext cx="1207009" cy="7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B5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900" b="1">
                <a:solidFill>
                  <a:srgbClr val="4F2D7F"/>
                </a:solidFill>
                <a:latin typeface="Arial"/>
              </a:rPr>
              <a:t>4</a:t>
            </a:r>
          </a:p>
          <a:p>
            <a:pPr algn="ctr"/>
            <a:r>
              <a:rPr sz="900" b="0">
                <a:solidFill>
                  <a:srgbClr val="4F2D7F"/>
                </a:solidFill>
                <a:latin typeface="Arial"/>
              </a:rPr>
              <a:t>Responsible-AI principles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552432" y="4610000"/>
            <a:ext cx="1207009" cy="7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B5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900" b="1">
                <a:solidFill>
                  <a:srgbClr val="4F2D7F"/>
                </a:solidFill>
                <a:latin typeface="Arial"/>
              </a:rPr>
              <a:t>5</a:t>
            </a:r>
          </a:p>
          <a:p>
            <a:pPr algn="ctr"/>
            <a:r>
              <a:rPr sz="900" b="0">
                <a:solidFill>
                  <a:srgbClr val="4F2D7F"/>
                </a:solidFill>
                <a:latin typeface="Arial"/>
              </a:rPr>
              <a:t>Findings &amp; recommendations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09441" y="4610000"/>
            <a:ext cx="1207009" cy="7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B5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900" b="1">
                <a:solidFill>
                  <a:srgbClr val="4F2D7F"/>
                </a:solidFill>
                <a:latin typeface="Arial"/>
              </a:rPr>
              <a:t>6</a:t>
            </a:r>
          </a:p>
          <a:p>
            <a:pPr algn="ctr"/>
            <a:r>
              <a:rPr sz="900" b="0">
                <a:solidFill>
                  <a:srgbClr val="4F2D7F"/>
                </a:solidFill>
                <a:latin typeface="Arial"/>
              </a:rPr>
              <a:t>Top-5 priority actions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66450" y="4610000"/>
            <a:ext cx="1207009" cy="7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B5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900" b="1">
                <a:solidFill>
                  <a:srgbClr val="4F2D7F"/>
                </a:solidFill>
                <a:latin typeface="Arial"/>
              </a:rPr>
              <a:t>7</a:t>
            </a:r>
          </a:p>
          <a:p>
            <a:pPr algn="ctr"/>
            <a:r>
              <a:rPr sz="900" b="0">
                <a:solidFill>
                  <a:srgbClr val="4F2D7F"/>
                </a:solidFill>
                <a:latin typeface="Arial"/>
              </a:rPr>
              <a:t>Implementation roadmap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323459" y="4610000"/>
            <a:ext cx="1207009" cy="7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B5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900" b="1">
                <a:solidFill>
                  <a:srgbClr val="4F2D7F"/>
                </a:solidFill>
                <a:latin typeface="Arial"/>
              </a:rPr>
              <a:t>8</a:t>
            </a:r>
          </a:p>
          <a:p>
            <a:pPr algn="ctr"/>
            <a:r>
              <a:rPr sz="900" b="0">
                <a:solidFill>
                  <a:srgbClr val="4F2D7F"/>
                </a:solidFill>
                <a:latin typeface="Arial"/>
              </a:rPr>
              <a:t>Regulatory considerations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580468" y="4610000"/>
            <a:ext cx="1207009" cy="7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B5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900" b="1">
                <a:solidFill>
                  <a:srgbClr val="4F2D7F"/>
                </a:solidFill>
                <a:latin typeface="Arial"/>
              </a:rPr>
              <a:t>9</a:t>
            </a:r>
          </a:p>
          <a:p>
            <a:pPr algn="ctr"/>
            <a:r>
              <a:rPr sz="900" b="0">
                <a:solidFill>
                  <a:srgbClr val="4F2D7F"/>
                </a:solidFill>
                <a:latin typeface="Arial"/>
              </a:rPr>
              <a:t>How GT can help &amp; sign-off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24396" y="5480000"/>
            <a:ext cx="11263086" cy="60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Natural next step: </a:t>
            </a:r>
            <a:r>
              <a:rPr sz="1150" b="0">
                <a:solidFill>
                  <a:srgbClr val="FFFFFF"/>
                </a:solidFill>
                <a:latin typeface="Arial"/>
              </a:rPr>
              <a:t>the GT AI Strategy &amp; Roadmap service uses the Opportunity Discovery Toolkit to show WHERE AI fits - the readiness assessment shows HOW READY the organisation is to adopt it safely. Both can run together within the same 5 working days.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A46A0A1A-B19E-0BFC-6EEF-260FF5AB7045}"/>
              </a:ext>
            </a:extLst>
          </p:cNvPr>
          <p:cNvSpPr>
            <a:spLocks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39" name="Picture 38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4A3A203B-D766-3AEA-9F50-6032B251B39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6931" y="669123"/>
            <a:ext cx="1971437" cy="384947"/>
          </a:xfrm>
          <a:prstGeom prst="rect">
            <a:avLst/>
          </a:prstGeom>
        </p:spPr>
      </p:pic>
      <p:sp>
        <p:nvSpPr>
          <p:cNvPr id="2" name="Copyright">
            <a:extLst>
              <a:ext uri="{FF2B5EF4-FFF2-40B4-BE49-F238E27FC236}">
                <a16:creationId xmlns:a16="http://schemas.microsoft.com/office/drawing/2014/main" id="{329E1795-73BD-0E0E-ED10-5D29E64315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© 2026 Grant Thornton Bahrain. All rights reserved</a:t>
            </a:r>
            <a:endParaRPr kumimoji="0" lang="en-GB" altLang="en-US" sz="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FA4DDDF-97D9-D0B9-B463-C091F6493B4C}"/>
              </a:ext>
            </a:extLst>
          </p:cNvPr>
          <p:cNvCxnSpPr>
            <a:cxnSpLocks/>
          </p:cNvCxnSpPr>
          <p:nvPr/>
        </p:nvCxnSpPr>
        <p:spPr>
          <a:xfrm>
            <a:off x="8187070" y="6465888"/>
            <a:ext cx="3611230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8B885719-5C02-DCBF-DF94-A69A46A2ED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1C2AB6E-E684-4F3A-C6AF-FD54CA90F340}"/>
              </a:ext>
            </a:extLst>
          </p:cNvPr>
          <p:cNvSpPr txBox="1"/>
          <p:nvPr/>
        </p:nvSpPr>
        <p:spPr>
          <a:xfrm>
            <a:off x="1993614" y="2775950"/>
            <a:ext cx="799907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182834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Thank You 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4 GT Brand Colours">
      <a:dk1>
        <a:sysClr val="windowText" lastClr="000000"/>
      </a:dk1>
      <a:lt1>
        <a:sysClr val="window" lastClr="FFFFFF"/>
      </a:lt1>
      <a:dk2>
        <a:srgbClr val="2B144D"/>
      </a:dk2>
      <a:lt2>
        <a:srgbClr val="F2F0EE"/>
      </a:lt2>
      <a:accent1>
        <a:srgbClr val="4F2D7F"/>
      </a:accent1>
      <a:accent2>
        <a:srgbClr val="00A4B3"/>
      </a:accent2>
      <a:accent3>
        <a:srgbClr val="A06DFF"/>
      </a:accent3>
      <a:accent4>
        <a:srgbClr val="FFC23D"/>
      </a:accent4>
      <a:accent5>
        <a:srgbClr val="FF5149"/>
      </a:accent5>
      <a:accent6>
        <a:srgbClr val="E0DCD7"/>
      </a:accent6>
      <a:hlink>
        <a:srgbClr val="CE2C2C"/>
      </a:hlink>
      <a:folHlink>
        <a:srgbClr val="2B144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AI Tech Agency Infographics by Slidesgo">
  <a:themeElements>
    <a:clrScheme name="2024 GT Brand Colours">
      <a:dk1>
        <a:sysClr val="windowText" lastClr="000000"/>
      </a:dk1>
      <a:lt1>
        <a:sysClr val="window" lastClr="FFFFFF"/>
      </a:lt1>
      <a:dk2>
        <a:srgbClr val="2B144D"/>
      </a:dk2>
      <a:lt2>
        <a:srgbClr val="F2F0EE"/>
      </a:lt2>
      <a:accent1>
        <a:srgbClr val="4F2D7F"/>
      </a:accent1>
      <a:accent2>
        <a:srgbClr val="00A4B3"/>
      </a:accent2>
      <a:accent3>
        <a:srgbClr val="A06DFF"/>
      </a:accent3>
      <a:accent4>
        <a:srgbClr val="FFC23D"/>
      </a:accent4>
      <a:accent5>
        <a:srgbClr val="FF5149"/>
      </a:accent5>
      <a:accent6>
        <a:srgbClr val="E0DCD7"/>
      </a:accent6>
      <a:hlink>
        <a:srgbClr val="CE2C2C"/>
      </a:hlink>
      <a:folHlink>
        <a:srgbClr val="2B144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5621b14-c816-4f8e-852d-41713515fa48">
      <Terms xmlns="http://schemas.microsoft.com/office/infopath/2007/PartnerControls"/>
    </lcf76f155ced4ddcb4097134ff3c332f>
    <TaxCatchAll xmlns="5e0ef65a-1ea4-4b7d-b000-a53661fd6977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2BCE743941B38499BA0828BD6747A51" ma:contentTypeVersion="14" ma:contentTypeDescription="Create a new document." ma:contentTypeScope="" ma:versionID="5b5103ee929778762073fe6fa317c747">
  <xsd:schema xmlns:xsd="http://www.w3.org/2001/XMLSchema" xmlns:xs="http://www.w3.org/2001/XMLSchema" xmlns:p="http://schemas.microsoft.com/office/2006/metadata/properties" xmlns:ns2="5e0ef65a-1ea4-4b7d-b000-a53661fd6977" xmlns:ns3="85621b14-c816-4f8e-852d-41713515fa48" targetNamespace="http://schemas.microsoft.com/office/2006/metadata/properties" ma:root="true" ma:fieldsID="137ff7116f4ec37242bcc4c84de4ffe6" ns2:_="" ns3:_="">
    <xsd:import namespace="5e0ef65a-1ea4-4b7d-b000-a53661fd6977"/>
    <xsd:import namespace="85621b14-c816-4f8e-852d-41713515fa48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lcf76f155ced4ddcb4097134ff3c332f" minOccurs="0"/>
                <xsd:element ref="ns2:TaxCatchAll" minOccurs="0"/>
                <xsd:element ref="ns3:MediaServiceMetadata" minOccurs="0"/>
                <xsd:element ref="ns3:MediaServiceFastMetadata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MediaServiceObjectDetectorVersion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0ef65a-1ea4-4b7d-b000-a53661fd6977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2" nillable="true" ma:displayName="Taxonomy Catch All Column" ma:hidden="true" ma:list="{c99e683d-467f-4dfa-9912-3e70df3bffd8}" ma:internalName="TaxCatchAll" ma:showField="CatchAllData" ma:web="5e0ef65a-1ea4-4b7d-b000-a53661fd697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5621b14-c816-4f8e-852d-41713515fa48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11" nillable="true" ma:taxonomy="true" ma:internalName="lcf76f155ced4ddcb4097134ff3c332f" ma:taxonomyFieldName="MediaServiceImageTags" ma:displayName="Image Tags" ma:readOnly="false" ma:fieldId="{5cf76f15-5ced-4ddc-b409-7134ff3c332f}" ma:taxonomyMulti="true" ma:sspId="c1eeafb0-3949-4f31-85ca-d6b5cf5d88b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3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4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1EE9459-EFE9-4808-8BC6-7BD989BABDE1}">
  <ds:schemaRefs>
    <ds:schemaRef ds:uri="http://purl.org/dc/terms/"/>
    <ds:schemaRef ds:uri="http://purl.org/dc/dcmitype/"/>
    <ds:schemaRef ds:uri="http://schemas.microsoft.com/office/2006/documentManagement/types"/>
    <ds:schemaRef ds:uri="http://purl.org/dc/elements/1.1/"/>
    <ds:schemaRef ds:uri="85621b14-c816-4f8e-852d-41713515fa48"/>
    <ds:schemaRef ds:uri="http://schemas.microsoft.com/office/infopath/2007/PartnerControls"/>
    <ds:schemaRef ds:uri="5e0ef65a-1ea4-4b7d-b000-a53661fd6977"/>
    <ds:schemaRef ds:uri="http://schemas.openxmlformats.org/package/2006/metadata/core-properties"/>
    <ds:schemaRef ds:uri="http://schemas.microsoft.com/office/2006/metadata/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57F2BD41-BE98-4252-9DDA-C8535B0DAFC0}">
  <ds:schemaRefs>
    <ds:schemaRef ds:uri="5e0ef65a-1ea4-4b7d-b000-a53661fd6977"/>
    <ds:schemaRef ds:uri="85621b14-c816-4f8e-852d-41713515fa4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ED5F560F-52AE-4DA0-95BC-B02FDADBA86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36401</TotalTime>
  <Words>3252</Words>
  <Application>Microsoft Office PowerPoint</Application>
  <PresentationFormat>Widescreen</PresentationFormat>
  <Paragraphs>428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21</vt:i4>
      </vt:variant>
    </vt:vector>
  </HeadingPairs>
  <TitlesOfParts>
    <vt:vector size="34" baseType="lpstr">
      <vt:lpstr>Aptos</vt:lpstr>
      <vt:lpstr>Aptos Display</vt:lpstr>
      <vt:lpstr>Arial</vt:lpstr>
      <vt:lpstr>Calibri</vt:lpstr>
      <vt:lpstr>Fira Sans Condensed</vt:lpstr>
      <vt:lpstr>Fira Sans Condensed Light</vt:lpstr>
      <vt:lpstr>GT Walsheim Pro Bold</vt:lpstr>
      <vt:lpstr>GT Walsheim Pro Regular</vt:lpstr>
      <vt:lpstr>Poppins</vt:lpstr>
      <vt:lpstr>Rajdhani</vt:lpstr>
      <vt:lpstr>Office Theme</vt:lpstr>
      <vt:lpstr>AI Tech Agency Infographics by Slidesgo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Kajal Rajusth</dc:creator>
  <cp:lastModifiedBy>Mahek Trivedi</cp:lastModifiedBy>
  <cp:revision>87</cp:revision>
  <dcterms:created xsi:type="dcterms:W3CDTF">2024-04-22T06:15:53Z</dcterms:created>
  <dcterms:modified xsi:type="dcterms:W3CDTF">2026-10-04T06:19:40Z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0x01010042BCE743941B38499BA0828BD6747A51</vt:lpwstr>
  </property>
  <property fmtid="{D5CDD505-2E9C-101B-9397-08002B2CF9AE}" pid="3" name="MediaServiceImageTags">
    <vt:lpwstr/>
  </property>
</Properties>
</file>