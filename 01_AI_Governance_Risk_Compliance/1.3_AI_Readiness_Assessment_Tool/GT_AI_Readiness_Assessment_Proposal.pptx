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3" r:id="rId5"/>
    <p:sldMasterId id="2147483685" r:id="rId6"/>
  </p:sldMasterIdLst>
  <p:notesMasterIdLst>
    <p:notesMasterId r:id="rId26"/>
  </p:notesMasterIdLst>
  <p:sldIdLst>
    <p:sldId id="2141411893" r:id="rId34"/>
    <p:sldId id="2141411894" r:id="rId35"/>
    <p:sldId id="2141411895" r:id="rId36"/>
    <p:sldId id="2141411896" r:id="rId37"/>
    <p:sldId id="2141411897" r:id="rId38"/>
    <p:sldId id="2141411898" r:id="rId39"/>
    <p:sldId id="2141411899" r:id="rId40"/>
    <p:sldId id="2141411900" r:id="rId41"/>
    <p:sldId id="2141411901" r:id="rId42"/>
    <p:sldId id="2141411902" r:id="rId43"/>
    <p:sldId id="2141411903" r:id="rId44"/>
    <p:sldId id="2141411904" r:id="rId45"/>
    <p:sldId id="2141411905" r:id="rId46"/>
    <p:sldId id="2141411906" r:id="rId47"/>
    <p:sldId id="2141411907" r:id="rId48"/>
    <p:sldId id="2141411908" r:id="rId49"/>
    <p:sldId id="2141411909" r:id="rId50"/>
    <p:sldId id="2141411910" r:id="rId51"/>
    <p:sldId id="2141411911" r:id="rId52"/>
    <p:sldId id="214141191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 userDrawn="1">
          <p15:clr>
            <a:srgbClr val="A4A3A4"/>
          </p15:clr>
        </p15:guide>
        <p15:guide id="2" pos="58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E72921-A7D9-DCBA-A3F9-4012AE4EE01A}" name="Kajal Rajusth" initials="KR" userId="S::Kajal.Rajusth@bh.gt.com::11b61780-b247-4085-a29c-8a573c97e7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D7F"/>
    <a:srgbClr val="A06DFF"/>
    <a:srgbClr val="2B144D"/>
    <a:srgbClr val="C6ADEA"/>
    <a:srgbClr val="6611FF"/>
    <a:srgbClr val="0F9ED5"/>
    <a:srgbClr val="FFFFFF"/>
    <a:srgbClr val="FFC23D"/>
    <a:srgbClr val="CE2C2C"/>
    <a:srgbClr val="00A4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80D65-38AE-4B63-ACC6-A8CC8317EE11}" v="1" dt="2025-04-23T12:17:02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3447" autoAdjust="0"/>
  </p:normalViewPr>
  <p:slideViewPr>
    <p:cSldViewPr snapToGrid="0">
      <p:cViewPr varScale="1">
        <p:scale>
          <a:sx n="95" d="100"/>
          <a:sy n="95" d="100"/>
        </p:scale>
        <p:origin x="254" y="72"/>
      </p:cViewPr>
      <p:guideLst>
        <p:guide orient="horz" pos="3408"/>
        <p:guide pos="5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Relationship Id="rId33" Type="http://schemas.microsoft.com/office/2018/10/relationships/authors" Target="authors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jal Rajusth" userId="11b61780-b247-4085-a29c-8a573c97e7f5" providerId="ADAL" clId="{89080D65-38AE-4B63-ACC6-A8CC8317EE11}"/>
    <pc:docChg chg="custSel modSld">
      <pc:chgData name="Kajal Rajusth" userId="11b61780-b247-4085-a29c-8a573c97e7f5" providerId="ADAL" clId="{89080D65-38AE-4B63-ACC6-A8CC8317EE11}" dt="2025-04-23T12:17:05.740" v="30" actId="1076"/>
      <pc:docMkLst>
        <pc:docMk/>
      </pc:docMkLst>
      <pc:sldChg chg="modSp mod">
        <pc:chgData name="Kajal Rajusth" userId="11b61780-b247-4085-a29c-8a573c97e7f5" providerId="ADAL" clId="{89080D65-38AE-4B63-ACC6-A8CC8317EE11}" dt="2025-04-23T11:17:41.002" v="0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89080D65-38AE-4B63-ACC6-A8CC8317EE11}" dt="2025-04-23T11:17:41.002" v="0" actId="20577"/>
          <ac:spMkLst>
            <pc:docMk/>
            <pc:sldMk cId="3443425539" sldId="4144"/>
            <ac:spMk id="81" creationId="{06956AA6-9DE1-1AB8-6F11-AAC6C431CE8D}"/>
          </ac:spMkLst>
        </pc:spChg>
      </pc:sldChg>
      <pc:sldChg chg="addSp delSp modSp mod">
        <pc:chgData name="Kajal Rajusth" userId="11b61780-b247-4085-a29c-8a573c97e7f5" providerId="ADAL" clId="{89080D65-38AE-4B63-ACC6-A8CC8317EE11}" dt="2025-04-23T12:17:05.740" v="30" actId="1076"/>
        <pc:sldMkLst>
          <pc:docMk/>
          <pc:sldMk cId="3090248782" sldId="2141411889"/>
        </pc:sldMkLst>
        <pc:picChg chg="add mod">
          <ac:chgData name="Kajal Rajusth" userId="11b61780-b247-4085-a29c-8a573c97e7f5" providerId="ADAL" clId="{89080D65-38AE-4B63-ACC6-A8CC8317EE11}" dt="2025-04-23T12:17:05.740" v="30" actId="1076"/>
          <ac:picMkLst>
            <pc:docMk/>
            <pc:sldMk cId="3090248782" sldId="2141411889"/>
            <ac:picMk id="10" creationId="{8E0D406B-D48D-D6AB-9494-B050EBEDD1FB}"/>
          </ac:picMkLst>
        </pc:picChg>
        <pc:picChg chg="del">
          <ac:chgData name="Kajal Rajusth" userId="11b61780-b247-4085-a29c-8a573c97e7f5" providerId="ADAL" clId="{89080D65-38AE-4B63-ACC6-A8CC8317EE11}" dt="2025-04-23T12:16:55.620" v="28" actId="478"/>
          <ac:picMkLst>
            <pc:docMk/>
            <pc:sldMk cId="3090248782" sldId="2141411889"/>
            <ac:picMk id="73" creationId="{7FA89437-3688-7A9A-1F7D-F87BECC26257}"/>
          </ac:picMkLst>
        </pc:picChg>
      </pc:sldChg>
      <pc:sldChg chg="modSp mod">
        <pc:chgData name="Kajal Rajusth" userId="11b61780-b247-4085-a29c-8a573c97e7f5" providerId="ADAL" clId="{89080D65-38AE-4B63-ACC6-A8CC8317EE11}" dt="2025-04-23T11:24:33.678" v="27" actId="20577"/>
        <pc:sldMkLst>
          <pc:docMk/>
          <pc:sldMk cId="1495240883" sldId="2141411892"/>
        </pc:sldMkLst>
        <pc:spChg chg="mod">
          <ac:chgData name="Kajal Rajusth" userId="11b61780-b247-4085-a29c-8a573c97e7f5" providerId="ADAL" clId="{89080D65-38AE-4B63-ACC6-A8CC8317EE11}" dt="2025-04-23T11:24:33.678" v="27" actId="20577"/>
          <ac:spMkLst>
            <pc:docMk/>
            <pc:sldMk cId="1495240883" sldId="2141411892"/>
            <ac:spMk id="31" creationId="{6F23265C-C94D-1B8C-8B58-522962896158}"/>
          </ac:spMkLst>
        </pc:spChg>
      </pc:sldChg>
    </pc:docChg>
  </pc:docChgLst>
  <pc:docChgLst>
    <pc:chgData name="Kajal Rajusth" userId="11b61780-b247-4085-a29c-8a573c97e7f5" providerId="ADAL" clId="{1B17BDC0-7E97-4C1E-99EA-4D26E4DF89DD}"/>
    <pc:docChg chg="undo custSel delSld modSld">
      <pc:chgData name="Kajal Rajusth" userId="11b61780-b247-4085-a29c-8a573c97e7f5" providerId="ADAL" clId="{1B17BDC0-7E97-4C1E-99EA-4D26E4DF89DD}" dt="2025-03-24T09:19:02.599" v="393" actId="1038"/>
      <pc:docMkLst>
        <pc:docMk/>
      </pc:docMkLst>
      <pc:sldChg chg="addSp delSp modSp mod">
        <pc:chgData name="Kajal Rajusth" userId="11b61780-b247-4085-a29c-8a573c97e7f5" providerId="ADAL" clId="{1B17BDC0-7E97-4C1E-99EA-4D26E4DF89DD}" dt="2025-03-24T09:19:02.599" v="393" actId="1038"/>
        <pc:sldMkLst>
          <pc:docMk/>
          <pc:sldMk cId="88661140" sldId="4122"/>
        </pc:sldMkLst>
        <pc:spChg chg="mod">
          <ac:chgData name="Kajal Rajusth" userId="11b61780-b247-4085-a29c-8a573c97e7f5" providerId="ADAL" clId="{1B17BDC0-7E97-4C1E-99EA-4D26E4DF89DD}" dt="2025-03-24T08:27:20.279" v="223" actId="1076"/>
          <ac:spMkLst>
            <pc:docMk/>
            <pc:sldMk cId="88661140" sldId="4122"/>
            <ac:spMk id="7" creationId="{F1107ECC-23EB-E50C-FA8E-08D9314E9B64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1" creationId="{EADF41F0-1855-07DB-EE0C-28AF0227FCC0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2" creationId="{36FFFD5C-9F00-E757-66BC-327DB8120DA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3" creationId="{B1EDB9DE-CC5E-8C8C-33BD-8C2DCBD6931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4" creationId="{D257025D-DDF0-B001-E94C-60FE04248357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5" creationId="{2CF3EE3D-7B64-C6FD-6FCC-7F70F166FCE5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6" creationId="{773B9C7F-CE4D-91FC-574C-1FBAFFD3BF39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7" creationId="{8BD0FF9B-FF90-2645-5C05-BD9D0EC619BF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8" creationId="{C44B34DE-A5F8-9A73-81F1-4CF658D412BB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19" creationId="{B1FB2505-2348-A401-4A94-6AA2B1E78A08}"/>
          </ac:spMkLst>
        </pc:spChg>
        <pc:spChg chg="mod">
          <ac:chgData name="Kajal Rajusth" userId="11b61780-b247-4085-a29c-8a573c97e7f5" providerId="ADAL" clId="{1B17BDC0-7E97-4C1E-99EA-4D26E4DF89DD}" dt="2025-03-24T09:18:54.770" v="388" actId="1037"/>
          <ac:spMkLst>
            <pc:docMk/>
            <pc:sldMk cId="88661140" sldId="4122"/>
            <ac:spMk id="20" creationId="{5EA00958-51F9-F2E8-436D-239DA0AB321A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4" creationId="{58B3CB65-D36C-6B55-7A81-1369C533D059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26" creationId="{283DDA0C-D7C1-A770-11ED-F18BB8878DB1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29" creationId="{5B9F3B89-C499-C2BA-9E54-B0A0BEC72002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24" creationId="{8AA0CC0B-7A78-B04F-3DDB-DB6BA6DE41A1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2" creationId="{6F7A6A5A-2BF0-D950-1345-AAA6468C1B4B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4" creationId="{36EB0E0C-95AF-B3E3-A282-F17C7CC722AC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35" creationId="{8586F6A1-E421-26C4-6300-F86152957DF5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1" creationId="{0B3EF589-6EDF-943C-240B-1E9BC3855475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2" creationId="{38440AB3-5295-46E0-BAA8-48A4F03C9B98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5" creationId="{700C45A0-DF84-6A67-749F-F63B01EB56B7}"/>
          </ac:spMkLst>
        </pc:spChg>
        <pc:spChg chg="add 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46" creationId="{A23A09E2-A0BA-DD4A-74EF-0856C0720195}"/>
          </ac:spMkLst>
        </pc:spChg>
        <pc:spChg chg="mod">
          <ac:chgData name="Kajal Rajusth" userId="11b61780-b247-4085-a29c-8a573c97e7f5" providerId="ADAL" clId="{1B17BDC0-7E97-4C1E-99EA-4D26E4DF89DD}" dt="2025-03-24T09:17:18.997" v="349" actId="1038"/>
          <ac:spMkLst>
            <pc:docMk/>
            <pc:sldMk cId="88661140" sldId="4122"/>
            <ac:spMk id="1049" creationId="{9E639FE1-F925-94BE-FD55-9A862CE5FC9D}"/>
          </ac:spMkLst>
        </pc:spChg>
        <pc:spChg chg="mod">
          <ac:chgData name="Kajal Rajusth" userId="11b61780-b247-4085-a29c-8a573c97e7f5" providerId="ADAL" clId="{1B17BDC0-7E97-4C1E-99EA-4D26E4DF89DD}" dt="2025-03-24T09:19:02.599" v="393" actId="1038"/>
          <ac:spMkLst>
            <pc:docMk/>
            <pc:sldMk cId="88661140" sldId="4122"/>
            <ac:spMk id="1053" creationId="{64802AF2-8754-97F8-7ED7-AFBB190BF049}"/>
          </ac:spMkLst>
        </pc:spChg>
        <pc:grpChg chg="mod">
          <ac:chgData name="Kajal Rajusth" userId="11b61780-b247-4085-a29c-8a573c97e7f5" providerId="ADAL" clId="{1B17BDC0-7E97-4C1E-99EA-4D26E4DF89DD}" dt="2025-03-24T08:17:26.337" v="46" actId="1076"/>
          <ac:grpSpMkLst>
            <pc:docMk/>
            <pc:sldMk cId="88661140" sldId="4122"/>
            <ac:grpSpMk id="27" creationId="{B5D938CD-655D-5554-7A42-AF2102D263D0}"/>
          </ac:grpSpMkLst>
        </pc:grpChg>
        <pc:grpChg chg="add mod">
          <ac:chgData name="Kajal Rajusth" userId="11b61780-b247-4085-a29c-8a573c97e7f5" providerId="ADAL" clId="{1B17BDC0-7E97-4C1E-99EA-4D26E4DF89DD}" dt="2025-03-24T08:18:04.421" v="93" actId="1036"/>
          <ac:grpSpMkLst>
            <pc:docMk/>
            <pc:sldMk cId="88661140" sldId="4122"/>
            <ac:grpSpMk id="30" creationId="{9C11C3A6-7A71-33BE-74EC-36E6D0731A61}"/>
          </ac:grpSpMkLst>
        </pc:grpChg>
        <pc:grpChg chg="add mod">
          <ac:chgData name="Kajal Rajusth" userId="11b61780-b247-4085-a29c-8a573c97e7f5" providerId="ADAL" clId="{1B17BDC0-7E97-4C1E-99EA-4D26E4DF89DD}" dt="2025-03-24T08:18:40.122" v="135" actId="1037"/>
          <ac:grpSpMkLst>
            <pc:docMk/>
            <pc:sldMk cId="88661140" sldId="4122"/>
            <ac:grpSpMk id="31" creationId="{A8CBA491-E52D-E2B1-57EA-4744A7040EA4}"/>
          </ac:grpSpMkLst>
        </pc:grpChg>
        <pc:grpChg chg="add mod">
          <ac:chgData name="Kajal Rajusth" userId="11b61780-b247-4085-a29c-8a573c97e7f5" providerId="ADAL" clId="{1B17BDC0-7E97-4C1E-99EA-4D26E4DF89DD}" dt="2025-03-24T08:19:54.956" v="188" actId="1076"/>
          <ac:grpSpMkLst>
            <pc:docMk/>
            <pc:sldMk cId="88661140" sldId="4122"/>
            <ac:grpSpMk id="1025" creationId="{1E3B6060-415B-C468-61A8-CFE9659963D0}"/>
          </ac:grpSpMkLst>
        </pc:grpChg>
        <pc:grpChg chg="add mod">
          <ac:chgData name="Kajal Rajusth" userId="11b61780-b247-4085-a29c-8a573c97e7f5" providerId="ADAL" clId="{1B17BDC0-7E97-4C1E-99EA-4D26E4DF89DD}" dt="2025-03-24T08:20:16.318" v="193" actId="1076"/>
          <ac:grpSpMkLst>
            <pc:docMk/>
            <pc:sldMk cId="88661140" sldId="4122"/>
            <ac:grpSpMk id="1029" creationId="{7A3B2986-8656-F7C1-F177-4BB27CEC5EEF}"/>
          </ac:grpSpMkLst>
        </pc:grpChg>
        <pc:grpChg chg="add mod">
          <ac:chgData name="Kajal Rajusth" userId="11b61780-b247-4085-a29c-8a573c97e7f5" providerId="ADAL" clId="{1B17BDC0-7E97-4C1E-99EA-4D26E4DF89DD}" dt="2025-03-24T08:21:08.768" v="205" actId="1076"/>
          <ac:grpSpMkLst>
            <pc:docMk/>
            <pc:sldMk cId="88661140" sldId="4122"/>
            <ac:grpSpMk id="1030" creationId="{E438E375-2149-0636-F2E1-1B7B0732EA89}"/>
          </ac:grpSpMkLst>
        </pc:grpChg>
        <pc:grpChg chg="add mod">
          <ac:chgData name="Kajal Rajusth" userId="11b61780-b247-4085-a29c-8a573c97e7f5" providerId="ADAL" clId="{1B17BDC0-7E97-4C1E-99EA-4D26E4DF89DD}" dt="2025-03-24T08:21:58.147" v="217" actId="1076"/>
          <ac:grpSpMkLst>
            <pc:docMk/>
            <pc:sldMk cId="88661140" sldId="4122"/>
            <ac:grpSpMk id="1031" creationId="{7A13E7EE-7B2C-5B18-9C51-EAD709E12FD6}"/>
          </ac:grpSpMkLst>
        </pc:grpChg>
        <pc:picChg chg="mod">
          <ac:chgData name="Kajal Rajusth" userId="11b61780-b247-4085-a29c-8a573c97e7f5" providerId="ADAL" clId="{1B17BDC0-7E97-4C1E-99EA-4D26E4DF89DD}" dt="2025-03-24T08:17:26.337" v="46" actId="1076"/>
          <ac:picMkLst>
            <pc:docMk/>
            <pc:sldMk cId="88661140" sldId="4122"/>
            <ac:picMk id="1026" creationId="{47E29060-4744-40F2-5DBA-282D541C8D6D}"/>
          </ac:picMkLst>
        </pc:picChg>
        <pc:picChg chg="mod">
          <ac:chgData name="Kajal Rajusth" userId="11b61780-b247-4085-a29c-8a573c97e7f5" providerId="ADAL" clId="{1B17BDC0-7E97-4C1E-99EA-4D26E4DF89DD}" dt="2025-03-24T08:18:04.421" v="93" actId="1036"/>
          <ac:picMkLst>
            <pc:docMk/>
            <pc:sldMk cId="88661140" sldId="4122"/>
            <ac:picMk id="1028" creationId="{7D8B3203-C5FE-7198-37D2-08D643577F47}"/>
          </ac:picMkLst>
        </pc:picChg>
        <pc:picChg chg="mod">
          <ac:chgData name="Kajal Rajusth" userId="11b61780-b247-4085-a29c-8a573c97e7f5" providerId="ADAL" clId="{1B17BDC0-7E97-4C1E-99EA-4D26E4DF89DD}" dt="2025-03-24T08:18:40.122" v="135" actId="1037"/>
          <ac:picMkLst>
            <pc:docMk/>
            <pc:sldMk cId="88661140" sldId="4122"/>
            <ac:picMk id="1036" creationId="{933554A7-6629-EAE3-371A-6ECD9582B528}"/>
          </ac:picMkLst>
        </pc:picChg>
        <pc:picChg chg="mod">
          <ac:chgData name="Kajal Rajusth" userId="11b61780-b247-4085-a29c-8a573c97e7f5" providerId="ADAL" clId="{1B17BDC0-7E97-4C1E-99EA-4D26E4DF89DD}" dt="2025-03-24T08:19:07.220" v="179" actId="1035"/>
          <ac:picMkLst>
            <pc:docMk/>
            <pc:sldMk cId="88661140" sldId="4122"/>
            <ac:picMk id="1038" creationId="{C10A849C-4FD3-B3D8-6A54-A19FBEE0CF9D}"/>
          </ac:picMkLst>
        </pc:picChg>
        <pc:picChg chg="add mod">
          <ac:chgData name="Kajal Rajusth" userId="11b61780-b247-4085-a29c-8a573c97e7f5" providerId="ADAL" clId="{1B17BDC0-7E97-4C1E-99EA-4D26E4DF89DD}" dt="2025-03-24T08:26:39.520" v="221" actId="1076"/>
          <ac:picMkLst>
            <pc:docMk/>
            <pc:sldMk cId="88661140" sldId="4122"/>
            <ac:picMk id="1039" creationId="{4D137CEE-2D9C-E15D-6CF2-A3F280805CC7}"/>
          </ac:picMkLst>
        </pc:picChg>
        <pc:picChg chg="mod">
          <ac:chgData name="Kajal Rajusth" userId="11b61780-b247-4085-a29c-8a573c97e7f5" providerId="ADAL" clId="{1B17BDC0-7E97-4C1E-99EA-4D26E4DF89DD}" dt="2025-03-24T08:19:54.956" v="188" actId="1076"/>
          <ac:picMkLst>
            <pc:docMk/>
            <pc:sldMk cId="88661140" sldId="4122"/>
            <ac:picMk id="1040" creationId="{CC52CBF2-02C8-E105-654E-14E985446DD1}"/>
          </ac:picMkLst>
        </pc:picChg>
        <pc:picChg chg="mod">
          <ac:chgData name="Kajal Rajusth" userId="11b61780-b247-4085-a29c-8a573c97e7f5" providerId="ADAL" clId="{1B17BDC0-7E97-4C1E-99EA-4D26E4DF89DD}" dt="2025-03-24T08:20:16.318" v="193" actId="1076"/>
          <ac:picMkLst>
            <pc:docMk/>
            <pc:sldMk cId="88661140" sldId="4122"/>
            <ac:picMk id="1043" creationId="{B27029C0-84FE-CDAC-0F61-0047AC6A31BF}"/>
          </ac:picMkLst>
        </pc:picChg>
        <pc:picChg chg="add mod">
          <ac:chgData name="Kajal Rajusth" userId="11b61780-b247-4085-a29c-8a573c97e7f5" providerId="ADAL" clId="{1B17BDC0-7E97-4C1E-99EA-4D26E4DF89DD}" dt="2025-03-24T08:28:36.827" v="291" actId="1036"/>
          <ac:picMkLst>
            <pc:docMk/>
            <pc:sldMk cId="88661140" sldId="4122"/>
            <ac:picMk id="1044" creationId="{BF9DA1A2-4ED2-9FE0-1B80-EFE3866C9155}"/>
          </ac:picMkLst>
        </pc:picChg>
        <pc:picChg chg="mod">
          <ac:chgData name="Kajal Rajusth" userId="11b61780-b247-4085-a29c-8a573c97e7f5" providerId="ADAL" clId="{1B17BDC0-7E97-4C1E-99EA-4D26E4DF89DD}" dt="2025-03-24T08:20:40.446" v="198" actId="1076"/>
          <ac:picMkLst>
            <pc:docMk/>
            <pc:sldMk cId="88661140" sldId="4122"/>
            <ac:picMk id="1047" creationId="{DA26F9AD-87D1-7FB8-2CDB-8AE9C8E453E6}"/>
          </ac:picMkLst>
        </pc:picChg>
        <pc:picChg chg="add mod">
          <ac:chgData name="Kajal Rajusth" userId="11b61780-b247-4085-a29c-8a573c97e7f5" providerId="ADAL" clId="{1B17BDC0-7E97-4C1E-99EA-4D26E4DF89DD}" dt="2025-03-24T09:18:16.794" v="357" actId="1076"/>
          <ac:picMkLst>
            <pc:docMk/>
            <pc:sldMk cId="88661140" sldId="4122"/>
            <ac:picMk id="1050" creationId="{44D78C1B-2F56-9C99-C86C-ACA0FE3AAB7D}"/>
          </ac:picMkLst>
        </pc:picChg>
        <pc:picChg chg="mod">
          <ac:chgData name="Kajal Rajusth" userId="11b61780-b247-4085-a29c-8a573c97e7f5" providerId="ADAL" clId="{1B17BDC0-7E97-4C1E-99EA-4D26E4DF89DD}" dt="2025-03-24T08:21:08.768" v="205" actId="1076"/>
          <ac:picMkLst>
            <pc:docMk/>
            <pc:sldMk cId="88661140" sldId="4122"/>
            <ac:picMk id="1051" creationId="{168BA73B-A110-5843-6C00-4A232F4005BE}"/>
          </ac:picMkLst>
        </pc:picChg>
        <pc:picChg chg="mod">
          <ac:chgData name="Kajal Rajusth" userId="11b61780-b247-4085-a29c-8a573c97e7f5" providerId="ADAL" clId="{1B17BDC0-7E97-4C1E-99EA-4D26E4DF89DD}" dt="2025-03-24T08:21:58.147" v="217" actId="1076"/>
          <ac:picMkLst>
            <pc:docMk/>
            <pc:sldMk cId="88661140" sldId="4122"/>
            <ac:picMk id="1055" creationId="{94C5A28A-F6E1-52B8-D16F-D9811F573521}"/>
          </ac:picMkLst>
        </pc:picChg>
      </pc:sldChg>
      <pc:sldChg chg="modSp mod">
        <pc:chgData name="Kajal Rajusth" userId="11b61780-b247-4085-a29c-8a573c97e7f5" providerId="ADAL" clId="{1B17BDC0-7E97-4C1E-99EA-4D26E4DF89DD}" dt="2025-03-24T09:16:54.828" v="318" actId="20577"/>
        <pc:sldMkLst>
          <pc:docMk/>
          <pc:sldMk cId="3443425539" sldId="4144"/>
        </pc:sldMkLst>
        <pc:spChg chg="mod">
          <ac:chgData name="Kajal Rajusth" userId="11b61780-b247-4085-a29c-8a573c97e7f5" providerId="ADAL" clId="{1B17BDC0-7E97-4C1E-99EA-4D26E4DF89DD}" dt="2025-03-24T09:16:54.828" v="318" actId="20577"/>
          <ac:spMkLst>
            <pc:docMk/>
            <pc:sldMk cId="3443425539" sldId="4144"/>
            <ac:spMk id="27" creationId="{0EE1EB32-40BE-1C75-89D0-EB065F0E3F9E}"/>
          </ac:spMkLst>
        </pc:spChg>
      </pc:sldChg>
      <pc:sldChg chg="del">
        <pc:chgData name="Kajal Rajusth" userId="11b61780-b247-4085-a29c-8a573c97e7f5" providerId="ADAL" clId="{1B17BDC0-7E97-4C1E-99EA-4D26E4DF89DD}" dt="2025-03-23T08:13:01.853" v="0" actId="47"/>
        <pc:sldMkLst>
          <pc:docMk/>
          <pc:sldMk cId="290205388" sldId="4148"/>
        </pc:sldMkLst>
      </pc:sldChg>
      <pc:sldChg chg="modSp mod">
        <pc:chgData name="Kajal Rajusth" userId="11b61780-b247-4085-a29c-8a573c97e7f5" providerId="ADAL" clId="{1B17BDC0-7E97-4C1E-99EA-4D26E4DF89DD}" dt="2025-03-24T08:30:18.410" v="311" actId="113"/>
        <pc:sldMkLst>
          <pc:docMk/>
          <pc:sldMk cId="1098912445" sldId="2141411886"/>
        </pc:sldMkLst>
        <pc:spChg chg="mod">
          <ac:chgData name="Kajal Rajusth" userId="11b61780-b247-4085-a29c-8a573c97e7f5" providerId="ADAL" clId="{1B17BDC0-7E97-4C1E-99EA-4D26E4DF89DD}" dt="2025-03-24T08:30:18.410" v="311" actId="113"/>
          <ac:spMkLst>
            <pc:docMk/>
            <pc:sldMk cId="1098912445" sldId="2141411886"/>
            <ac:spMk id="57" creationId="{0EE1391C-2510-EFB2-82A5-5FC567D45BAC}"/>
          </ac:spMkLst>
        </pc:spChg>
      </pc:sldChg>
      <pc:sldChg chg="modSp mod">
        <pc:chgData name="Kajal Rajusth" userId="11b61780-b247-4085-a29c-8a573c97e7f5" providerId="ADAL" clId="{1B17BDC0-7E97-4C1E-99EA-4D26E4DF89DD}" dt="2025-03-24T08:30:10.840" v="310" actId="113"/>
        <pc:sldMkLst>
          <pc:docMk/>
          <pc:sldMk cId="2031562703" sldId="2141411887"/>
        </pc:sldMkLst>
        <pc:spChg chg="mod">
          <ac:chgData name="Kajal Rajusth" userId="11b61780-b247-4085-a29c-8a573c97e7f5" providerId="ADAL" clId="{1B17BDC0-7E97-4C1E-99EA-4D26E4DF89DD}" dt="2025-03-24T08:30:10.840" v="310" actId="113"/>
          <ac:spMkLst>
            <pc:docMk/>
            <pc:sldMk cId="2031562703" sldId="2141411887"/>
            <ac:spMk id="57" creationId="{C7E19B17-52EB-4AAB-36AB-BB9305A2CC03}"/>
          </ac:spMkLst>
        </pc:spChg>
      </pc:sldChg>
      <pc:sldChg chg="modSp mod">
        <pc:chgData name="Kajal Rajusth" userId="11b61780-b247-4085-a29c-8a573c97e7f5" providerId="ADAL" clId="{1B17BDC0-7E97-4C1E-99EA-4D26E4DF89DD}" dt="2025-03-24T09:16:07.529" v="317" actId="20577"/>
        <pc:sldMkLst>
          <pc:docMk/>
          <pc:sldMk cId="4089024588" sldId="2141411891"/>
        </pc:sldMkLst>
        <pc:graphicFrameChg chg="mod modGraphic">
          <ac:chgData name="Kajal Rajusth" userId="11b61780-b247-4085-a29c-8a573c97e7f5" providerId="ADAL" clId="{1B17BDC0-7E97-4C1E-99EA-4D26E4DF89DD}" dt="2025-03-24T09:16:07.529" v="317" actId="20577"/>
          <ac:graphicFrameMkLst>
            <pc:docMk/>
            <pc:sldMk cId="4089024588" sldId="2141411891"/>
            <ac:graphicFrameMk id="2" creationId="{C1CC76E0-3C5A-4696-E78B-5CB0EEEF3441}"/>
          </ac:graphicFrameMkLst>
        </pc:graphicFrameChg>
      </pc:sldChg>
    </pc:docChg>
  </pc:docChgLst>
</pc:chgInfo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Ready7 score (%)</c:v>
                </c:pt>
              </c:strCache>
            </c:strRef>
          </c:tx>
          <c:dPt>
            <c:idx val="0"/>
            <c:spPr>
              <a:solidFill>
                <a:srgbClr val="E8705F"/>
              </a:solidFill>
            </c:spPr>
          </c:dPt>
          <c:dPt>
            <c:idx val="1"/>
            <c:spPr>
              <a:solidFill>
                <a:srgbClr val="4F2D7F"/>
              </a:solidFill>
            </c:spPr>
          </c:dPt>
          <c:dPt>
            <c:idx val="2"/>
            <c:spPr>
              <a:solidFill>
                <a:srgbClr val="4F2D7F"/>
              </a:solidFill>
            </c:spPr>
          </c:dPt>
          <c:dPt>
            <c:idx val="3"/>
            <c:spPr>
              <a:solidFill>
                <a:srgbClr val="E8705F"/>
              </a:solidFill>
            </c:spPr>
          </c:dPt>
          <c:dPt>
            <c:idx val="4"/>
            <c:spPr>
              <a:solidFill>
                <a:srgbClr val="4F2D7F"/>
              </a:solidFill>
            </c:spPr>
          </c:dPt>
          <c:dPt>
            <c:idx val="5"/>
            <c:spPr>
              <a:solidFill>
                <a:srgbClr val="E8705F"/>
              </a:solidFill>
            </c:spPr>
          </c:dPt>
          <c:dPt>
            <c:idx val="6"/>
            <c:spPr>
              <a:solidFill>
                <a:srgbClr val="4F2D7F"/>
              </a:solidFill>
            </c:spPr>
          </c:dPt>
          <c:cat>
            <c:strRef>
              <c:f>Sheet1!$A$2:$A$8</c:f>
              <c:strCache>
                <c:ptCount val="7"/>
                <c:pt idx="0">
                  <c:v>Business Alignment</c:v>
                </c:pt>
                <c:pt idx="1">
                  <c:v>Governance &amp; Ethics</c:v>
                </c:pt>
                <c:pt idx="2">
                  <c:v>Training &amp; Development</c:v>
                </c:pt>
                <c:pt idx="3">
                  <c:v>Architecture &amp; Technology</c:v>
                </c:pt>
                <c:pt idx="4">
                  <c:v>Data &amp; Quality</c:v>
                </c:pt>
                <c:pt idx="5">
                  <c:v>Protect AI Systems</c:v>
                </c:pt>
                <c:pt idx="6">
                  <c:v>Protection from AI Threats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50.0</c:v>
                </c:pt>
                <c:pt idx="1">
                  <c:v>60.0</c:v>
                </c:pt>
                <c:pt idx="2">
                  <c:v>68.75</c:v>
                </c:pt>
                <c:pt idx="3">
                  <c:v>55.0</c:v>
                </c:pt>
                <c:pt idx="4">
                  <c:v>70.0</c:v>
                </c:pt>
                <c:pt idx="5">
                  <c:v>55.0</c:v>
                </c:pt>
                <c:pt idx="6">
                  <c:v>70.0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27188-497D-437C-932E-97F69D192DB6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12745-5D95-43BD-9877-2FE92F47C9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0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56B9-845E-7A88-025F-099F0F241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7BDE4A-D3E0-AF93-7B25-03B99FB98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7C77-850E-38E8-B4CD-4FC7EA46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90982C-235D-4EA5-AE87-046AD1389D6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0235-3575-171E-2702-5D15CD30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198521-E121-B0F1-93F1-14C19F39B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8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26F6-5E6E-F089-9193-30519EB6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0760-89A9-632F-3968-AAD5A659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B41C8-BD3D-5396-C710-8B38AF93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64D280C-0766-4ED7-ACE2-68754F86569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2037-7D84-F129-7C2B-E7B61376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1EF8F31-F72F-1182-DF7A-00777D8D1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2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BBB6-295B-DAC7-A751-BC4EFECF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D4D88-E361-3C60-3077-AB4FD5CD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A7F5-B263-A2FA-C3BD-5BE9432B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F550B-A169-4646-918F-D607F3F514C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BF64B-EF46-3E7A-CB8F-38568DA9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FFD448-3CB0-FE0D-2049-8D5A1A88C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0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B62F-B3E2-68C2-5A99-E3A69DBF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89FCD-3F44-66E5-9090-0E4E1E80B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CBC2-7997-4324-1CBB-F109ADF7B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16F64-F80B-8607-E5C1-0B68E982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2B2C64-D2E4-4E27-A52B-90AF564ADE2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B5CC3-4BE3-BE63-9E5E-13F7570F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C6004E2-6BFA-034C-AA70-62B9AB175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3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C9BD-212D-9339-CBEC-8BC5009A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6D4C8-9063-A98E-E5E2-B0EA850E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67C35-8F1A-1F8E-5207-22D1BFEB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6D12-9909-4736-C00B-7E6D45A8A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4E93D-3FF5-A8BF-A9BE-A1C13E217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32733-1BD6-4877-C948-C6E01256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B8A8DD-7E6A-40F7-B3CB-4EBF63BE0D4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FA493-C18B-C3C1-E68D-D4D45BBA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B654420-AEA7-26E3-954E-181775967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8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3723-0002-C813-E2AA-A0633DAA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76802-633C-FDDA-A963-3AB8E566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0545BA-EEDC-4AA2-85CB-EB1286D9B94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4DB26-5E30-FA20-CBF3-3244647E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B25A-3BBD-7BE7-0A77-6E8EBDC49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95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152692-A395-BC7D-B93B-96633C3F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1F3096-14CE-4C84-89F5-3D1CA827AEB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715173-A594-8045-EFCB-8FAC2439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BE67BD-C9BB-C2B6-FF94-3ADDE0772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87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1C8-896E-8C59-9785-AD1277D3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010C-E6BA-D1AD-9254-F990E0E53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ED7E5-A0ED-BF67-3151-2BBDD7ACF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C7B6-53D6-5AA2-AD1D-30F678B0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32F23E-0B7F-49FD-B87D-F370D274B5C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DBD6E-3F23-3647-7A59-5CE2856B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11A306-656A-CFD4-E4D4-FD1113609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84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8233-87FC-C91E-27A1-DAC98FBB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724AF-1231-0CFE-FE3E-BFFDEC4EB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BE4D8-2FFA-9F21-62EE-13F7F2E32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9268E-96FA-5219-685C-FEC9A261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406B6A-3845-4565-8CC4-83F0376DA02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B52A5-F654-7120-FA7A-F6745D68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1EB0B4-7495-4D36-D038-794B1E7B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5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5403-38D1-CB03-7E0B-F67772D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CDEDF-46D6-A007-C5CB-A14FF9BA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1C71C-9AA6-C906-7E24-D3EDE847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317163-C962-4378-979E-DB1DC2C1AE0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BAA6-672F-8D83-68C4-F3DB3550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CDCCBD-E791-3BF6-1093-9E9F90548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9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C0A4-80FF-3293-9EDC-35501F67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648302-3C0F-4F9A-9214-5A7BE85B0C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1202-5136-03B2-07B7-E86FF19CB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35BC4-786C-C819-15A3-854C9FE1F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470A-302E-0840-F398-98754880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260661C-3181-4DEF-9C51-29D6300198A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D245-0A0B-F489-505C-40E46B74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110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A9F22-5312-CC44-3455-12CC5D605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998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48302-3C0F-4F9A-9214-5A7BE85B0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40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4072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1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518865" y="1238584"/>
            <a:ext cx="5722000" cy="39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518833" y="5131817"/>
            <a:ext cx="57220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1FB7996-49B2-A4E7-8E11-2A7BE5A5F1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A9F26E-0017-E26C-95DA-5533BA5C1429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FE8B507-B8E2-99F2-24F7-8AA03B379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5D4866-3EE4-287F-F272-4DB3A4C25C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36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7445513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6772400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2478180" y="3872667"/>
            <a:ext cx="2268400" cy="5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67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805067" y="4306033"/>
            <a:ext cx="3614800" cy="9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67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AE6FADCA-D9FD-1646-C0CC-303C063433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4E6CCE-C446-16CB-97E2-462D19F6B34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10786B5-453C-0FA5-9677-05356E193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E5D839D-F77C-FD04-7BB7-9F6B85F599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59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601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6F913C3-CE7A-96FE-33B5-49AAF4E516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D130C8-59D4-EED9-3F3D-74B1A2680D0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3384B5D-4F7B-C868-E9EF-EC3D41C2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DFD696D-90DC-3AD4-3871-5C55A8E38F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68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316217" y="1912800"/>
            <a:ext cx="44904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867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3733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706971" y="1912800"/>
            <a:ext cx="2622800" cy="30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37131775-8EBA-B69D-2AC2-7A0FB0B4C6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A5E143-1213-F6F3-AB15-5A1DD234F095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1DEFA47-FCC1-AA07-3926-5BAE17654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C1500E7-41E8-9423-05EA-8A045A201D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36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229667" y="1891600"/>
            <a:ext cx="5732800" cy="30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A1BDA0B-1D2E-3DF0-896F-610756DA93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7234D-A54D-317C-8581-CA65F6C6C50A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3F04E4-944C-6F3A-8E99-256F673F6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017CAAB-B847-776D-A5C2-E2F6D162BA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4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97100" y="1295800"/>
            <a:ext cx="5050400" cy="42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6399933" y="2605600"/>
            <a:ext cx="25868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6465560" y="1334833"/>
            <a:ext cx="2702400" cy="24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8EA74F6-B83C-D311-BCE3-750BB2687C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207A-7B5F-1BFA-7821-B8F9EA07F77F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DC3DAA7-247C-6FFA-4BA7-0AB364E8A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F5A25B0-0C48-9CC9-7442-33F0E2DAD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741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1997" cy="685442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960133" y="2275800"/>
            <a:ext cx="3679600" cy="23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AA1B853-BC18-5FDD-202D-D287DE41E8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E02174-71A2-CA36-E193-A7C2FDD1EF2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7C863A7-7109-0586-0D52-E92192D5F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570CC8C-E128-BABA-749A-C448344BAD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24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867C89C1-24CE-A0AD-46DE-4E2BF16A76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tx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FBC81E-90AC-7BFA-751D-FFA60FB2EB4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35B8C41-4330-F0BB-F15B-ED7E55B48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FF20C79-5DD5-86A4-8F75-EB3F7F1291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29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95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2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2096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013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507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260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09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9238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84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309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5737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2.xml"/><Relationship Id="rId10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45590-711B-5322-A074-ECC2635DD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4107C-3C70-B4C9-9FB4-B203AF11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611AC22-8682-185B-E81E-3998E43C5A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FFFAFE-857A-C1D6-F091-5383AB21C99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A9FA7B8-5519-3C4F-1621-808E4A61E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926F69-F90C-748E-F591-DB24EE0832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111023" y="6530231"/>
            <a:ext cx="668633" cy="1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7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9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96E5D4B2-0499-F419-3205-0C0C06078C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</a:rPr>
              <a:t>© 2026 Grant Thornton Bahrain. All rights reserved</a:t>
            </a:r>
            <a:endParaRPr lang="en-GB" altLang="en-US" sz="80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8EC0-7D0B-15AE-45D3-35E8FF6969DC}"/>
              </a:ext>
            </a:extLst>
          </p:cNvPr>
          <p:cNvCxnSpPr/>
          <p:nvPr userDrawn="1"/>
        </p:nvCxnSpPr>
        <p:spPr>
          <a:xfrm>
            <a:off x="8296275" y="6465888"/>
            <a:ext cx="3502025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3D58C54-BD57-2D29-6112-314BCAEB2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6275" y="6491288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BA5884-F404-5E37-FB3A-17A5A2EBEE6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718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4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png"/><Relationship Id="rId3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3.png"/><Relationship Id="rId3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4.png"/><Relationship Id="rId3" Type="http://schemas.openxmlformats.org/officeDocument/2006/relationships/image" Target="../media/image2.png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069" name="Picture 2068" descr="A computer chip with lights&#10;&#10;Description automatically generated">
            <a:extLst>
              <a:ext uri="{FF2B5EF4-FFF2-40B4-BE49-F238E27FC236}">
                <a16:creationId xmlns:a16="http://schemas.microsoft.com/office/drawing/2014/main" id="{73D32A07-7D4C-B962-C8B4-54F17572F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3" t="9922" r="10349" b="10698"/>
          <a:stretch/>
        </p:blipFill>
        <p:spPr>
          <a:xfrm>
            <a:off x="-1" y="0"/>
            <a:ext cx="12202417" cy="6858000"/>
          </a:xfrm>
          <a:prstGeom prst="rect">
            <a:avLst/>
          </a:prstGeom>
        </p:spPr>
      </p:pic>
      <p:sp>
        <p:nvSpPr>
          <p:cNvPr id="2070" name="Rectangle 2069">
            <a:extLst>
              <a:ext uri="{FF2B5EF4-FFF2-40B4-BE49-F238E27FC236}">
                <a16:creationId xmlns:a16="http://schemas.microsoft.com/office/drawing/2014/main" id="{816D609C-CB6E-8EC9-5E35-E854B7F01BF4}"/>
              </a:ext>
            </a:extLst>
          </p:cNvPr>
          <p:cNvSpPr/>
          <p:nvPr/>
        </p:nvSpPr>
        <p:spPr>
          <a:xfrm>
            <a:off x="0" y="0"/>
            <a:ext cx="12202417" cy="6858000"/>
          </a:xfrm>
          <a:prstGeom prst="rect">
            <a:avLst/>
          </a:prstGeom>
          <a:solidFill>
            <a:srgbClr val="4F2D7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DE1AF3C9-24AC-CDC7-AA18-4157E2EE443E}"/>
              </a:ext>
            </a:extLst>
          </p:cNvPr>
          <p:cNvGrpSpPr/>
          <p:nvPr/>
        </p:nvGrpSpPr>
        <p:grpSpPr>
          <a:xfrm>
            <a:off x="413591" y="1222666"/>
            <a:ext cx="4542222" cy="3707589"/>
            <a:chOff x="572837" y="1447134"/>
            <a:chExt cx="4542222" cy="3707589"/>
          </a:xfrm>
          <a:solidFill>
            <a:srgbClr val="4F2D7F">
              <a:alpha val="81176"/>
            </a:srgbClr>
          </a:solidFill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1FDBC604-962A-DB8C-83E7-13242E4B72FC}"/>
                </a:ext>
              </a:extLst>
            </p:cNvPr>
            <p:cNvSpPr/>
            <p:nvPr/>
          </p:nvSpPr>
          <p:spPr>
            <a:xfrm>
              <a:off x="572837" y="1447134"/>
              <a:ext cx="4542222" cy="3707589"/>
            </a:xfrm>
            <a:custGeom>
              <a:avLst/>
              <a:gdLst/>
              <a:ahLst/>
              <a:cxnLst/>
              <a:rect l="l" t="t" r="r" b="b"/>
              <a:pathLst>
                <a:path w="16256000" h="13268961">
                  <a:moveTo>
                    <a:pt x="873506" y="0"/>
                  </a:moveTo>
                  <a:cubicBezTo>
                    <a:pt x="391033" y="635"/>
                    <a:pt x="0" y="364490"/>
                    <a:pt x="0" y="812927"/>
                  </a:cubicBezTo>
                  <a:lnTo>
                    <a:pt x="0" y="12451461"/>
                  </a:lnTo>
                  <a:cubicBezTo>
                    <a:pt x="0" y="12900533"/>
                    <a:pt x="391668" y="13264387"/>
                    <a:pt x="874776" y="13264387"/>
                  </a:cubicBezTo>
                  <a:lnTo>
                    <a:pt x="11544554" y="13268961"/>
                  </a:lnTo>
                  <a:lnTo>
                    <a:pt x="11544554" y="13260705"/>
                  </a:lnTo>
                  <a:lnTo>
                    <a:pt x="11634089" y="13264387"/>
                  </a:lnTo>
                  <a:cubicBezTo>
                    <a:pt x="14027150" y="13264387"/>
                    <a:pt x="15995396" y="11723751"/>
                    <a:pt x="16232124" y="9749409"/>
                  </a:cubicBezTo>
                  <a:lnTo>
                    <a:pt x="16248887" y="9468866"/>
                  </a:lnTo>
                  <a:lnTo>
                    <a:pt x="16256000" y="813054"/>
                  </a:lnTo>
                  <a:cubicBezTo>
                    <a:pt x="16256000" y="364490"/>
                    <a:pt x="15864967" y="635"/>
                    <a:pt x="15382494" y="0"/>
                  </a:cubicBezTo>
                  <a:close/>
                </a:path>
              </a:pathLst>
            </a:custGeom>
            <a:grpFill/>
            <a:ln w="12700">
              <a:noFill/>
            </a:ln>
          </p:spPr>
          <p:txBody>
            <a:bodyPr/>
            <a:lstStyle/>
            <a:p>
              <a:endParaRPr lang="en-US" sz="1828" dirty="0"/>
            </a:p>
          </p:txBody>
        </p:sp>
        <p:grpSp>
          <p:nvGrpSpPr>
            <p:cNvPr id="41" name="Group 17">
              <a:extLst>
                <a:ext uri="{FF2B5EF4-FFF2-40B4-BE49-F238E27FC236}">
                  <a16:creationId xmlns:a16="http://schemas.microsoft.com/office/drawing/2014/main" id="{918557DA-1B6C-504B-34FF-5FEB34EFC423}"/>
                </a:ext>
              </a:extLst>
            </p:cNvPr>
            <p:cNvGrpSpPr/>
            <p:nvPr/>
          </p:nvGrpSpPr>
          <p:grpSpPr>
            <a:xfrm>
              <a:off x="1630821" y="4171781"/>
              <a:ext cx="916104" cy="678800"/>
              <a:chOff x="0" y="0"/>
              <a:chExt cx="1202680" cy="891143"/>
            </a:xfrm>
            <a:grpFill/>
          </p:grpSpPr>
          <p:sp>
            <p:nvSpPr>
              <p:cNvPr id="42" name="Freeform 18">
                <a:extLst>
                  <a:ext uri="{FF2B5EF4-FFF2-40B4-BE49-F238E27FC236}">
                    <a16:creationId xmlns:a16="http://schemas.microsoft.com/office/drawing/2014/main" id="{E34E5AFC-4359-ECB4-99E3-C705004B28A7}"/>
                  </a:ext>
                </a:extLst>
              </p:cNvPr>
              <p:cNvSpPr/>
              <p:nvPr/>
            </p:nvSpPr>
            <p:spPr>
              <a:xfrm>
                <a:off x="312183" y="0"/>
                <a:ext cx="578313" cy="578313"/>
              </a:xfrm>
              <a:custGeom>
                <a:avLst/>
                <a:gdLst/>
                <a:ahLst/>
                <a:cxnLst/>
                <a:rect l="l" t="t" r="r" b="b"/>
                <a:pathLst>
                  <a:path w="578313" h="578313">
                    <a:moveTo>
                      <a:pt x="0" y="0"/>
                    </a:moveTo>
                    <a:lnTo>
                      <a:pt x="578314" y="0"/>
                    </a:lnTo>
                    <a:lnTo>
                      <a:pt x="578314" y="578313"/>
                    </a:lnTo>
                    <a:lnTo>
                      <a:pt x="0" y="57831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43" name="TextBox 19">
                <a:extLst>
                  <a:ext uri="{FF2B5EF4-FFF2-40B4-BE49-F238E27FC236}">
                    <a16:creationId xmlns:a16="http://schemas.microsoft.com/office/drawing/2014/main" id="{0143F694-D9B7-1696-3A82-00CE04B83808}"/>
                  </a:ext>
                </a:extLst>
              </p:cNvPr>
              <p:cNvSpPr txBox="1"/>
              <p:nvPr/>
            </p:nvSpPr>
            <p:spPr>
              <a:xfrm>
                <a:off x="0" y="628934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Collaborative</a:t>
                </a:r>
              </a:p>
            </p:txBody>
          </p:sp>
        </p:grpSp>
        <p:grpSp>
          <p:nvGrpSpPr>
            <p:cNvPr id="44" name="Group 20">
              <a:extLst>
                <a:ext uri="{FF2B5EF4-FFF2-40B4-BE49-F238E27FC236}">
                  <a16:creationId xmlns:a16="http://schemas.microsoft.com/office/drawing/2014/main" id="{FEDC9E50-2530-C25D-071D-4DCA5685716A}"/>
                </a:ext>
              </a:extLst>
            </p:cNvPr>
            <p:cNvGrpSpPr/>
            <p:nvPr/>
          </p:nvGrpSpPr>
          <p:grpSpPr>
            <a:xfrm>
              <a:off x="2591399" y="4176613"/>
              <a:ext cx="916104" cy="683562"/>
              <a:chOff x="17785" y="9225"/>
              <a:chExt cx="1202680" cy="897396"/>
            </a:xfrm>
            <a:grpFill/>
          </p:grpSpPr>
          <p:grpSp>
            <p:nvGrpSpPr>
              <p:cNvPr id="45" name="Group 21">
                <a:extLst>
                  <a:ext uri="{FF2B5EF4-FFF2-40B4-BE49-F238E27FC236}">
                    <a16:creationId xmlns:a16="http://schemas.microsoft.com/office/drawing/2014/main" id="{780494CB-0263-611D-BE38-71BECA51F6B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39323" y="9225"/>
                <a:ext cx="575358" cy="575340"/>
                <a:chOff x="63496" y="63496"/>
                <a:chExt cx="3960117" cy="3959990"/>
              </a:xfrm>
              <a:grpFill/>
            </p:grpSpPr>
            <p:sp>
              <p:nvSpPr>
                <p:cNvPr id="47" name="Freeform 22">
                  <a:extLst>
                    <a:ext uri="{FF2B5EF4-FFF2-40B4-BE49-F238E27FC236}">
                      <a16:creationId xmlns:a16="http://schemas.microsoft.com/office/drawing/2014/main" id="{3A95F4C9-50B9-26D0-078C-055A07467B17}"/>
                    </a:ext>
                  </a:extLst>
                </p:cNvPr>
                <p:cNvSpPr/>
                <p:nvPr/>
              </p:nvSpPr>
              <p:spPr>
                <a:xfrm>
                  <a:off x="63496" y="63496"/>
                  <a:ext cx="3960117" cy="3959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0114" h="3959987">
                      <a:moveTo>
                        <a:pt x="1980057" y="0"/>
                      </a:moveTo>
                      <a:cubicBezTo>
                        <a:pt x="886460" y="0"/>
                        <a:pt x="0" y="886460"/>
                        <a:pt x="0" y="1980057"/>
                      </a:cubicBezTo>
                      <a:cubicBezTo>
                        <a:pt x="0" y="3073654"/>
                        <a:pt x="886460" y="3959987"/>
                        <a:pt x="1980057" y="3959987"/>
                      </a:cubicBezTo>
                      <a:cubicBezTo>
                        <a:pt x="3073654" y="3959987"/>
                        <a:pt x="3960114" y="3073527"/>
                        <a:pt x="3960114" y="1980057"/>
                      </a:cubicBezTo>
                      <a:cubicBezTo>
                        <a:pt x="3960114" y="886587"/>
                        <a:pt x="3073527" y="0"/>
                        <a:pt x="1980057" y="0"/>
                      </a:cubicBezTo>
                      <a:moveTo>
                        <a:pt x="1980057" y="127000"/>
                      </a:moveTo>
                      <a:cubicBezTo>
                        <a:pt x="2474976" y="127000"/>
                        <a:pt x="2940304" y="319786"/>
                        <a:pt x="3290316" y="669671"/>
                      </a:cubicBezTo>
                      <a:cubicBezTo>
                        <a:pt x="3640328" y="1019556"/>
                        <a:pt x="3832987" y="1485011"/>
                        <a:pt x="3832987" y="1979930"/>
                      </a:cubicBezTo>
                      <a:cubicBezTo>
                        <a:pt x="3832987" y="2474849"/>
                        <a:pt x="3640201" y="2940177"/>
                        <a:pt x="3290316" y="3290189"/>
                      </a:cubicBezTo>
                      <a:cubicBezTo>
                        <a:pt x="2940431" y="3640201"/>
                        <a:pt x="2474976" y="3832987"/>
                        <a:pt x="1980057" y="3832987"/>
                      </a:cubicBezTo>
                      <a:cubicBezTo>
                        <a:pt x="1485138" y="3832987"/>
                        <a:pt x="1019810" y="3640201"/>
                        <a:pt x="669798" y="3290189"/>
                      </a:cubicBezTo>
                      <a:cubicBezTo>
                        <a:pt x="319786" y="2940177"/>
                        <a:pt x="127000" y="2474976"/>
                        <a:pt x="127000" y="1980057"/>
                      </a:cubicBezTo>
                      <a:cubicBezTo>
                        <a:pt x="127000" y="1485138"/>
                        <a:pt x="319786" y="1019683"/>
                        <a:pt x="669798" y="669671"/>
                      </a:cubicBezTo>
                      <a:cubicBezTo>
                        <a:pt x="1019810" y="319659"/>
                        <a:pt x="1485011" y="127000"/>
                        <a:pt x="1980057" y="127000"/>
                      </a:cubicBezTo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8" name="Freeform 23">
                  <a:extLst>
                    <a:ext uri="{FF2B5EF4-FFF2-40B4-BE49-F238E27FC236}">
                      <a16:creationId xmlns:a16="http://schemas.microsoft.com/office/drawing/2014/main" id="{B32D3C51-9F00-3261-6041-F3495AD05D55}"/>
                    </a:ext>
                  </a:extLst>
                </p:cNvPr>
                <p:cNvSpPr/>
                <p:nvPr/>
              </p:nvSpPr>
              <p:spPr>
                <a:xfrm>
                  <a:off x="1374648" y="1043940"/>
                  <a:ext cx="1337056" cy="1337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7056" h="1337056">
                      <a:moveTo>
                        <a:pt x="1337056" y="668528"/>
                      </a:moveTo>
                      <a:cubicBezTo>
                        <a:pt x="1337056" y="1037717"/>
                        <a:pt x="1037717" y="1337056"/>
                        <a:pt x="668528" y="1337056"/>
                      </a:cubicBezTo>
                      <a:cubicBezTo>
                        <a:pt x="299339" y="1337056"/>
                        <a:pt x="0" y="1037717"/>
                        <a:pt x="0" y="668528"/>
                      </a:cubicBezTo>
                      <a:lnTo>
                        <a:pt x="63500" y="668528"/>
                      </a:lnTo>
                      <a:lnTo>
                        <a:pt x="0" y="668528"/>
                      </a:lnTo>
                      <a:cubicBezTo>
                        <a:pt x="0" y="299339"/>
                        <a:pt x="299339" y="0"/>
                        <a:pt x="668528" y="0"/>
                      </a:cubicBezTo>
                      <a:lnTo>
                        <a:pt x="668528" y="63500"/>
                      </a:lnTo>
                      <a:lnTo>
                        <a:pt x="668528" y="0"/>
                      </a:lnTo>
                      <a:cubicBezTo>
                        <a:pt x="1037717" y="0"/>
                        <a:pt x="1337056" y="299339"/>
                        <a:pt x="1337056" y="668528"/>
                      </a:cubicBezTo>
                      <a:lnTo>
                        <a:pt x="1273556" y="668528"/>
                      </a:lnTo>
                      <a:lnTo>
                        <a:pt x="1337056" y="668528"/>
                      </a:lnTo>
                      <a:moveTo>
                        <a:pt x="1210056" y="668528"/>
                      </a:moveTo>
                      <a:cubicBezTo>
                        <a:pt x="1210056" y="369443"/>
                        <a:pt x="967613" y="127000"/>
                        <a:pt x="668528" y="127000"/>
                      </a:cubicBezTo>
                      <a:cubicBezTo>
                        <a:pt x="369443" y="127000"/>
                        <a:pt x="127000" y="369443"/>
                        <a:pt x="127000" y="668528"/>
                      </a:cubicBezTo>
                      <a:cubicBezTo>
                        <a:pt x="127000" y="967613"/>
                        <a:pt x="369443" y="1210056"/>
                        <a:pt x="668528" y="1210056"/>
                      </a:cubicBezTo>
                      <a:cubicBezTo>
                        <a:pt x="967613" y="1210056"/>
                        <a:pt x="1210056" y="967613"/>
                        <a:pt x="1210056" y="66852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49" name="Freeform 24">
                  <a:extLst>
                    <a:ext uri="{FF2B5EF4-FFF2-40B4-BE49-F238E27FC236}">
                      <a16:creationId xmlns:a16="http://schemas.microsoft.com/office/drawing/2014/main" id="{0056D7FD-4921-D2F2-EF51-CE13FBD6B8A9}"/>
                    </a:ext>
                  </a:extLst>
                </p:cNvPr>
                <p:cNvSpPr/>
                <p:nvPr/>
              </p:nvSpPr>
              <p:spPr>
                <a:xfrm>
                  <a:off x="1839214" y="1310386"/>
                  <a:ext cx="408432" cy="804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32" h="804291">
                      <a:moveTo>
                        <a:pt x="262890" y="96520"/>
                      </a:moveTo>
                      <a:lnTo>
                        <a:pt x="125349" y="426466"/>
                      </a:lnTo>
                      <a:lnTo>
                        <a:pt x="66675" y="402082"/>
                      </a:lnTo>
                      <a:lnTo>
                        <a:pt x="66675" y="338582"/>
                      </a:lnTo>
                      <a:lnTo>
                        <a:pt x="341630" y="338582"/>
                      </a:lnTo>
                      <a:cubicBezTo>
                        <a:pt x="362839" y="338582"/>
                        <a:pt x="382651" y="349250"/>
                        <a:pt x="394462" y="366903"/>
                      </a:cubicBezTo>
                      <a:cubicBezTo>
                        <a:pt x="406273" y="384556"/>
                        <a:pt x="408432" y="406908"/>
                        <a:pt x="400304" y="426593"/>
                      </a:cubicBezTo>
                      <a:lnTo>
                        <a:pt x="262763" y="756666"/>
                      </a:lnTo>
                      <a:cubicBezTo>
                        <a:pt x="249301" y="789051"/>
                        <a:pt x="212090" y="804291"/>
                        <a:pt x="179705" y="790829"/>
                      </a:cubicBezTo>
                      <a:cubicBezTo>
                        <a:pt x="147320" y="777367"/>
                        <a:pt x="132080" y="740156"/>
                        <a:pt x="145542" y="707771"/>
                      </a:cubicBezTo>
                      <a:lnTo>
                        <a:pt x="283083" y="377698"/>
                      </a:lnTo>
                      <a:lnTo>
                        <a:pt x="341757" y="402082"/>
                      </a:lnTo>
                      <a:lnTo>
                        <a:pt x="341757" y="465582"/>
                      </a:lnTo>
                      <a:lnTo>
                        <a:pt x="66802" y="465582"/>
                      </a:lnTo>
                      <a:cubicBezTo>
                        <a:pt x="45593" y="465582"/>
                        <a:pt x="25781" y="454914"/>
                        <a:pt x="13970" y="437261"/>
                      </a:cubicBezTo>
                      <a:cubicBezTo>
                        <a:pt x="2159" y="419608"/>
                        <a:pt x="0" y="397256"/>
                        <a:pt x="8128" y="377571"/>
                      </a:cubicBezTo>
                      <a:lnTo>
                        <a:pt x="145669" y="47625"/>
                      </a:lnTo>
                      <a:cubicBezTo>
                        <a:pt x="159131" y="15240"/>
                        <a:pt x="196342" y="0"/>
                        <a:pt x="228727" y="13462"/>
                      </a:cubicBezTo>
                      <a:cubicBezTo>
                        <a:pt x="261112" y="26924"/>
                        <a:pt x="276352" y="64135"/>
                        <a:pt x="262890" y="96520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0" name="Freeform 25">
                  <a:extLst>
                    <a:ext uri="{FF2B5EF4-FFF2-40B4-BE49-F238E27FC236}">
                      <a16:creationId xmlns:a16="http://schemas.microsoft.com/office/drawing/2014/main" id="{A4C8DCCA-39DE-1429-50E8-B7E2C9974D63}"/>
                    </a:ext>
                  </a:extLst>
                </p:cNvPr>
                <p:cNvSpPr/>
                <p:nvPr/>
              </p:nvSpPr>
              <p:spPr>
                <a:xfrm>
                  <a:off x="1058291" y="731139"/>
                  <a:ext cx="2276094" cy="2576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094" h="2576322">
                      <a:moveTo>
                        <a:pt x="288798" y="2391029"/>
                      </a:moveTo>
                      <a:lnTo>
                        <a:pt x="288798" y="1689481"/>
                      </a:lnTo>
                      <a:lnTo>
                        <a:pt x="352298" y="1689481"/>
                      </a:lnTo>
                      <a:lnTo>
                        <a:pt x="307340" y="1734312"/>
                      </a:lnTo>
                      <a:cubicBezTo>
                        <a:pt x="126492" y="1553083"/>
                        <a:pt x="0" y="1283462"/>
                        <a:pt x="0" y="1005459"/>
                      </a:cubicBezTo>
                      <a:lnTo>
                        <a:pt x="63500" y="1005459"/>
                      </a:lnTo>
                      <a:lnTo>
                        <a:pt x="0" y="1005459"/>
                      </a:lnTo>
                      <a:cubicBezTo>
                        <a:pt x="0" y="451231"/>
                        <a:pt x="438912" y="0"/>
                        <a:pt x="995045" y="0"/>
                      </a:cubicBezTo>
                      <a:lnTo>
                        <a:pt x="995045" y="63500"/>
                      </a:lnTo>
                      <a:lnTo>
                        <a:pt x="995045" y="0"/>
                      </a:lnTo>
                      <a:cubicBezTo>
                        <a:pt x="1549400" y="0"/>
                        <a:pt x="2010664" y="449326"/>
                        <a:pt x="2010664" y="1005459"/>
                      </a:cubicBezTo>
                      <a:lnTo>
                        <a:pt x="1947164" y="1005459"/>
                      </a:lnTo>
                      <a:lnTo>
                        <a:pt x="2010664" y="1005459"/>
                      </a:lnTo>
                      <a:cubicBezTo>
                        <a:pt x="2010664" y="1009777"/>
                        <a:pt x="2010664" y="1013968"/>
                        <a:pt x="2010791" y="1018667"/>
                      </a:cubicBezTo>
                      <a:lnTo>
                        <a:pt x="2010918" y="1027938"/>
                      </a:lnTo>
                      <a:lnTo>
                        <a:pt x="2010918" y="1032891"/>
                      </a:lnTo>
                      <a:lnTo>
                        <a:pt x="2010791" y="1043432"/>
                      </a:lnTo>
                      <a:lnTo>
                        <a:pt x="1947164" y="1046734"/>
                      </a:lnTo>
                      <a:lnTo>
                        <a:pt x="2004060" y="1018540"/>
                      </a:lnTo>
                      <a:lnTo>
                        <a:pt x="2266315" y="1547876"/>
                      </a:lnTo>
                      <a:cubicBezTo>
                        <a:pt x="2276094" y="1567561"/>
                        <a:pt x="2274951" y="1590929"/>
                        <a:pt x="2263394" y="1609598"/>
                      </a:cubicBezTo>
                      <a:cubicBezTo>
                        <a:pt x="2251837" y="1628267"/>
                        <a:pt x="2231390" y="1639570"/>
                        <a:pt x="2209419" y="1639570"/>
                      </a:cubicBezTo>
                      <a:lnTo>
                        <a:pt x="1906143" y="1639570"/>
                      </a:lnTo>
                      <a:lnTo>
                        <a:pt x="1906143" y="1576070"/>
                      </a:lnTo>
                      <a:lnTo>
                        <a:pt x="1969643" y="1576070"/>
                      </a:lnTo>
                      <a:lnTo>
                        <a:pt x="1969643" y="1868297"/>
                      </a:lnTo>
                      <a:lnTo>
                        <a:pt x="1906143" y="1868297"/>
                      </a:lnTo>
                      <a:lnTo>
                        <a:pt x="1969643" y="1868297"/>
                      </a:lnTo>
                      <a:cubicBezTo>
                        <a:pt x="1969643" y="2044954"/>
                        <a:pt x="1849882" y="2158619"/>
                        <a:pt x="1675765" y="2158619"/>
                      </a:cubicBezTo>
                      <a:lnTo>
                        <a:pt x="1335405" y="2158619"/>
                      </a:lnTo>
                      <a:lnTo>
                        <a:pt x="1335405" y="2095119"/>
                      </a:lnTo>
                      <a:lnTo>
                        <a:pt x="1398905" y="2095119"/>
                      </a:lnTo>
                      <a:lnTo>
                        <a:pt x="1398905" y="2512822"/>
                      </a:lnTo>
                      <a:cubicBezTo>
                        <a:pt x="1398905" y="2547874"/>
                        <a:pt x="1370457" y="2576322"/>
                        <a:pt x="1335405" y="2576322"/>
                      </a:cubicBezTo>
                      <a:cubicBezTo>
                        <a:pt x="1300353" y="2576322"/>
                        <a:pt x="1271905" y="2547874"/>
                        <a:pt x="1271905" y="2512822"/>
                      </a:cubicBezTo>
                      <a:lnTo>
                        <a:pt x="1271905" y="2094992"/>
                      </a:lnTo>
                      <a:cubicBezTo>
                        <a:pt x="1271905" y="2059940"/>
                        <a:pt x="1300353" y="2031492"/>
                        <a:pt x="1335405" y="2031492"/>
                      </a:cubicBezTo>
                      <a:lnTo>
                        <a:pt x="1675765" y="2031492"/>
                      </a:lnTo>
                      <a:cubicBezTo>
                        <a:pt x="1782318" y="2031492"/>
                        <a:pt x="1842643" y="1972056"/>
                        <a:pt x="1842643" y="1868170"/>
                      </a:cubicBezTo>
                      <a:lnTo>
                        <a:pt x="1842643" y="1575943"/>
                      </a:lnTo>
                      <a:cubicBezTo>
                        <a:pt x="1842643" y="1540891"/>
                        <a:pt x="1871091" y="1512443"/>
                        <a:pt x="1906143" y="1512443"/>
                      </a:cubicBezTo>
                      <a:lnTo>
                        <a:pt x="2209546" y="1512443"/>
                      </a:lnTo>
                      <a:lnTo>
                        <a:pt x="2209546" y="1575943"/>
                      </a:lnTo>
                      <a:lnTo>
                        <a:pt x="2152650" y="1604137"/>
                      </a:lnTo>
                      <a:lnTo>
                        <a:pt x="1890395" y="1074801"/>
                      </a:lnTo>
                      <a:cubicBezTo>
                        <a:pt x="1885696" y="1065276"/>
                        <a:pt x="1883410" y="1054735"/>
                        <a:pt x="1883791" y="1044194"/>
                      </a:cubicBezTo>
                      <a:lnTo>
                        <a:pt x="1884045" y="1036828"/>
                      </a:lnTo>
                      <a:lnTo>
                        <a:pt x="1884045" y="1032891"/>
                      </a:lnTo>
                      <a:lnTo>
                        <a:pt x="1884045" y="1024890"/>
                      </a:lnTo>
                      <a:lnTo>
                        <a:pt x="1883918" y="1010793"/>
                      </a:lnTo>
                      <a:lnTo>
                        <a:pt x="1883918" y="1005459"/>
                      </a:lnTo>
                      <a:cubicBezTo>
                        <a:pt x="1883918" y="521335"/>
                        <a:pt x="1481328" y="127000"/>
                        <a:pt x="995299" y="127000"/>
                      </a:cubicBezTo>
                      <a:cubicBezTo>
                        <a:pt x="511048" y="127000"/>
                        <a:pt x="127254" y="519430"/>
                        <a:pt x="127254" y="1005459"/>
                      </a:cubicBezTo>
                      <a:cubicBezTo>
                        <a:pt x="127254" y="1246759"/>
                        <a:pt x="238125" y="1484884"/>
                        <a:pt x="397510" y="1644650"/>
                      </a:cubicBezTo>
                      <a:cubicBezTo>
                        <a:pt x="409448" y="1656588"/>
                        <a:pt x="416052" y="1672717"/>
                        <a:pt x="416052" y="1689481"/>
                      </a:cubicBezTo>
                      <a:lnTo>
                        <a:pt x="416052" y="2391156"/>
                      </a:lnTo>
                      <a:cubicBezTo>
                        <a:pt x="416052" y="2426208"/>
                        <a:pt x="387604" y="2454656"/>
                        <a:pt x="352552" y="2454656"/>
                      </a:cubicBezTo>
                      <a:cubicBezTo>
                        <a:pt x="317500" y="2454656"/>
                        <a:pt x="289052" y="2426208"/>
                        <a:pt x="289052" y="2391156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  <p:sp>
              <p:nvSpPr>
                <p:cNvPr id="51" name="Freeform 26">
                  <a:extLst>
                    <a:ext uri="{FF2B5EF4-FFF2-40B4-BE49-F238E27FC236}">
                      <a16:creationId xmlns:a16="http://schemas.microsoft.com/office/drawing/2014/main" id="{06F28DCE-70C7-890A-CADC-9475A90E9EE1}"/>
                    </a:ext>
                  </a:extLst>
                </p:cNvPr>
                <p:cNvSpPr/>
                <p:nvPr/>
              </p:nvSpPr>
              <p:spPr>
                <a:xfrm>
                  <a:off x="1378458" y="3067558"/>
                  <a:ext cx="1067435" cy="28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435" h="289687">
                      <a:moveTo>
                        <a:pt x="1067435" y="226822"/>
                      </a:moveTo>
                      <a:lnTo>
                        <a:pt x="1033145" y="237363"/>
                      </a:lnTo>
                      <a:cubicBezTo>
                        <a:pt x="916178" y="271399"/>
                        <a:pt x="792480" y="289687"/>
                        <a:pt x="664718" y="289687"/>
                      </a:cubicBezTo>
                      <a:cubicBezTo>
                        <a:pt x="422275" y="289687"/>
                        <a:pt x="195072" y="224028"/>
                        <a:pt x="0" y="109474"/>
                      </a:cubicBezTo>
                      <a:lnTo>
                        <a:pt x="64262" y="0"/>
                      </a:lnTo>
                      <a:cubicBezTo>
                        <a:pt x="240411" y="103378"/>
                        <a:pt x="445516" y="162687"/>
                        <a:pt x="664718" y="162687"/>
                      </a:cubicBezTo>
                      <a:cubicBezTo>
                        <a:pt x="780415" y="162687"/>
                        <a:pt x="892048" y="146177"/>
                        <a:pt x="997585" y="115443"/>
                      </a:cubicBezTo>
                      <a:lnTo>
                        <a:pt x="1015365" y="176403"/>
                      </a:lnTo>
                      <a:lnTo>
                        <a:pt x="997585" y="115443"/>
                      </a:lnTo>
                      <a:cubicBezTo>
                        <a:pt x="1007999" y="112395"/>
                        <a:pt x="1018286" y="109220"/>
                        <a:pt x="1028573" y="105918"/>
                      </a:cubicBez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endParaRPr lang="en-US" sz="1828" dirty="0"/>
                </a:p>
              </p:txBody>
            </p:sp>
          </p:grpSp>
          <p:sp>
            <p:nvSpPr>
              <p:cNvPr id="46" name="TextBox 27">
                <a:extLst>
                  <a:ext uri="{FF2B5EF4-FFF2-40B4-BE49-F238E27FC236}">
                    <a16:creationId xmlns:a16="http://schemas.microsoft.com/office/drawing/2014/main" id="{904B4456-BA89-9444-9E9C-D89851A6D8AE}"/>
                  </a:ext>
                </a:extLst>
              </p:cNvPr>
              <p:cNvSpPr txBox="1"/>
              <p:nvPr/>
            </p:nvSpPr>
            <p:spPr>
              <a:xfrm>
                <a:off x="17785" y="644412"/>
                <a:ext cx="1202680" cy="26220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56"/>
                  </a:lnSpc>
                </a:pPr>
                <a:r>
                  <a:rPr lang="en-US" sz="1111" dirty="0">
                    <a:solidFill>
                      <a:srgbClr val="FFFFFF"/>
                    </a:solidFill>
                    <a:latin typeface="GT Walsheim Pro Regular" panose="02000503040000020003" pitchFamily="50" charset="0"/>
                  </a:rPr>
                  <a:t>Innovative</a:t>
                </a:r>
              </a:p>
            </p:txBody>
          </p:sp>
        </p:grpSp>
        <p:grpSp>
          <p:nvGrpSpPr>
            <p:cNvPr id="52" name="Group 39">
              <a:extLst>
                <a:ext uri="{FF2B5EF4-FFF2-40B4-BE49-F238E27FC236}">
                  <a16:creationId xmlns:a16="http://schemas.microsoft.com/office/drawing/2014/main" id="{621FAD1B-3D86-BAAD-78F2-8B40577F53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1133" y="4171781"/>
              <a:ext cx="448436" cy="448436"/>
              <a:chOff x="0" y="0"/>
              <a:chExt cx="4087000" cy="4087000"/>
            </a:xfrm>
            <a:grpFill/>
          </p:grpSpPr>
          <p:sp>
            <p:nvSpPr>
              <p:cNvPr id="53" name="Freeform 40">
                <a:extLst>
                  <a:ext uri="{FF2B5EF4-FFF2-40B4-BE49-F238E27FC236}">
                    <a16:creationId xmlns:a16="http://schemas.microsoft.com/office/drawing/2014/main" id="{6424DA76-3A63-3955-FC85-4EDAE87984FA}"/>
                  </a:ext>
                </a:extLst>
              </p:cNvPr>
              <p:cNvSpPr/>
              <p:nvPr/>
            </p:nvSpPr>
            <p:spPr>
              <a:xfrm>
                <a:off x="63500" y="63500"/>
                <a:ext cx="3960114" cy="3959987"/>
              </a:xfrm>
              <a:custGeom>
                <a:avLst/>
                <a:gdLst/>
                <a:ahLst/>
                <a:cxnLst/>
                <a:rect l="l" t="t" r="r" b="b"/>
                <a:pathLst>
                  <a:path w="3960114" h="3959987">
                    <a:moveTo>
                      <a:pt x="1980057" y="0"/>
                    </a:moveTo>
                    <a:cubicBezTo>
                      <a:pt x="886460" y="0"/>
                      <a:pt x="0" y="886460"/>
                      <a:pt x="0" y="1980057"/>
                    </a:cubicBezTo>
                    <a:cubicBezTo>
                      <a:pt x="0" y="3073654"/>
                      <a:pt x="886460" y="3959987"/>
                      <a:pt x="1980057" y="3959987"/>
                    </a:cubicBezTo>
                    <a:cubicBezTo>
                      <a:pt x="3073654" y="3959987"/>
                      <a:pt x="3960114" y="3073527"/>
                      <a:pt x="3960114" y="1980057"/>
                    </a:cubicBezTo>
                    <a:cubicBezTo>
                      <a:pt x="3960114" y="886587"/>
                      <a:pt x="3073527" y="0"/>
                      <a:pt x="1980057" y="0"/>
                    </a:cubicBezTo>
                    <a:moveTo>
                      <a:pt x="1980057" y="127000"/>
                    </a:moveTo>
                    <a:cubicBezTo>
                      <a:pt x="2474976" y="127000"/>
                      <a:pt x="2940304" y="319786"/>
                      <a:pt x="3290316" y="669671"/>
                    </a:cubicBezTo>
                    <a:cubicBezTo>
                      <a:pt x="3640328" y="1019556"/>
                      <a:pt x="3832987" y="1485011"/>
                      <a:pt x="3832987" y="1979930"/>
                    </a:cubicBezTo>
                    <a:cubicBezTo>
                      <a:pt x="3832987" y="2474849"/>
                      <a:pt x="3640201" y="2940177"/>
                      <a:pt x="3290316" y="3290189"/>
                    </a:cubicBezTo>
                    <a:cubicBezTo>
                      <a:pt x="2940431" y="3640201"/>
                      <a:pt x="2474976" y="3832987"/>
                      <a:pt x="1980057" y="3832987"/>
                    </a:cubicBezTo>
                    <a:cubicBezTo>
                      <a:pt x="1485138" y="3832987"/>
                      <a:pt x="1019810" y="3640201"/>
                      <a:pt x="669798" y="3290189"/>
                    </a:cubicBezTo>
                    <a:cubicBezTo>
                      <a:pt x="319786" y="2940177"/>
                      <a:pt x="127000" y="2474976"/>
                      <a:pt x="127000" y="1980057"/>
                    </a:cubicBezTo>
                    <a:cubicBezTo>
                      <a:pt x="127000" y="1485138"/>
                      <a:pt x="319786" y="1019683"/>
                      <a:pt x="669798" y="669671"/>
                    </a:cubicBezTo>
                    <a:cubicBezTo>
                      <a:pt x="1019810" y="319659"/>
                      <a:pt x="1485011" y="127000"/>
                      <a:pt x="1980057" y="127000"/>
                    </a:cubicBezTo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4" name="Freeform 41">
                <a:extLst>
                  <a:ext uri="{FF2B5EF4-FFF2-40B4-BE49-F238E27FC236}">
                    <a16:creationId xmlns:a16="http://schemas.microsoft.com/office/drawing/2014/main" id="{94012937-42CE-4D46-B873-78ECC5872900}"/>
                  </a:ext>
                </a:extLst>
              </p:cNvPr>
              <p:cNvSpPr/>
              <p:nvPr/>
            </p:nvSpPr>
            <p:spPr>
              <a:xfrm>
                <a:off x="728726" y="728726"/>
                <a:ext cx="2629535" cy="2629535"/>
              </a:xfrm>
              <a:custGeom>
                <a:avLst/>
                <a:gdLst/>
                <a:ahLst/>
                <a:cxnLst/>
                <a:rect l="l" t="t" r="r" b="b"/>
                <a:pathLst>
                  <a:path w="2629535" h="2629535">
                    <a:moveTo>
                      <a:pt x="2502535" y="1314831"/>
                    </a:moveTo>
                    <a:cubicBezTo>
                      <a:pt x="2502535" y="658876"/>
                      <a:pt x="1970786" y="127127"/>
                      <a:pt x="1314831" y="127127"/>
                    </a:cubicBezTo>
                    <a:cubicBezTo>
                      <a:pt x="658876" y="127127"/>
                      <a:pt x="127127" y="658876"/>
                      <a:pt x="127127" y="1314831"/>
                    </a:cubicBezTo>
                    <a:lnTo>
                      <a:pt x="63627" y="1314831"/>
                    </a:lnTo>
                    <a:lnTo>
                      <a:pt x="127127" y="1314831"/>
                    </a:lnTo>
                    <a:cubicBezTo>
                      <a:pt x="127127" y="1970786"/>
                      <a:pt x="658876" y="2502535"/>
                      <a:pt x="1314831" y="2502535"/>
                    </a:cubicBezTo>
                    <a:lnTo>
                      <a:pt x="1314831" y="2566035"/>
                    </a:lnTo>
                    <a:lnTo>
                      <a:pt x="1314831" y="2502535"/>
                    </a:lnTo>
                    <a:cubicBezTo>
                      <a:pt x="1970786" y="2502535"/>
                      <a:pt x="2502535" y="1970786"/>
                      <a:pt x="2502535" y="1314831"/>
                    </a:cubicBezTo>
                    <a:lnTo>
                      <a:pt x="2566035" y="1314831"/>
                    </a:lnTo>
                    <a:lnTo>
                      <a:pt x="2502535" y="1314831"/>
                    </a:lnTo>
                    <a:moveTo>
                      <a:pt x="2629535" y="1314831"/>
                    </a:moveTo>
                    <a:cubicBezTo>
                      <a:pt x="2629535" y="2040890"/>
                      <a:pt x="2040890" y="2629535"/>
                      <a:pt x="1314831" y="2629535"/>
                    </a:cubicBezTo>
                    <a:cubicBezTo>
                      <a:pt x="588772" y="2629535"/>
                      <a:pt x="0" y="2040890"/>
                      <a:pt x="0" y="1314831"/>
                    </a:cubicBezTo>
                    <a:cubicBezTo>
                      <a:pt x="0" y="588772"/>
                      <a:pt x="588645" y="0"/>
                      <a:pt x="1314831" y="0"/>
                    </a:cubicBezTo>
                    <a:cubicBezTo>
                      <a:pt x="2041017" y="0"/>
                      <a:pt x="2629535" y="588645"/>
                      <a:pt x="2629535" y="131470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5" name="Freeform 42">
                <a:extLst>
                  <a:ext uri="{FF2B5EF4-FFF2-40B4-BE49-F238E27FC236}">
                    <a16:creationId xmlns:a16="http://schemas.microsoft.com/office/drawing/2014/main" id="{59B638D0-D41D-F2AE-66EF-C3A06BF6B9C7}"/>
                  </a:ext>
                </a:extLst>
              </p:cNvPr>
              <p:cNvSpPr/>
              <p:nvPr/>
            </p:nvSpPr>
            <p:spPr>
              <a:xfrm>
                <a:off x="990092" y="990092"/>
                <a:ext cx="2106930" cy="2106930"/>
              </a:xfrm>
              <a:custGeom>
                <a:avLst/>
                <a:gdLst/>
                <a:ahLst/>
                <a:cxnLst/>
                <a:rect l="l" t="t" r="r" b="b"/>
                <a:pathLst>
                  <a:path w="2106930" h="2106930">
                    <a:moveTo>
                      <a:pt x="1979930" y="1053465"/>
                    </a:moveTo>
                    <a:cubicBezTo>
                      <a:pt x="1979930" y="541782"/>
                      <a:pt x="1565148" y="127000"/>
                      <a:pt x="1053465" y="127000"/>
                    </a:cubicBezTo>
                    <a:cubicBezTo>
                      <a:pt x="541782" y="127000"/>
                      <a:pt x="127000" y="541782"/>
                      <a:pt x="127000" y="1053465"/>
                    </a:cubicBezTo>
                    <a:lnTo>
                      <a:pt x="63500" y="1053465"/>
                    </a:lnTo>
                    <a:lnTo>
                      <a:pt x="127000" y="1053465"/>
                    </a:lnTo>
                    <a:cubicBezTo>
                      <a:pt x="127000" y="1565148"/>
                      <a:pt x="541782" y="1979930"/>
                      <a:pt x="1053465" y="1979930"/>
                    </a:cubicBezTo>
                    <a:lnTo>
                      <a:pt x="1053465" y="2043430"/>
                    </a:lnTo>
                    <a:lnTo>
                      <a:pt x="1053465" y="1979930"/>
                    </a:lnTo>
                    <a:cubicBezTo>
                      <a:pt x="1565148" y="1979930"/>
                      <a:pt x="1979930" y="1565148"/>
                      <a:pt x="1979930" y="1053465"/>
                    </a:cubicBezTo>
                    <a:lnTo>
                      <a:pt x="2043430" y="1053465"/>
                    </a:lnTo>
                    <a:lnTo>
                      <a:pt x="1979930" y="1053465"/>
                    </a:lnTo>
                    <a:moveTo>
                      <a:pt x="2106930" y="1053465"/>
                    </a:moveTo>
                    <a:cubicBezTo>
                      <a:pt x="2106930" y="1635252"/>
                      <a:pt x="1635252" y="2106930"/>
                      <a:pt x="1053465" y="2106930"/>
                    </a:cubicBezTo>
                    <a:cubicBezTo>
                      <a:pt x="471678" y="2106930"/>
                      <a:pt x="0" y="1635252"/>
                      <a:pt x="0" y="1053465"/>
                    </a:cubicBezTo>
                    <a:cubicBezTo>
                      <a:pt x="0" y="471678"/>
                      <a:pt x="471678" y="0"/>
                      <a:pt x="1053465" y="0"/>
                    </a:cubicBezTo>
                    <a:cubicBezTo>
                      <a:pt x="1635252" y="0"/>
                      <a:pt x="2106930" y="471678"/>
                      <a:pt x="2106930" y="10534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6" name="Freeform 43">
                <a:extLst>
                  <a:ext uri="{FF2B5EF4-FFF2-40B4-BE49-F238E27FC236}">
                    <a16:creationId xmlns:a16="http://schemas.microsoft.com/office/drawing/2014/main" id="{ABE78DE1-87BF-EE3C-2CCD-5266DCC7FD2D}"/>
                  </a:ext>
                </a:extLst>
              </p:cNvPr>
              <p:cNvSpPr/>
              <p:nvPr/>
            </p:nvSpPr>
            <p:spPr>
              <a:xfrm>
                <a:off x="2215261" y="1495806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365125" y="90932"/>
                    </a:move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58" name="Freeform 44">
                <a:extLst>
                  <a:ext uri="{FF2B5EF4-FFF2-40B4-BE49-F238E27FC236}">
                    <a16:creationId xmlns:a16="http://schemas.microsoft.com/office/drawing/2014/main" id="{40647CA3-66C5-FC67-4783-535993D6C623}"/>
                  </a:ext>
                </a:extLst>
              </p:cNvPr>
              <p:cNvSpPr/>
              <p:nvPr/>
            </p:nvSpPr>
            <p:spPr>
              <a:xfrm>
                <a:off x="1729232" y="1495933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810260" y="131572"/>
                    </a:move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0" name="Freeform 45">
                <a:extLst>
                  <a:ext uri="{FF2B5EF4-FFF2-40B4-BE49-F238E27FC236}">
                    <a16:creationId xmlns:a16="http://schemas.microsoft.com/office/drawing/2014/main" id="{55E03204-C328-226F-C9DF-78199D851E7C}"/>
                  </a:ext>
                </a:extLst>
              </p:cNvPr>
              <p:cNvSpPr/>
              <p:nvPr/>
            </p:nvSpPr>
            <p:spPr>
              <a:xfrm>
                <a:off x="1495806" y="1729232"/>
                <a:ext cx="375920" cy="862076"/>
              </a:xfrm>
              <a:custGeom>
                <a:avLst/>
                <a:gdLst/>
                <a:ahLst/>
                <a:cxnLst/>
                <a:rect l="l" t="t" r="r" b="b"/>
                <a:pathLst>
                  <a:path w="375920" h="862076">
                    <a:moveTo>
                      <a:pt x="10922" y="771144"/>
                    </a:moveTo>
                    <a:lnTo>
                      <a:pt x="244221" y="51689"/>
                    </a:lnTo>
                    <a:cubicBezTo>
                      <a:pt x="255016" y="18288"/>
                      <a:pt x="290830" y="0"/>
                      <a:pt x="324231" y="10922"/>
                    </a:cubicBezTo>
                    <a:cubicBezTo>
                      <a:pt x="357632" y="21844"/>
                      <a:pt x="375920" y="57531"/>
                      <a:pt x="364998" y="90932"/>
                    </a:cubicBezTo>
                    <a:lnTo>
                      <a:pt x="131699" y="810387"/>
                    </a:lnTo>
                    <a:cubicBezTo>
                      <a:pt x="120904" y="843788"/>
                      <a:pt x="85090" y="862076"/>
                      <a:pt x="51689" y="851154"/>
                    </a:cubicBezTo>
                    <a:cubicBezTo>
                      <a:pt x="18288" y="840232"/>
                      <a:pt x="0" y="804545"/>
                      <a:pt x="10922" y="7711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1" name="Freeform 46">
                <a:extLst>
                  <a:ext uri="{FF2B5EF4-FFF2-40B4-BE49-F238E27FC236}">
                    <a16:creationId xmlns:a16="http://schemas.microsoft.com/office/drawing/2014/main" id="{F3194EC3-F93E-BFF9-0E23-AECF3FA62839}"/>
                  </a:ext>
                </a:extLst>
              </p:cNvPr>
              <p:cNvSpPr/>
              <p:nvPr/>
            </p:nvSpPr>
            <p:spPr>
              <a:xfrm>
                <a:off x="1495933" y="2215388"/>
                <a:ext cx="861822" cy="375666"/>
              </a:xfrm>
              <a:custGeom>
                <a:avLst/>
                <a:gdLst/>
                <a:ahLst/>
                <a:cxnLst/>
                <a:rect l="l" t="t" r="r" b="b"/>
                <a:pathLst>
                  <a:path w="861822" h="375666">
                    <a:moveTo>
                      <a:pt x="51562" y="244094"/>
                    </a:moveTo>
                    <a:lnTo>
                      <a:pt x="771017" y="10795"/>
                    </a:lnTo>
                    <a:cubicBezTo>
                      <a:pt x="804418" y="0"/>
                      <a:pt x="840232" y="18288"/>
                      <a:pt x="851027" y="51562"/>
                    </a:cubicBezTo>
                    <a:cubicBezTo>
                      <a:pt x="861822" y="84836"/>
                      <a:pt x="843534" y="120777"/>
                      <a:pt x="810260" y="131572"/>
                    </a:cubicBezTo>
                    <a:lnTo>
                      <a:pt x="90805" y="364871"/>
                    </a:lnTo>
                    <a:cubicBezTo>
                      <a:pt x="57404" y="375666"/>
                      <a:pt x="21590" y="357378"/>
                      <a:pt x="10795" y="324104"/>
                    </a:cubicBezTo>
                    <a:cubicBezTo>
                      <a:pt x="0" y="290830"/>
                      <a:pt x="18288" y="254889"/>
                      <a:pt x="51562" y="24409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2" name="Freeform 47">
                <a:extLst>
                  <a:ext uri="{FF2B5EF4-FFF2-40B4-BE49-F238E27FC236}">
                    <a16:creationId xmlns:a16="http://schemas.microsoft.com/office/drawing/2014/main" id="{05C61F4B-5F71-E159-5BA2-5EBAFBCF8394}"/>
                  </a:ext>
                </a:extLst>
              </p:cNvPr>
              <p:cNvSpPr/>
              <p:nvPr/>
            </p:nvSpPr>
            <p:spPr>
              <a:xfrm>
                <a:off x="1980057" y="989965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3" name="Freeform 48">
                <a:extLst>
                  <a:ext uri="{FF2B5EF4-FFF2-40B4-BE49-F238E27FC236}">
                    <a16:creationId xmlns:a16="http://schemas.microsoft.com/office/drawing/2014/main" id="{3C6635C4-78F0-0D35-7F39-3067701240E8}"/>
                  </a:ext>
                </a:extLst>
              </p:cNvPr>
              <p:cNvSpPr/>
              <p:nvPr/>
            </p:nvSpPr>
            <p:spPr>
              <a:xfrm>
                <a:off x="1980057" y="2805049"/>
                <a:ext cx="127000" cy="291973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91973">
                    <a:moveTo>
                      <a:pt x="127000" y="63500"/>
                    </a:moveTo>
                    <a:lnTo>
                      <a:pt x="127000" y="228473"/>
                    </a:lnTo>
                    <a:cubicBezTo>
                      <a:pt x="127000" y="263525"/>
                      <a:pt x="98552" y="291973"/>
                      <a:pt x="63500" y="291973"/>
                    </a:cubicBezTo>
                    <a:cubicBezTo>
                      <a:pt x="28448" y="291973"/>
                      <a:pt x="0" y="263525"/>
                      <a:pt x="0" y="228473"/>
                    </a:cubicBezTo>
                    <a:lnTo>
                      <a:pt x="0" y="63500"/>
                    </a:lnTo>
                    <a:cubicBezTo>
                      <a:pt x="0" y="28448"/>
                      <a:pt x="28448" y="0"/>
                      <a:pt x="63500" y="0"/>
                    </a:cubicBezTo>
                    <a:cubicBezTo>
                      <a:pt x="98552" y="0"/>
                      <a:pt x="127000" y="28448"/>
                      <a:pt x="127000" y="635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4" name="Freeform 49">
                <a:extLst>
                  <a:ext uri="{FF2B5EF4-FFF2-40B4-BE49-F238E27FC236}">
                    <a16:creationId xmlns:a16="http://schemas.microsoft.com/office/drawing/2014/main" id="{4DAD1E1B-A694-39AF-5271-8B87E047A1B8}"/>
                  </a:ext>
                </a:extLst>
              </p:cNvPr>
              <p:cNvSpPr/>
              <p:nvPr/>
            </p:nvSpPr>
            <p:spPr>
              <a:xfrm>
                <a:off x="1089025" y="1089025"/>
                <a:ext cx="324231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231" h="324104">
                    <a:moveTo>
                      <a:pt x="114681" y="24765"/>
                    </a:moveTo>
                    <a:lnTo>
                      <a:pt x="299466" y="209550"/>
                    </a:lnTo>
                    <a:cubicBezTo>
                      <a:pt x="324231" y="234315"/>
                      <a:pt x="324231" y="274574"/>
                      <a:pt x="299466" y="299339"/>
                    </a:cubicBezTo>
                    <a:cubicBezTo>
                      <a:pt x="274701" y="324104"/>
                      <a:pt x="234442" y="324104"/>
                      <a:pt x="209677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5" name="Freeform 50">
                <a:extLst>
                  <a:ext uri="{FF2B5EF4-FFF2-40B4-BE49-F238E27FC236}">
                    <a16:creationId xmlns:a16="http://schemas.microsoft.com/office/drawing/2014/main" id="{1054A9F7-960E-FD42-D42C-4DCF0F7EE204}"/>
                  </a:ext>
                </a:extLst>
              </p:cNvPr>
              <p:cNvSpPr/>
              <p:nvPr/>
            </p:nvSpPr>
            <p:spPr>
              <a:xfrm>
                <a:off x="2673858" y="2673858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114554" y="24765"/>
                    </a:moveTo>
                    <a:lnTo>
                      <a:pt x="299339" y="209550"/>
                    </a:lnTo>
                    <a:cubicBezTo>
                      <a:pt x="324104" y="234315"/>
                      <a:pt x="324104" y="274574"/>
                      <a:pt x="299339" y="299339"/>
                    </a:cubicBezTo>
                    <a:cubicBezTo>
                      <a:pt x="274574" y="324104"/>
                      <a:pt x="234315" y="324104"/>
                      <a:pt x="209550" y="299339"/>
                    </a:cubicBezTo>
                    <a:lnTo>
                      <a:pt x="24765" y="114554"/>
                    </a:lnTo>
                    <a:cubicBezTo>
                      <a:pt x="0" y="89789"/>
                      <a:pt x="0" y="49530"/>
                      <a:pt x="24765" y="24765"/>
                    </a:cubicBezTo>
                    <a:cubicBezTo>
                      <a:pt x="49530" y="0"/>
                      <a:pt x="89789" y="0"/>
                      <a:pt x="114554" y="24765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9F5552C9-91C5-FF5B-F6AF-ADAA59E5B531}"/>
                  </a:ext>
                </a:extLst>
              </p:cNvPr>
              <p:cNvSpPr/>
              <p:nvPr/>
            </p:nvSpPr>
            <p:spPr>
              <a:xfrm>
                <a:off x="989965" y="1980057"/>
                <a:ext cx="2921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27000">
                    <a:moveTo>
                      <a:pt x="63500" y="0"/>
                    </a:moveTo>
                    <a:lnTo>
                      <a:pt x="228600" y="0"/>
                    </a:lnTo>
                    <a:cubicBezTo>
                      <a:pt x="263652" y="0"/>
                      <a:pt x="292100" y="28448"/>
                      <a:pt x="292100" y="63500"/>
                    </a:cubicBezTo>
                    <a:cubicBezTo>
                      <a:pt x="292100" y="98552"/>
                      <a:pt x="263652" y="127000"/>
                      <a:pt x="228600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7" name="Freeform 52">
                <a:extLst>
                  <a:ext uri="{FF2B5EF4-FFF2-40B4-BE49-F238E27FC236}">
                    <a16:creationId xmlns:a16="http://schemas.microsoft.com/office/drawing/2014/main" id="{CF2DCDF7-EAD4-7429-8AD7-2BAE434A4C80}"/>
                  </a:ext>
                </a:extLst>
              </p:cNvPr>
              <p:cNvSpPr/>
              <p:nvPr/>
            </p:nvSpPr>
            <p:spPr>
              <a:xfrm>
                <a:off x="2805049" y="1980057"/>
                <a:ext cx="291973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91973" h="127000">
                    <a:moveTo>
                      <a:pt x="63500" y="0"/>
                    </a:moveTo>
                    <a:lnTo>
                      <a:pt x="228473" y="0"/>
                    </a:lnTo>
                    <a:cubicBezTo>
                      <a:pt x="263525" y="0"/>
                      <a:pt x="291973" y="28448"/>
                      <a:pt x="291973" y="63500"/>
                    </a:cubicBezTo>
                    <a:cubicBezTo>
                      <a:pt x="291973" y="98552"/>
                      <a:pt x="263525" y="127000"/>
                      <a:pt x="228473" y="127000"/>
                    </a:cubicBezTo>
                    <a:lnTo>
                      <a:pt x="63500" y="127000"/>
                    </a:lnTo>
                    <a:cubicBezTo>
                      <a:pt x="28448" y="127000"/>
                      <a:pt x="0" y="98552"/>
                      <a:pt x="0" y="63500"/>
                    </a:cubicBezTo>
                    <a:cubicBezTo>
                      <a:pt x="0" y="28448"/>
                      <a:pt x="28448" y="0"/>
                      <a:pt x="635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8" name="Freeform 53">
                <a:extLst>
                  <a:ext uri="{FF2B5EF4-FFF2-40B4-BE49-F238E27FC236}">
                    <a16:creationId xmlns:a16="http://schemas.microsoft.com/office/drawing/2014/main" id="{6BFD94AB-23E9-54E4-1594-2D7F8A6CE213}"/>
                  </a:ext>
                </a:extLst>
              </p:cNvPr>
              <p:cNvSpPr/>
              <p:nvPr/>
            </p:nvSpPr>
            <p:spPr>
              <a:xfrm>
                <a:off x="1089152" y="2673858"/>
                <a:ext cx="323977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3977" h="324104">
                    <a:moveTo>
                      <a:pt x="24638" y="209550"/>
                    </a:moveTo>
                    <a:lnTo>
                      <a:pt x="209423" y="24765"/>
                    </a:lnTo>
                    <a:cubicBezTo>
                      <a:pt x="234188" y="0"/>
                      <a:pt x="274447" y="0"/>
                      <a:pt x="299212" y="24765"/>
                    </a:cubicBezTo>
                    <a:cubicBezTo>
                      <a:pt x="323977" y="49530"/>
                      <a:pt x="323977" y="89789"/>
                      <a:pt x="299212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  <p:sp>
            <p:nvSpPr>
              <p:cNvPr id="69" name="Freeform 54">
                <a:extLst>
                  <a:ext uri="{FF2B5EF4-FFF2-40B4-BE49-F238E27FC236}">
                    <a16:creationId xmlns:a16="http://schemas.microsoft.com/office/drawing/2014/main" id="{ED434BC7-738B-8EDA-EA2A-8D2F4A9B16AC}"/>
                  </a:ext>
                </a:extLst>
              </p:cNvPr>
              <p:cNvSpPr/>
              <p:nvPr/>
            </p:nvSpPr>
            <p:spPr>
              <a:xfrm>
                <a:off x="2673858" y="1089025"/>
                <a:ext cx="324104" cy="324104"/>
              </a:xfrm>
              <a:custGeom>
                <a:avLst/>
                <a:gdLst/>
                <a:ahLst/>
                <a:cxnLst/>
                <a:rect l="l" t="t" r="r" b="b"/>
                <a:pathLst>
                  <a:path w="324104" h="324104">
                    <a:moveTo>
                      <a:pt x="24765" y="209550"/>
                    </a:moveTo>
                    <a:lnTo>
                      <a:pt x="209550" y="24765"/>
                    </a:lnTo>
                    <a:cubicBezTo>
                      <a:pt x="234315" y="0"/>
                      <a:pt x="274574" y="0"/>
                      <a:pt x="299339" y="24765"/>
                    </a:cubicBezTo>
                    <a:cubicBezTo>
                      <a:pt x="324104" y="49530"/>
                      <a:pt x="324104" y="89789"/>
                      <a:pt x="299339" y="114554"/>
                    </a:cubicBezTo>
                    <a:lnTo>
                      <a:pt x="114554" y="299339"/>
                    </a:lnTo>
                    <a:cubicBezTo>
                      <a:pt x="89789" y="324104"/>
                      <a:pt x="49530" y="324104"/>
                      <a:pt x="24765" y="299339"/>
                    </a:cubicBezTo>
                    <a:cubicBezTo>
                      <a:pt x="0" y="274574"/>
                      <a:pt x="0" y="234315"/>
                      <a:pt x="24765" y="20955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sz="1828" dirty="0"/>
              </a:p>
            </p:txBody>
          </p:sp>
        </p:grpSp>
        <p:sp>
          <p:nvSpPr>
            <p:cNvPr id="70" name="TextBox 55">
              <a:extLst>
                <a:ext uri="{FF2B5EF4-FFF2-40B4-BE49-F238E27FC236}">
                  <a16:creationId xmlns:a16="http://schemas.microsoft.com/office/drawing/2014/main" id="{C301BC60-D0EE-BB0F-D986-27C142A518B4}"/>
                </a:ext>
              </a:extLst>
            </p:cNvPr>
            <p:cNvSpPr txBox="1"/>
            <p:nvPr/>
          </p:nvSpPr>
          <p:spPr>
            <a:xfrm>
              <a:off x="903399" y="1850922"/>
              <a:ext cx="3693036" cy="957826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AI Readiness &amp;</a:t>
              </a:r>
            </a:p>
            <a:p>
              <a:pPr>
                <a:lnSpc>
                  <a:spcPts val="3821"/>
                </a:lnSpc>
              </a:pPr>
              <a:r>
                <a:rPr lang="en-US" sz="2729" dirty="0">
                  <a:solidFill>
                    <a:srgbClr val="FFFFFF"/>
                  </a:solidFill>
                  <a:latin typeface="GT Walsheim Pro Bold" panose="02000503040000020003" pitchFamily="50" charset="0"/>
                </a:rPr>
                <a:t>Risk Assessment</a:t>
              </a:r>
            </a:p>
          </p:txBody>
        </p:sp>
        <p:sp>
          <p:nvSpPr>
            <p:cNvPr id="71" name="TextBox 56">
              <a:extLst>
                <a:ext uri="{FF2B5EF4-FFF2-40B4-BE49-F238E27FC236}">
                  <a16:creationId xmlns:a16="http://schemas.microsoft.com/office/drawing/2014/main" id="{CA5CE202-4ED5-A349-1A04-4DE8CE3D90F9}"/>
                </a:ext>
              </a:extLst>
            </p:cNvPr>
            <p:cNvSpPr txBox="1"/>
            <p:nvPr/>
          </p:nvSpPr>
          <p:spPr>
            <a:xfrm>
              <a:off x="903399" y="3153322"/>
              <a:ext cx="3840259" cy="691531"/>
            </a:xfrm>
            <a:prstGeom prst="rect">
              <a:avLst/>
            </a:prstGeom>
            <a:noFill/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726"/>
                </a:lnSpc>
              </a:pPr>
              <a:r>
                <a:rPr lang="en-US" sz="1947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Proposal  |  October 2026</a:t>
              </a:r>
            </a:p>
          </p:txBody>
        </p:sp>
        <p:sp>
          <p:nvSpPr>
            <p:cNvPr id="72" name="TextBox 57">
              <a:extLst>
                <a:ext uri="{FF2B5EF4-FFF2-40B4-BE49-F238E27FC236}">
                  <a16:creationId xmlns:a16="http://schemas.microsoft.com/office/drawing/2014/main" id="{CEB98C11-C7C3-B0B0-BA55-37DD93B5C49A}"/>
                </a:ext>
              </a:extLst>
            </p:cNvPr>
            <p:cNvSpPr txBox="1"/>
            <p:nvPr/>
          </p:nvSpPr>
          <p:spPr>
            <a:xfrm>
              <a:off x="868693" y="4646014"/>
              <a:ext cx="621524" cy="19973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sz="1111" dirty="0">
                  <a:solidFill>
                    <a:srgbClr val="FFFFFF"/>
                  </a:solidFill>
                  <a:latin typeface="GT Walsheim Pro Regular" panose="02000503040000020003" pitchFamily="50" charset="0"/>
                </a:rPr>
                <a:t>Adaptive</a:t>
              </a:r>
            </a:p>
          </p:txBody>
        </p:sp>
      </p:grpSp>
      <p:pic>
        <p:nvPicPr>
          <p:cNvPr id="2092" name="Picture 2091" descr="A white line drawing of a head with dots and lines in a black circle&#10;&#10;Description automatically generated">
            <a:extLst>
              <a:ext uri="{FF2B5EF4-FFF2-40B4-BE49-F238E27FC236}">
                <a16:creationId xmlns:a16="http://schemas.microsoft.com/office/drawing/2014/main" id="{941A6AFE-F817-05EC-A97E-219EF5AA1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328" y="3955846"/>
            <a:ext cx="484633" cy="484633"/>
          </a:xfrm>
          <a:prstGeom prst="rect">
            <a:avLst/>
          </a:prstGeom>
        </p:spPr>
      </p:pic>
      <p:pic>
        <p:nvPicPr>
          <p:cNvPr id="2096" name="Picture 2095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292375E3-A834-8FA9-B80A-2842137AA6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80" y="3945451"/>
            <a:ext cx="484632" cy="484632"/>
          </a:xfrm>
          <a:prstGeom prst="rect">
            <a:avLst/>
          </a:prstGeom>
        </p:spPr>
      </p:pic>
      <p:pic>
        <p:nvPicPr>
          <p:cNvPr id="2100" name="Picture 2099" descr="A light bulb with a lightning bolt in a circle&#10;&#10;Description automatically generated">
            <a:extLst>
              <a:ext uri="{FF2B5EF4-FFF2-40B4-BE49-F238E27FC236}">
                <a16:creationId xmlns:a16="http://schemas.microsoft.com/office/drawing/2014/main" id="{F8CFC82A-1B69-DE01-D642-63CFAC5CB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5" y="3945450"/>
            <a:ext cx="484633" cy="4846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881463A5-889B-024C-847C-15EF14B396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01" t="9767" r="17235" b="10853"/>
          <a:stretch/>
        </p:blipFill>
        <p:spPr>
          <a:xfrm>
            <a:off x="-95693" y="-9301"/>
            <a:ext cx="5741776" cy="6867301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CE8E20-ACA3-3A44-B5A3-DBF3E541B2B9}"/>
              </a:ext>
            </a:extLst>
          </p:cNvPr>
          <p:cNvSpPr txBox="1"/>
          <p:nvPr/>
        </p:nvSpPr>
        <p:spPr>
          <a:xfrm>
            <a:off x="6756411" y="306186"/>
            <a:ext cx="15712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D75AB539-68A9-3C4B-B57C-4B023BAA9F3A}"/>
              </a:ext>
            </a:extLst>
          </p:cNvPr>
          <p:cNvSpPr/>
          <p:nvPr/>
        </p:nvSpPr>
        <p:spPr>
          <a:xfrm>
            <a:off x="5098612" y="1493772"/>
            <a:ext cx="1037967" cy="103796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BFCE72D1-9595-B548-9B7A-3AB6307C5326}"/>
              </a:ext>
            </a:extLst>
          </p:cNvPr>
          <p:cNvSpPr/>
          <p:nvPr/>
        </p:nvSpPr>
        <p:spPr>
          <a:xfrm>
            <a:off x="5098612" y="2804011"/>
            <a:ext cx="1037967" cy="1037967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6A05D8C9-5455-EA48-8E04-21E0F5A2CAF0}"/>
              </a:ext>
            </a:extLst>
          </p:cNvPr>
          <p:cNvSpPr/>
          <p:nvPr/>
        </p:nvSpPr>
        <p:spPr>
          <a:xfrm>
            <a:off x="5098612" y="4114250"/>
            <a:ext cx="1037967" cy="1037967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3459D4-4AF6-6F47-8BB4-1CA1BBA68B26}"/>
              </a:ext>
            </a:extLst>
          </p:cNvPr>
          <p:cNvSpPr txBox="1"/>
          <p:nvPr/>
        </p:nvSpPr>
        <p:spPr>
          <a:xfrm>
            <a:off x="6795700" y="1846875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Why AI Readiness Matters Now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171435-CE3B-DA48-ABAF-76E18E9E7D13}"/>
              </a:ext>
            </a:extLst>
          </p:cNvPr>
          <p:cNvSpPr txBox="1"/>
          <p:nvPr/>
        </p:nvSpPr>
        <p:spPr>
          <a:xfrm>
            <a:off x="5453127" y="1735756"/>
            <a:ext cx="328937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EDFA74-273E-6741-9B19-FEDEFBFA1B5C}"/>
              </a:ext>
            </a:extLst>
          </p:cNvPr>
          <p:cNvSpPr txBox="1"/>
          <p:nvPr/>
        </p:nvSpPr>
        <p:spPr>
          <a:xfrm>
            <a:off x="5415457" y="3045995"/>
            <a:ext cx="404278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2AAC7-9301-134C-88BB-2FEEB9D9B9C1}"/>
              </a:ext>
            </a:extLst>
          </p:cNvPr>
          <p:cNvSpPr txBox="1"/>
          <p:nvPr/>
        </p:nvSpPr>
        <p:spPr>
          <a:xfrm>
            <a:off x="5409045" y="4356234"/>
            <a:ext cx="417102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006F5-1C04-4972-41F2-04748EC080EE}"/>
              </a:ext>
            </a:extLst>
          </p:cNvPr>
          <p:cNvSpPr txBox="1"/>
          <p:nvPr/>
        </p:nvSpPr>
        <p:spPr>
          <a:xfrm>
            <a:off x="6795700" y="3160226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Approach &amp;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055BF-7125-8B17-C755-56ADD56F160A}"/>
              </a:ext>
            </a:extLst>
          </p:cNvPr>
          <p:cNvSpPr txBox="1"/>
          <p:nvPr/>
        </p:nvSpPr>
        <p:spPr>
          <a:xfrm>
            <a:off x="6795700" y="4441010"/>
            <a:ext cx="4485523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ea typeface="League Spartan" charset="0"/>
                <a:cs typeface="Arial" panose="020B0604020202020204" pitchFamily="34" charset="0"/>
              </a:rPr>
              <a:t>Engagement Plan &amp; Deliverables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The Shift Has Already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AI has moved from experiment to infrastructure. The competitive question in 2026 isn't whether your peers are using it - it's how far ahead they already are.</a:t>
            </a:r>
          </a:p>
        </p:txBody>
      </p:sp>
      <p:sp>
        <p:nvSpPr>
          <p:cNvPr id="10" name="Oval 9"/>
          <p:cNvSpPr/>
          <p:nvPr/>
        </p:nvSpPr>
        <p:spPr>
          <a:xfrm>
            <a:off x="1001577" y="1580000"/>
            <a:ext cx="2600000" cy="2600000"/>
          </a:xfrm>
          <a:prstGeom prst="ellipse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78-88%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396" y="43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Enterprise AI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396" y="47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of organisations report using AI in at least one business function</a:t>
            </a:r>
          </a:p>
        </p:txBody>
      </p:sp>
      <p:sp>
        <p:nvSpPr>
          <p:cNvPr id="13" name="Oval 12"/>
          <p:cNvSpPr/>
          <p:nvPr/>
        </p:nvSpPr>
        <p:spPr>
          <a:xfrm>
            <a:off x="4855939" y="1580000"/>
            <a:ext cx="2600000" cy="2600000"/>
          </a:xfrm>
          <a:prstGeom prst="ellipse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$407B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8758" y="43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Worldwide AI spending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8758" y="47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34.8% annual growth</a:t>
            </a:r>
          </a:p>
        </p:txBody>
      </p:sp>
      <p:sp>
        <p:nvSpPr>
          <p:cNvPr id="16" name="Oval 15"/>
          <p:cNvSpPr/>
          <p:nvPr/>
        </p:nvSpPr>
        <p:spPr>
          <a:xfrm>
            <a:off x="8710301" y="1580000"/>
            <a:ext cx="2600000" cy="2600000"/>
          </a:xfrm>
          <a:prstGeom prst="ellipse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$15.7T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3120" y="43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4F2D7F"/>
                </a:solidFill>
                <a:latin typeface="Arial"/>
              </a:rPr>
              <a:t>Global economic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3120" y="4730000"/>
            <a:ext cx="3554362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potential contribution of AI by 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396" y="5830000"/>
            <a:ext cx="11263086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Source: McKinsey State of AI 2025 Survey; IDC Worldwide AI and Generative AI Spending Guide 2025 - as presented in GT Bahrain 'Introduction to Artificial Intelligence' (2026).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What AI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AI delivers measurable outcomes across the organisation - when it is adopted with the right foundations.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164617" cy="6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Automate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030000"/>
            <a:ext cx="2164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396" y="2180000"/>
            <a:ext cx="216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2D7F"/>
                </a:solidFill>
                <a:latin typeface="Arial"/>
              </a:rPr>
              <a:t>-27%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96" y="2930000"/>
            <a:ext cx="204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operational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3780000"/>
            <a:ext cx="2164617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150" b="0">
                <a:solidFill>
                  <a:srgbClr val="222222"/>
                </a:solidFill>
                <a:latin typeface="Arial"/>
              </a:rPr>
              <a:t>JPM Coin turns deposits into on-chain, programmable, always-on digital money.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9013" y="1430000"/>
            <a:ext cx="2164617" cy="6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9013" y="2030000"/>
            <a:ext cx="2164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9013" y="2180000"/>
            <a:ext cx="216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2D7F"/>
                </a:solidFill>
                <a:latin typeface="Arial"/>
              </a:rPr>
              <a:t>-31%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9013" y="2930000"/>
            <a:ext cx="204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downtime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99013" y="3780000"/>
            <a:ext cx="2164617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150" b="0">
                <a:solidFill>
                  <a:srgbClr val="222222"/>
                </a:solidFill>
                <a:latin typeface="Arial"/>
              </a:rPr>
              <a:t>Shell scales AI-fuelled predictive maintenance to 10,000 assets.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3630" y="1430000"/>
            <a:ext cx="2164617" cy="6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Generate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3630" y="2030000"/>
            <a:ext cx="2164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3630" y="2180000"/>
            <a:ext cx="216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4F2D7F"/>
                </a:solidFill>
                <a:latin typeface="Arial"/>
              </a:rPr>
              <a:t>+26-60%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3630" y="2930000"/>
            <a:ext cx="204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developer productivity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3630" y="3780000"/>
            <a:ext cx="2164617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150" b="0">
                <a:solidFill>
                  <a:srgbClr val="222222"/>
                </a:solidFill>
                <a:latin typeface="Arial"/>
              </a:rPr>
              <a:t>AI coding assistants accelerate software delivery.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8247" y="1430000"/>
            <a:ext cx="2164617" cy="6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8247" y="2030000"/>
            <a:ext cx="2164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8247" y="2180000"/>
            <a:ext cx="216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2D7F"/>
                </a:solidFill>
                <a:latin typeface="Arial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8247" y="2930000"/>
            <a:ext cx="204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efficiency gains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8247" y="3780000"/>
            <a:ext cx="2164617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150" b="0">
                <a:solidFill>
                  <a:srgbClr val="222222"/>
                </a:solidFill>
                <a:latin typeface="Arial"/>
              </a:rPr>
              <a:t>UPS ORION optimises delivery routes with advanced analytics.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2864" y="1430000"/>
            <a:ext cx="2164617" cy="6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Assist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2864" y="2030000"/>
            <a:ext cx="2164617" cy="1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2864" y="2180000"/>
            <a:ext cx="216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2D7F"/>
                </a:solidFill>
                <a:latin typeface="Arial"/>
              </a:rPr>
              <a:t>&lt;2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2864" y="2930000"/>
            <a:ext cx="2044617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Arial"/>
              </a:rPr>
              <a:t>resolution time; +$40M profit impact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22864" y="3780000"/>
            <a:ext cx="2164617" cy="1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/>
            <a:r>
              <a:rPr sz="1150" b="0">
                <a:solidFill>
                  <a:srgbClr val="222222"/>
                </a:solidFill>
                <a:latin typeface="Arial"/>
              </a:rPr>
              <a:t>Klarna's AI assistant handled two-thirds of customer-service chats in its first month.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4396" y="5430000"/>
            <a:ext cx="11263086" cy="4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The same capabilities create new risks - to data, decisions, customers and compliance - unless governance keeps pace.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396" y="5930000"/>
            <a:ext cx="11263086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Source: McKinsey State of AI 2025 Survey; IDC Worldwide AI and Generative AI Spending Guide 2025 - as presented in GT Bahrain 'Introduction to Artificial Intelligence' (2026).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The AI Adoption Maturity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Organisations move from awareness to governed, enterprise-wide AI. Example: JPMorgan Chase - LLM Suite adoption journey (2023-2025).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396" y="2980000"/>
            <a:ext cx="2172617" cy="650000"/>
          </a:xfrm>
          <a:prstGeom prst="roundRect">
            <a:avLst>
              <a:gd name="adj" fmla="val 15000"/>
            </a:avLst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4F2D7F"/>
                </a:solidFill>
                <a:latin typeface="Arial"/>
              </a:rPr>
              <a:t>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396" y="3680000"/>
            <a:ext cx="217261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Late 2022-2023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396" y="3980000"/>
            <a:ext cx="2172617" cy="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Pilots &amp; hackathons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7013" y="2680000"/>
            <a:ext cx="2172617" cy="650000"/>
          </a:xfrm>
          <a:prstGeom prst="roundRect">
            <a:avLst>
              <a:gd name="adj" fmla="val 15000"/>
            </a:avLst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Use-case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7013" y="3380000"/>
            <a:ext cx="217261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Early-mid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7013" y="3680000"/>
            <a:ext cx="2172617" cy="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Initial rollout (60,000 employees), tracked usage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9630" y="2380000"/>
            <a:ext cx="2172617" cy="650000"/>
          </a:xfrm>
          <a:prstGeom prst="roundRect">
            <a:avLst>
              <a:gd name="adj" fmla="val 15000"/>
            </a:avLst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Controlled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9630" y="3080000"/>
            <a:ext cx="217261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Late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9630" y="3380000"/>
            <a:ext cx="2172617" cy="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Opt-in scaling (140,000-200,000 employees in 8 months), proving ROI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247" y="2080000"/>
            <a:ext cx="2172617" cy="650000"/>
          </a:xfrm>
          <a:prstGeom prst="roundRect">
            <a:avLst>
              <a:gd name="adj" fmla="val 15000"/>
            </a:avLst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Enterprise enablement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247" y="2780000"/>
            <a:ext cx="217261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Late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247" y="3080000"/>
            <a:ext cx="2172617" cy="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Multi-model, firm-wide use (250,000+ employees globally)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4864" y="1780000"/>
            <a:ext cx="2172617" cy="650000"/>
          </a:xfrm>
          <a:prstGeom prst="roundRect">
            <a:avLst>
              <a:gd name="adj" fmla="val 15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Governance maturity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4864" y="2480000"/>
            <a:ext cx="2172617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4F2D7F"/>
                </a:solidFill>
                <a:latin typeface="Arial"/>
              </a:rPr>
              <a:t>2025 onward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4864" y="2780000"/>
            <a:ext cx="2172617" cy="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Oversight &amp; controls embedded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396" y="5080000"/>
            <a:ext cx="11263086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Where are you on the curve? </a:t>
            </a:r>
            <a:r>
              <a:rPr sz="1200" b="0">
                <a:solidFill>
                  <a:srgbClr val="222222"/>
                </a:solidFill>
                <a:latin typeface="Arial"/>
              </a:rPr>
              <a:t>The GT AI Readiness &amp; Risk Assessment places the organisation on this journey, measures readiness across five domains and shows what must be in place - governance, risk management, skills, strategy and data - to move up safely.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396" y="5880000"/>
            <a:ext cx="11263086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Source: GT Bahrain 'Introduction to Artificial Intelligence' (2026), based on public JPMorgan Chase disclosures.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Why Organisations Are Moving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The commercial pressure for AI adoption is becoming difficult to ignore - but adoption is moving faster than governance.</a:t>
            </a:r>
          </a:p>
        </p:txBody>
      </p:sp>
      <p:sp>
        <p:nvSpPr>
          <p:cNvPr id="10" name="Hexagon 9"/>
          <p:cNvSpPr/>
          <p:nvPr/>
        </p:nvSpPr>
        <p:spPr>
          <a:xfrm>
            <a:off x="2574396" y="2880000"/>
            <a:ext cx="1300000" cy="900000"/>
          </a:xfrm>
          <a:prstGeom prst="hexagon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4F2D7F"/>
                </a:solidFill>
                <a:latin typeface="Arial"/>
              </a:rPr>
              <a:t>AI adoption</a:t>
            </a:r>
          </a:p>
        </p:txBody>
      </p:sp>
      <p:sp>
        <p:nvSpPr>
          <p:cNvPr id="11" name="Hexagon 10"/>
          <p:cNvSpPr/>
          <p:nvPr/>
        </p:nvSpPr>
        <p:spPr>
          <a:xfrm>
            <a:off x="2474396" y="1450000"/>
            <a:ext cx="1500000" cy="760000"/>
          </a:xfrm>
          <a:prstGeom prst="hexagon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Faster decision cycles</a:t>
            </a:r>
          </a:p>
        </p:txBody>
      </p:sp>
      <p:sp>
        <p:nvSpPr>
          <p:cNvPr id="12" name="Hexagon 11"/>
          <p:cNvSpPr/>
          <p:nvPr/>
        </p:nvSpPr>
        <p:spPr>
          <a:xfrm>
            <a:off x="4033241" y="2200000"/>
            <a:ext cx="1500000" cy="760000"/>
          </a:xfrm>
          <a:prstGeom prst="hexagon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Productivity pressure</a:t>
            </a:r>
          </a:p>
        </p:txBody>
      </p:sp>
      <p:sp>
        <p:nvSpPr>
          <p:cNvPr id="13" name="Hexagon 12"/>
          <p:cNvSpPr/>
          <p:nvPr/>
        </p:nvSpPr>
        <p:spPr>
          <a:xfrm>
            <a:off x="4033241" y="3700000"/>
            <a:ext cx="1500000" cy="760000"/>
          </a:xfrm>
          <a:prstGeom prst="hexagon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Cost optimisation</a:t>
            </a:r>
          </a:p>
        </p:txBody>
      </p:sp>
      <p:sp>
        <p:nvSpPr>
          <p:cNvPr id="14" name="Hexagon 13"/>
          <p:cNvSpPr/>
          <p:nvPr/>
        </p:nvSpPr>
        <p:spPr>
          <a:xfrm>
            <a:off x="2474396" y="4450000"/>
            <a:ext cx="1500000" cy="760000"/>
          </a:xfrm>
          <a:prstGeom prst="hexagon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Customer expectations</a:t>
            </a:r>
          </a:p>
        </p:txBody>
      </p:sp>
      <p:sp>
        <p:nvSpPr>
          <p:cNvPr id="15" name="Hexagon 14"/>
          <p:cNvSpPr/>
          <p:nvPr/>
        </p:nvSpPr>
        <p:spPr>
          <a:xfrm>
            <a:off x="915550" y="3700000"/>
            <a:ext cx="1500000" cy="760000"/>
          </a:xfrm>
          <a:prstGeom prst="hexagon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Data volume growth</a:t>
            </a:r>
          </a:p>
        </p:txBody>
      </p:sp>
      <p:sp>
        <p:nvSpPr>
          <p:cNvPr id="16" name="Hexagon 15"/>
          <p:cNvSpPr/>
          <p:nvPr/>
        </p:nvSpPr>
        <p:spPr>
          <a:xfrm>
            <a:off x="915550" y="2200000"/>
            <a:ext cx="1500000" cy="760000"/>
          </a:xfrm>
          <a:prstGeom prst="hexagon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Competitive pressure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4396" y="1430000"/>
            <a:ext cx="5363086" cy="5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But adoption is moving faster than governance.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4396" y="2030000"/>
            <a:ext cx="5363086" cy="15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50" b="1">
                <a:solidFill>
                  <a:srgbClr val="222222"/>
                </a:solidFill>
                <a:latin typeface="Arial"/>
              </a:rPr>
              <a:t>Example: </a:t>
            </a:r>
            <a:r>
              <a:rPr sz="1150" b="0">
                <a:solidFill>
                  <a:srgbClr val="222222"/>
                </a:solidFill>
                <a:latin typeface="Arial"/>
              </a:rPr>
              <a:t>Morgan Stanley deployed Microsoft 365 Copilot and AI assistants to thousands of financial advisors. Advisors spent less time searching internal documents and more time serving clients - enabling faster responses and better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4396" y="3680000"/>
            <a:ext cx="5363086" cy="1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2D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00" b="1">
                <a:solidFill>
                  <a:srgbClr val="4F2D7F"/>
                </a:solidFill>
                <a:latin typeface="Arial"/>
              </a:rPr>
              <a:t>“</a:t>
            </a:r>
            <a:r>
              <a:rPr sz="1100" b="0">
                <a:solidFill>
                  <a:srgbClr val="4F2D7F"/>
                </a:solidFill>
                <a:latin typeface="Arial"/>
              </a:rPr>
              <a:t>Bahrain's National AI Strategy promotes embedding AI in finance and operations while requiring governance to support economic diversification and regulatory compliance.</a:t>
            </a:r>
            <a:r>
              <a:rPr sz="1100" b="1">
                <a:solidFill>
                  <a:srgbClr val="4F2D7F"/>
                </a:solidFill>
                <a:latin typeface="Arial"/>
              </a:rPr>
              <a:t>”</a:t>
            </a:r>
          </a:p>
          <a:p>
            <a:pPr algn="l"/>
            <a:r>
              <a:rPr sz="1100" b="1">
                <a:solidFill>
                  <a:srgbClr val="4F2D7F"/>
                </a:solidFill>
                <a:latin typeface="Arial"/>
              </a:rPr>
              <a:t>Information &amp; eGovernment Authority (iGA), Bahrain AI Report,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4396" y="5130000"/>
            <a:ext cx="5363086" cy="7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E1A47"/>
                </a:solidFill>
                <a:latin typeface="Arial"/>
              </a:rPr>
              <a:t>As adoption scales across operations, finance, risk, HR, customer service and cybersecurity, organisations need stronger governance, controls and audit readiness.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Why Assess AI Readiness and Risk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AI is already in the organisation - in staff tools, in software and in suppliers' services. Boards and regulators now expect it to be governed.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4396" y="1430000"/>
            <a:ext cx="3654362" cy="9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396" y="16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Regulation is arriving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96" y="20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EU AI Act obligations phase in to 2026-27 (AI literacy since Feb 2025); Bahrain PDPL applies to AI processing personal data; iGA AI Policy (2025); CBB expectations for licensees; draft Bahrain AI law.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758" y="14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8758" y="1430000"/>
            <a:ext cx="3654362" cy="9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8758" y="16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Shadow AI and embedded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58" y="20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Staff use public GenAI tools; vendors switch on AI features in existing software. Without an inventory, risk is invisible.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3120" y="14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3120" y="1430000"/>
            <a:ext cx="3654362" cy="9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3120" y="16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Agentic AI raises the stakes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3120" y="20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AI that takes actions through tools and APIs introduces prompt injection, excessive agency and new fraud paths (ISACA, 2026).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396" y="35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4396" y="3530000"/>
            <a:ext cx="3654362" cy="9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396" y="37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AI-enabled threats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396" y="41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Deepfake payment fraud, AI-crafted phishing and automated attacks target every organisation - whether or not it uses AI itself.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758" y="35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8758" y="3530000"/>
            <a:ext cx="3654362" cy="9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8758" y="37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Boards are asking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8758" y="41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Who owns AI? What is our risk appetite? Which AI do we use, with what data, and who checks it?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3120" y="3530000"/>
            <a:ext cx="3654362" cy="19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3120" y="3530000"/>
            <a:ext cx="3654362" cy="90000"/>
          </a:xfrm>
          <a:prstGeom prst="rect">
            <a:avLst/>
          </a:prstGeom>
          <a:solidFill>
            <a:srgbClr val="5B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3120" y="3710000"/>
            <a:ext cx="3454362" cy="4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F2D7F"/>
                </a:solidFill>
                <a:latin typeface="Arial"/>
              </a:rPr>
              <a:t>Investment needs a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3120" y="4180000"/>
            <a:ext cx="3454362" cy="12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A measured starting point focuses budgets on the gaps that matter and shows progress over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What the Assessment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Four answers in one report - in about 45 minutes of the client's time, delivered within 5 working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900000" cy="10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24396" y="1430000"/>
            <a:ext cx="3600000" cy="10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600" b="1">
                <a:solidFill>
                  <a:srgbClr val="4F2D7F"/>
                </a:solidFill>
                <a:latin typeface="Arial"/>
              </a:rPr>
              <a:t>How ready are we?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4396" y="1430000"/>
            <a:ext cx="6763086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50" b="0">
                <a:solidFill>
                  <a:srgbClr val="222222"/>
                </a:solidFill>
                <a:latin typeface="Arial"/>
              </a:rPr>
              <a:t>Readiness score and maturity (Partial / Informed / Repeatable / Adaptive) overall and for each of five domains.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396" y="2530000"/>
            <a:ext cx="900000" cy="10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4396" y="2530000"/>
            <a:ext cx="3600000" cy="10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600" b="1">
                <a:solidFill>
                  <a:srgbClr val="4F2D7F"/>
                </a:solidFill>
                <a:latin typeface="Arial"/>
              </a:rPr>
              <a:t>How risky is our AI?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4396" y="2530000"/>
            <a:ext cx="6763086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50" b="0">
                <a:solidFill>
                  <a:srgbClr val="222222"/>
                </a:solidFill>
                <a:latin typeface="Arial"/>
              </a:rPr>
              <a:t>Inherent AI risk tier (Low to Very high) from how AI is used, the decisions it influences, the data it touches and the oversight in place - based on the NSW AI Assessment Framework.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630000"/>
            <a:ext cx="900000" cy="10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4396" y="3630000"/>
            <a:ext cx="3600000" cy="10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600" b="1">
                <a:solidFill>
                  <a:srgbClr val="4F2D7F"/>
                </a:solidFill>
                <a:latin typeface="Arial"/>
              </a:rPr>
              <a:t>Is our readiness enough for our risk?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4396" y="3630000"/>
            <a:ext cx="6763086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50" b="0">
                <a:solidFill>
                  <a:srgbClr val="222222"/>
                </a:solidFill>
                <a:latin typeface="Arial"/>
              </a:rPr>
              <a:t>Overall AI risk exposure and a recommended pathway: proceed, proceed with conditions, remediate before scaling, or pause.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4730000"/>
            <a:ext cx="900000" cy="10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24396" y="4730000"/>
            <a:ext cx="3600000" cy="10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600" b="1">
                <a:solidFill>
                  <a:srgbClr val="4F2D7F"/>
                </a:solidFill>
                <a:latin typeface="Arial"/>
              </a:rPr>
              <a:t>What should we do first?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4396" y="4730000"/>
            <a:ext cx="6763086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50" b="0">
                <a:solidFill>
                  <a:srgbClr val="222222"/>
                </a:solidFill>
                <a:latin typeface="Arial"/>
              </a:rPr>
              <a:t>Findings per question, top-5 priority actions, a phased roadmap, regulatory considerations (PDPL, CBB, EU AI Act, ISO/IEC 42001) and next steps.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&amp;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Our Approach - Report Within 5 Working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Light-touch for the client, rigorous behind the scenes. The scoring engine stays with GT - the client receives a clear, independent report.</a:t>
            </a:r>
          </a:p>
        </p:txBody>
      </p:sp>
      <p:sp>
        <p:nvSpPr>
          <p:cNvPr id="10" name="Pentagon 9"/>
          <p:cNvSpPr/>
          <p:nvPr/>
        </p:nvSpPr>
        <p:spPr>
          <a:xfrm>
            <a:off x="524396" y="1430000"/>
            <a:ext cx="2300617" cy="650000"/>
          </a:xfrm>
          <a:prstGeom prst="homePlate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Day 1  Kick-off</a:t>
            </a:r>
          </a:p>
        </p:txBody>
      </p:sp>
      <p:sp>
        <p:nvSpPr>
          <p:cNvPr id="11" name="Chevron 10"/>
          <p:cNvSpPr/>
          <p:nvPr/>
        </p:nvSpPr>
        <p:spPr>
          <a:xfrm>
            <a:off x="2765013" y="1430000"/>
            <a:ext cx="2300617" cy="650000"/>
          </a:xfrm>
          <a:prstGeom prst="chevron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Day 1-2  Questionnaire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005630" y="1430000"/>
            <a:ext cx="2300617" cy="650000"/>
          </a:xfrm>
          <a:prstGeom prst="chevron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Day 3-4  GT analysis</a:t>
            </a:r>
          </a:p>
        </p:txBody>
      </p:sp>
      <p:sp>
        <p:nvSpPr>
          <p:cNvPr id="13" name="Chevron 12"/>
          <p:cNvSpPr/>
          <p:nvPr/>
        </p:nvSpPr>
        <p:spPr>
          <a:xfrm>
            <a:off x="7246247" y="1430000"/>
            <a:ext cx="2300617" cy="650000"/>
          </a:xfrm>
          <a:prstGeom prst="chevron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Day 5  Report</a:t>
            </a:r>
          </a:p>
        </p:txBody>
      </p:sp>
      <p:sp>
        <p:nvSpPr>
          <p:cNvPr id="14" name="Chevron 13"/>
          <p:cNvSpPr/>
          <p:nvPr/>
        </p:nvSpPr>
        <p:spPr>
          <a:xfrm>
            <a:off x="9486864" y="1430000"/>
            <a:ext cx="2300617" cy="650000"/>
          </a:xfrm>
          <a:prstGeom prst="chevron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Day 5  Debrief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396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4396" y="2260000"/>
            <a:ext cx="2120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30-minute call with the sponsor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Confirm scope (whole organisation, unit or AI system) and respondents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Questionnaire link sent the same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5013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013" y="2260000"/>
            <a:ext cx="2120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Secure Microsoft Forms questionnaire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34 questions: profile (14), AI use profile (4), readiness (16)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Plain-language answer options; about 45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5630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630" y="2260000"/>
            <a:ext cx="2120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Responses processed in GT's proprietary assessment engine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Inherent risk tier, domain maturity, exposure, findings and roadmap generated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Reviewed by a GT AI GRC professional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6247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247" y="2260000"/>
            <a:ext cx="2120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Confidential PDF report (7-9 pages)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Emailed to the sponsor with headline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16864" y="2180000"/>
            <a:ext cx="2180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864" y="2260000"/>
            <a:ext cx="2120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60-90 minute debrief with leadership (same day or agreed date)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Agree priorities and owners</a:t>
            </a:r>
          </a:p>
          <a:p>
            <a:pPr algn="l">
              <a:spcAft>
                <a:spcPts val="8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Options: governance build, RCM review, ISO/IEC 42001 readiness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396" y="5430000"/>
            <a:ext cx="11263086" cy="45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Timeline assumes the questionnaire is completed by Day 2; the report is issued within 3 working days of receiving complete responses.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Five Assessment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16 readiness questions across five equally weighted domains, aligned to GT AI Ready7, ISO/IEC 42001, NIST AI RMF and the NSW AI Assessment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172617" cy="7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2130000"/>
            <a:ext cx="2172617" cy="30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4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430000"/>
            <a:ext cx="2172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396" y="2500000"/>
            <a:ext cx="2112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governance structure &amp; accountability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policy, acceptable use &amp; regulatory compliance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Responsible-AI guardrails &amp; human oversight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incidents, monitoring &amp; assurance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7013" y="1430000"/>
            <a:ext cx="2172617" cy="70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 Risk &amp; 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7013" y="2130000"/>
            <a:ext cx="2172617" cy="30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6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7013" y="2430000"/>
            <a:ext cx="2172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7013" y="2500000"/>
            <a:ext cx="2112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risk management framework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risk appetite, KRIs &amp; reporting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inventory &amp; risk / impact assessment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Third-party &amp; AI supply-chain risk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Securing AI systems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Defending against AI-enabled threats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69630" y="1430000"/>
            <a:ext cx="2172617" cy="7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Training &amp; Awareness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9630" y="2130000"/>
            <a:ext cx="2172617" cy="30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1 question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69630" y="2430000"/>
            <a:ext cx="2172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9630" y="2500000"/>
            <a:ext cx="2112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training, literacy &amp; awareness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42247" y="1430000"/>
            <a:ext cx="2172617" cy="70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Strategy &amp;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2247" y="2130000"/>
            <a:ext cx="2172617" cy="30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2 questions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2247" y="2430000"/>
            <a:ext cx="2172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2247" y="2500000"/>
            <a:ext cx="2112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strategy &amp; executive ownership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Use-case portfolio &amp; value realisation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4864" y="1430000"/>
            <a:ext cx="2172617" cy="7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 &amp; Technology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864" y="2130000"/>
            <a:ext cx="2172617" cy="30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3 questions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4864" y="2430000"/>
            <a:ext cx="2172617" cy="31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4864" y="2500000"/>
            <a:ext cx="2112617" cy="30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Data governance, quality &amp; privacy for AI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AI architecture, integration &amp; monitoring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•  Model risk management &amp;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396" y="5680000"/>
            <a:ext cx="11263086" cy="48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AI Risk &amp; Security </a:t>
            </a:r>
            <a:r>
              <a:rPr sz="1100" b="0">
                <a:solidFill>
                  <a:srgbClr val="FFFFFF"/>
                </a:solidFill>
                <a:latin typeface="Arial"/>
              </a:rPr>
              <a:t>combines Protect AI Systems and Protection from AI Threats with the new AI risk-management questions (framework, appetite &amp; KRIs, third-party risk).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Inherent AI Risk Profile (NSW AIAF-based)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Four questions establish how much risk the organisation's AI use carries - before considering its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700000" cy="74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 use profile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4396" y="1430000"/>
            <a:ext cx="4200000" cy="74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Which statement best describes how AI is used in your organisation today (including AI embedded in software and tools used by staff)?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396" y="2250000"/>
            <a:ext cx="2700000" cy="74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Decision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4396" y="2250000"/>
            <a:ext cx="4200000" cy="74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What is the most significant type of decision or outcome your AI systems influence?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396" y="3070000"/>
            <a:ext cx="2700000" cy="74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Data sensitivity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4396" y="3070000"/>
            <a:ext cx="4200000" cy="74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What is the most sensitive data processed by your AI systems (including data staff enter into AI tools)?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3890000"/>
            <a:ext cx="2700000" cy="74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Oversight &amp; reversibility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4396" y="3890000"/>
            <a:ext cx="4200000" cy="74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050" b="0">
                <a:solidFill>
                  <a:srgbClr val="222222"/>
                </a:solidFill>
                <a:latin typeface="Arial"/>
              </a:rPr>
              <a:t>How much human oversight applies to AI outputs, and how reversible are the outcomes?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4396" y="1430000"/>
            <a:ext cx="4163086" cy="3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Inherent risk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4396" y="1860000"/>
            <a:ext cx="4163086" cy="400000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4396" y="2290000"/>
            <a:ext cx="4163086" cy="4000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4396" y="2720000"/>
            <a:ext cx="4163086" cy="40000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4396" y="3150000"/>
            <a:ext cx="4163086" cy="400000"/>
          </a:xfrm>
          <a:prstGeom prst="rect">
            <a:avLst/>
          </a:prstGeom>
          <a:solidFill>
            <a:srgbClr val="E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</a:rPr>
              <a:t>Very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4396" y="3630000"/>
            <a:ext cx="4163086" cy="1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22222"/>
                </a:solidFill>
                <a:latin typeface="Arial"/>
              </a:rPr>
              <a:t>Overrides apply - for example, AI that makes or materially influences decisions about individuals' rights or access to services cannot be rated 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4396" y="4880000"/>
            <a:ext cx="11263086" cy="650000"/>
          </a:xfrm>
          <a:prstGeom prst="rect">
            <a:avLst/>
          </a:prstGeom>
          <a:solidFill>
            <a:srgbClr val="D9C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150" b="1">
                <a:solidFill>
                  <a:srgbClr val="222222"/>
                </a:solidFill>
                <a:latin typeface="Arial"/>
              </a:rPr>
              <a:t>Exposure = inherent risk tier x readiness maturity. </a:t>
            </a:r>
            <a:r>
              <a:rPr sz="1150" b="0">
                <a:solidFill>
                  <a:srgbClr val="222222"/>
                </a:solidFill>
                <a:latin typeface="Arial"/>
              </a:rPr>
              <a:t>A mature organisation with high-risk AI can be at moderate exposure; an immature organisation with the same AI is at critical exposure. The pathway follows from the 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396" y="5630000"/>
            <a:ext cx="11263086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Basis: NSW AI Assessment Framework; EU AI Act risk categories; ISO/IEC 23894 and ISO/IEC 42005.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How Results Are Expressed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Clients see clear, comparable results; the detailed scoring rules remain GT's proprietary methodology.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11263086" cy="38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Five-level answer scale for every readiness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880000"/>
            <a:ext cx="2188617" cy="520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</a:rPr>
              <a:t>Level 0  -  Not in place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3013" y="1880000"/>
            <a:ext cx="2188617" cy="520000"/>
          </a:xfrm>
          <a:prstGeom prst="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</a:rPr>
              <a:t>Level 1  -  Initial / ad hoc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1630" y="1880000"/>
            <a:ext cx="2188617" cy="5200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</a:rPr>
              <a:t>Level 2  -  Defined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0247" y="1880000"/>
            <a:ext cx="2188617" cy="520000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</a:rPr>
              <a:t>Level 3  -  Implemented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98864" y="1880000"/>
            <a:ext cx="2188617" cy="520000"/>
          </a:xfrm>
          <a:prstGeom prst="rect">
            <a:avLst/>
          </a:prstGeom>
          <a:solidFill>
            <a:srgbClr val="9B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</a:rPr>
              <a:t>Level 4  -  Optimised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396" y="2580000"/>
            <a:ext cx="11263086" cy="38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Maturity bands (GT AI Ready7)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396" y="3030000"/>
            <a:ext cx="2755771" cy="1250000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Partial  (&lt; 50%)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Foundational capabilities are missing or ad hoc; AI risk is largely unmanaged.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0167" y="3030000"/>
            <a:ext cx="2755771" cy="125000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Informed  (50 - 70%)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Awareness and some defined practices exist, but they are not consistently implemented.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5938" y="3030000"/>
            <a:ext cx="2755771" cy="1250000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Repeatable  (70 - 90%)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Practices are defined and consistently applied across most of the organisation.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1709" y="3030000"/>
            <a:ext cx="2755771" cy="1250000"/>
          </a:xfrm>
          <a:prstGeom prst="rect">
            <a:avLst/>
          </a:prstGeom>
          <a:solidFill>
            <a:srgbClr val="9B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222222"/>
                </a:solidFill>
                <a:latin typeface="Arial"/>
              </a:rPr>
              <a:t>Adaptive  (90%+)</a:t>
            </a:r>
          </a:p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Practices are optimised, measured and continuously improved.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4396" y="4430000"/>
            <a:ext cx="11263086" cy="38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Pathways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4396" y="4880000"/>
            <a:ext cx="2755771" cy="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Low exposure</a:t>
            </a:r>
          </a:p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PROCEED - SELF-MANAGED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0167" y="4880000"/>
            <a:ext cx="2755771" cy="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Moderate exposure</a:t>
            </a:r>
          </a:p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PROCEED WITH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938" y="4880000"/>
            <a:ext cx="2755771" cy="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High exposure</a:t>
            </a:r>
          </a:p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REMEDIATE BEFORE SCALING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1709" y="4880000"/>
            <a:ext cx="2755771" cy="9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Critical exposure</a:t>
            </a:r>
          </a:p>
          <a:p>
            <a:pPr algn="ctr"/>
            <a:r>
              <a:rPr sz="1050" b="1">
                <a:solidFill>
                  <a:srgbClr val="4F2D7F"/>
                </a:solidFill>
                <a:latin typeface="Arial"/>
              </a:rPr>
              <a:t>PAUSE HIGH-IMPACT AI &amp; ESCALATE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396" y="5860000"/>
            <a:ext cx="11263086" cy="35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Domains are equally weighted. Mapping of answers to findings, risks, controls (GT AI RCM v2.1) and recommendations is applied in the GT engine and reviewed by a GT professional.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How Answers Are Collected - and Why the Engine Stays with 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The client never handles spreadsheets or formulas. Responses flow securely from a form to a reviewed PDF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430000"/>
            <a:ext cx="2108617" cy="5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396" y="1950000"/>
            <a:ext cx="2108617" cy="13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Completes the secure Microsoft Forms questionnaire (one respondent or a coordinated team response)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3013" y="2380000"/>
            <a:ext cx="140000" cy="300000"/>
          </a:xfrm>
          <a:prstGeom prst="rightArrow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3013" y="1430000"/>
            <a:ext cx="2108617" cy="5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GT secure tenant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3013" y="1950000"/>
            <a:ext cx="2108617" cy="13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Responses exported from Forms in GT's Microsoft 365 environment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41630" y="2380000"/>
            <a:ext cx="140000" cy="300000"/>
          </a:xfrm>
          <a:prstGeom prst="rightArrow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01630" y="1430000"/>
            <a:ext cx="2108617" cy="52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GT assessment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1630" y="1950000"/>
            <a:ext cx="2108617" cy="13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Proprietary scoring, findings and roadmap logic - not shared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30247" y="2380000"/>
            <a:ext cx="140000" cy="300000"/>
          </a:xfrm>
          <a:prstGeom prst="rightArrow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0247" y="1430000"/>
            <a:ext cx="2108617" cy="5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GT reviewer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0247" y="1950000"/>
            <a:ext cx="2108617" cy="13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AI GRC professional reviews results and context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18864" y="2380000"/>
            <a:ext cx="140000" cy="300000"/>
          </a:xfrm>
          <a:prstGeom prst="rightArrow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78864" y="1430000"/>
            <a:ext cx="2108617" cy="520000"/>
          </a:xfrm>
          <a:prstGeom prst="rect">
            <a:avLst/>
          </a:prstGeom>
          <a:solidFill>
            <a:srgbClr val="E87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8864" y="1950000"/>
            <a:ext cx="2108617" cy="135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050" b="0">
                <a:solidFill>
                  <a:srgbClr val="222222"/>
                </a:solidFill>
                <a:latin typeface="Arial"/>
              </a:rPr>
              <a:t>Receives the PDF report by email; debrief 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4396" y="3530000"/>
            <a:ext cx="5556543" cy="4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Why we do not send the Excel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396" y="3980000"/>
            <a:ext cx="5556543" cy="1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Protects GT methodology, weightings and content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Avoids answers being 'tuned' to the score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Consistent, quality-reviewed results across clients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No macros, formulas or printing issues on client devices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0939" y="3530000"/>
            <a:ext cx="5556543" cy="4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How we protect the client's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0939" y="3980000"/>
            <a:ext cx="5556543" cy="19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Stored only in GT's Microsoft 365 tenant; access limited to the engagement team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No personal data beyond contact details; Bahrain PDPL-compliant handling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Never entered into public AI tools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Retained per engagement terms; deleted on request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222222"/>
                </a:solidFill>
                <a:latin typeface="Arial"/>
              </a:rPr>
              <a:t>•  Report marked confidential; shared only with the named sponsor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The Report - What the Client Receives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Pages from an illustrative sample report (sample answers). The full report runs to 7-9 pages.</a:t>
            </a:r>
          </a:p>
        </p:txBody>
      </p:sp>
      <p:pic>
        <p:nvPicPr>
          <p:cNvPr id="10" name="Picture 9" descr="re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96" y="1380000"/>
            <a:ext cx="3039119" cy="43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pic>
        <p:nvPicPr>
          <p:cNvPr id="11" name="Picture 10" descr="re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396" y="1380000"/>
            <a:ext cx="3039119" cy="43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pic>
        <p:nvPicPr>
          <p:cNvPr id="12" name="Picture 11" descr="r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396" y="1380000"/>
            <a:ext cx="3039119" cy="4300000"/>
          </a:xfrm>
          <a:prstGeom prst="rect">
            <a:avLst/>
          </a:prstGeom>
          <a:ln w="9525">
            <a:solidFill>
              <a:srgbClr val="D9CC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24396" y="5700000"/>
            <a:ext cx="3000000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F2D7F"/>
                </a:solidFill>
                <a:latin typeface="Arial"/>
              </a:rPr>
              <a:t>Executive summary &amp;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4396" y="5700000"/>
            <a:ext cx="3000000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F2D7F"/>
                </a:solidFill>
                <a:latin typeface="Arial"/>
              </a:rPr>
              <a:t>Findings &amp;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4396" y="5700000"/>
            <a:ext cx="3000000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F2D7F"/>
                </a:solidFill>
                <a:latin typeface="Arial"/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4396" y="1380000"/>
            <a:ext cx="1813086" cy="4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22222"/>
                </a:solidFill>
                <a:latin typeface="Arial"/>
              </a:rPr>
              <a:t>Report sections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Executive summary &amp; pathway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Readiness by domain (radar)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AI use &amp; inherent risk profile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Responsible-AI principle coverage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Detailed findings &amp; recommendations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Top-5 priority actions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Suggested roadmap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Regulatory &amp; standards considerations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How GT can help; next steps &amp; sign-off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Our Own Starting Point - GT Bahrain AI Ready7 (Sept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396" y="930000"/>
            <a:ext cx="11263086" cy="48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"/>
              </a:rPr>
              <a:t>We assessed ourselves first. GT Bahrain's AI Ready7 results by pillar, and consolidated into the five assessment domains.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4396" y="1430000"/>
          <a:ext cx="5856804" cy="42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19093" y="1430000"/>
          <a:ext cx="5068388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50"/>
                <a:gridCol w="2610988"/>
                <a:gridCol w="614350"/>
              </a:tblGrid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Assessment domain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Ready7 pillars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54864" marT="27432" marB="27432" anchor="ctr">
                    <a:solidFill>
                      <a:srgbClr val="4F2D7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AI Governance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Governance &amp; Ethics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AI Risk &amp; Security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Protect AI Systems + Protection from AI Threats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Training &amp; Awareness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Training &amp; Development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Strategy &amp; Value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Business Alignment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54864" marR="54864" marT="27432" marB="27432" anchor="ctr">
                    <a:solidFill>
                      <a:srgbClr val="F8CBAD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Data &amp; Technology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Architecture &amp; Technology + Data &amp; Quality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54864" marR="54864" marT="27432" marB="27432" anchor="ctr">
                    <a:solidFill>
                      <a:srgbClr val="FFE69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</a:rPr>
                        <a:t>Overall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Readiness status: Informed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</a:rPr>
                        <a:t>61.4%</a:t>
                      </a:r>
                    </a:p>
                  </a:txBody>
                  <a:tcPr marL="54864" marR="54864" marT="27432" marB="27432" anchor="ctr"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19093" y="4530000"/>
            <a:ext cx="5068389" cy="12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22222"/>
                </a:solidFill>
                <a:latin typeface="Arial"/>
              </a:rPr>
              <a:t>Our priorities: </a:t>
            </a:r>
            <a:r>
              <a:rPr sz="1050" b="0">
                <a:solidFill>
                  <a:srgbClr val="222222"/>
                </a:solidFill>
                <a:latin typeface="Arial"/>
              </a:rPr>
              <a:t>Strategy &amp; Value (50%) and AI Governance (60%) - including lifecycle AI risk assessment (Ready7 2.4) and data classification for AI (5.1), both 'Not Met'. The AI Readiness &amp; Risk Assessment adds deeper governance and risk-management questions to measure exactly these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396" y="5730000"/>
            <a:ext cx="11263086" cy="3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Arial"/>
              </a:rPr>
              <a:t>Source: GT Bahrain AI Ready7 Result Report (Sept 2026). Domain = average of its Ready7 pillars. Coral = below 60%.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>
            <a:extLst>
              <a:ext uri="{FF2B5EF4-FFF2-40B4-BE49-F238E27FC236}">
                <a16:creationId xmlns:a16="http://schemas.microsoft.com/office/drawing/2014/main" id="{06C7AD44-C87D-49F0-8292-A94679109843}"/>
              </a:ext>
            </a:extLst>
          </p:cNvPr>
          <p:cNvSpPr/>
          <p:nvPr/>
        </p:nvSpPr>
        <p:spPr>
          <a:xfrm>
            <a:off x="0" y="-1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18288000" h="12390120">
                <a:moveTo>
                  <a:pt x="0" y="0"/>
                </a:moveTo>
                <a:lnTo>
                  <a:pt x="18288000" y="0"/>
                </a:lnTo>
                <a:lnTo>
                  <a:pt x="18288000" y="12390120"/>
                </a:lnTo>
                <a:lnTo>
                  <a:pt x="0" y="12390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8508D9-0E0F-F987-DECA-55A7FA5DE6B8}"/>
              </a:ext>
            </a:extLst>
          </p:cNvPr>
          <p:cNvSpPr/>
          <p:nvPr/>
        </p:nvSpPr>
        <p:spPr>
          <a:xfrm>
            <a:off x="0" y="-2"/>
            <a:ext cx="12191998" cy="7139483"/>
          </a:xfrm>
          <a:prstGeom prst="rect">
            <a:avLst/>
          </a:prstGeom>
          <a:solidFill>
            <a:srgbClr val="4F2D7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72897C-39BA-0A66-797A-BEB0C83AAE45}"/>
              </a:ext>
            </a:extLst>
          </p:cNvPr>
          <p:cNvSpPr/>
          <p:nvPr/>
        </p:nvSpPr>
        <p:spPr>
          <a:xfrm>
            <a:off x="0" y="-2"/>
            <a:ext cx="12192000" cy="713948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0" t="-226076" r="-109432" b="-2221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44EC82-137F-8FD9-DA67-38F5137810B6}"/>
              </a:ext>
            </a:extLst>
          </p:cNvPr>
          <p:cNvSpPr/>
          <p:nvPr/>
        </p:nvSpPr>
        <p:spPr>
          <a:xfrm>
            <a:off x="-2" y="0"/>
            <a:ext cx="12192002" cy="713948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1" t="-226073" r="-109430" b="-2221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221826-FB15-5DA1-6707-F4C163C6CFDB}"/>
              </a:ext>
            </a:extLst>
          </p:cNvPr>
          <p:cNvSpPr/>
          <p:nvPr/>
        </p:nvSpPr>
        <p:spPr>
          <a:xfrm>
            <a:off x="-1" y="-93230"/>
            <a:ext cx="12192002" cy="7325942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4" t="-219047" r="-109427" b="-2152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11A8A3-B4EE-EB7E-9F2C-93D45BFD6D32}"/>
              </a:ext>
            </a:extLst>
          </p:cNvPr>
          <p:cNvSpPr/>
          <p:nvPr/>
        </p:nvSpPr>
        <p:spPr>
          <a:xfrm>
            <a:off x="-1" y="-2"/>
            <a:ext cx="12192001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2" t="-223154" r="-109429" b="-2179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233354-9791-7BF2-2983-D614F879A572}"/>
              </a:ext>
            </a:extLst>
          </p:cNvPr>
          <p:cNvSpPr/>
          <p:nvPr/>
        </p:nvSpPr>
        <p:spPr>
          <a:xfrm>
            <a:off x="-1" y="-2"/>
            <a:ext cx="12192000" cy="7232713"/>
          </a:xfrm>
          <a:custGeom>
            <a:avLst/>
            <a:gdLst/>
            <a:ahLst/>
            <a:cxnLst/>
            <a:rect l="l" t="t" r="r" b="b"/>
            <a:pathLst>
              <a:path w="49716989" h="49716989">
                <a:moveTo>
                  <a:pt x="0" y="0"/>
                </a:moveTo>
                <a:lnTo>
                  <a:pt x="49716989" y="0"/>
                </a:lnTo>
                <a:lnTo>
                  <a:pt x="49716989" y="49716989"/>
                </a:lnTo>
                <a:lnTo>
                  <a:pt x="0" y="4971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263" t="-223159" r="-109428" b="-2179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39F0D-B44A-F824-E008-8560A6309DBA}"/>
              </a:ext>
            </a:extLst>
          </p:cNvPr>
          <p:cNvSpPr txBox="1"/>
          <p:nvPr/>
        </p:nvSpPr>
        <p:spPr>
          <a:xfrm>
            <a:off x="1004473" y="3157343"/>
            <a:ext cx="5830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 Plan &amp;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EA642-D069-958E-A24D-5CB99B0F44AA}"/>
              </a:ext>
            </a:extLst>
          </p:cNvPr>
          <p:cNvCxnSpPr>
            <a:cxnSpLocks/>
          </p:cNvCxnSpPr>
          <p:nvPr/>
        </p:nvCxnSpPr>
        <p:spPr>
          <a:xfrm>
            <a:off x="8286904" y="6464483"/>
            <a:ext cx="3523342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B6A2FC1-11AA-1477-5B10-756FBF7DC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337" y="6552802"/>
            <a:ext cx="1121909" cy="2168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7E14C6E-C1B2-BAC8-41CB-FE011227B300}"/>
              </a:ext>
            </a:extLst>
          </p:cNvPr>
          <p:cNvSpPr txBox="1"/>
          <p:nvPr/>
        </p:nvSpPr>
        <p:spPr>
          <a:xfrm>
            <a:off x="8277097" y="6554237"/>
            <a:ext cx="212269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© 2026 Grant Thornton Bahrain.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Engagement Options - Report Within 5 Working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396" y="1230000"/>
            <a:ext cx="3654362" cy="50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ESSENTIAL   </a:t>
            </a:r>
            <a:r>
              <a:rPr sz="1400" b="0">
                <a:solidFill>
                  <a:srgbClr val="FFFFFF"/>
                </a:solidFill>
                <a:latin typeface="Arial"/>
              </a:rPr>
              <a:t>report by Day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730000"/>
            <a:ext cx="3654362" cy="2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96" y="1830000"/>
            <a:ext cx="3514362" cy="2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Kick-off call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Online questionnaire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GT analysis and quality review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Confidential PDF report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30-minute results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758" y="1230000"/>
            <a:ext cx="3654362" cy="50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STANDARD   </a:t>
            </a:r>
            <a:r>
              <a:rPr sz="1400" b="0">
                <a:solidFill>
                  <a:srgbClr val="FFFFFF"/>
                </a:solidFill>
                <a:latin typeface="Arial"/>
              </a:rPr>
              <a:t>report by Day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1730000"/>
            <a:ext cx="3654362" cy="2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758" y="1830000"/>
            <a:ext cx="3514362" cy="2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Everything in Essential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Multi-respondent input (risk, IT, business)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Review of key evidence provided with the questionnaire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Leadership debrief workshop (90 min)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Agreed 90-day action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3120" y="1230000"/>
            <a:ext cx="3654362" cy="5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PLUS   </a:t>
            </a:r>
            <a:r>
              <a:rPr sz="1400" b="0">
                <a:solidFill>
                  <a:srgbClr val="FFFFFF"/>
                </a:solidFill>
                <a:latin typeface="Arial"/>
              </a:rPr>
              <a:t>report by Day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1730000"/>
            <a:ext cx="3654362" cy="26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3120" y="1830000"/>
            <a:ext cx="3514362" cy="25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Everything in Standard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AI inventory risk-tiering of up to 10 AI systems (GT AI Risk Assessment Framework)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Board-ready summary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Follow-on options (scoped separately): RCM v2.1 control review, ISO/IEC 42001 gap assessment, AI security &amp; agent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4480000"/>
            <a:ext cx="11263086" cy="38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Timeline (all options)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4396" y="4930000"/>
            <a:ext cx="2188617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4F2D7F"/>
                </a:solidFill>
                <a:latin typeface="Arial"/>
              </a:rPr>
              <a:t>Day 1</a:t>
            </a:r>
          </a:p>
          <a:p>
            <a:pPr algn="ctr"/>
            <a:r>
              <a:rPr sz="1150" b="0">
                <a:solidFill>
                  <a:srgbClr val="4F2D7F"/>
                </a:solidFill>
                <a:latin typeface="Arial"/>
              </a:rPr>
              <a:t>Kick-off; questionnaire 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3013" y="4930000"/>
            <a:ext cx="2188617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4F2D7F"/>
                </a:solidFill>
                <a:latin typeface="Arial"/>
              </a:rPr>
              <a:t>Day 1-2</a:t>
            </a:r>
          </a:p>
          <a:p>
            <a:pPr algn="ctr"/>
            <a:r>
              <a:rPr sz="1150" b="0">
                <a:solidFill>
                  <a:srgbClr val="4F2D7F"/>
                </a:solidFill>
                <a:latin typeface="Arial"/>
              </a:rPr>
              <a:t>Client completes questionnaire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1630" y="4930000"/>
            <a:ext cx="2188617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4F2D7F"/>
                </a:solidFill>
                <a:latin typeface="Arial"/>
              </a:rPr>
              <a:t>Day 3-4</a:t>
            </a:r>
          </a:p>
          <a:p>
            <a:pPr algn="ctr"/>
            <a:r>
              <a:rPr sz="1150" b="0">
                <a:solidFill>
                  <a:srgbClr val="4F2D7F"/>
                </a:solidFill>
                <a:latin typeface="Arial"/>
              </a:rPr>
              <a:t>GT analysis &amp; quality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0247" y="4930000"/>
            <a:ext cx="2188617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4F2D7F"/>
                </a:solidFill>
                <a:latin typeface="Arial"/>
              </a:rPr>
              <a:t>Day 5</a:t>
            </a:r>
          </a:p>
          <a:p>
            <a:pPr algn="ctr"/>
            <a:r>
              <a:rPr sz="1150" b="0">
                <a:solidFill>
                  <a:srgbClr val="4F2D7F"/>
                </a:solidFill>
                <a:latin typeface="Arial"/>
              </a:rPr>
              <a:t>Report issued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98864" y="4930000"/>
            <a:ext cx="2188617" cy="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4F2D7F"/>
                </a:solidFill>
                <a:latin typeface="Arial"/>
              </a:rPr>
              <a:t>Day 5</a:t>
            </a:r>
          </a:p>
          <a:p>
            <a:pPr algn="ctr"/>
            <a:r>
              <a:rPr sz="1150" b="0">
                <a:solidFill>
                  <a:srgbClr val="4F2D7F"/>
                </a:solidFill>
                <a:latin typeface="Arial"/>
              </a:rPr>
              <a:t>Debrief &amp; action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396" y="5730000"/>
            <a:ext cx="11263086" cy="4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Fees are proposed per option once scope (entities, AI systems, respondents) is confirmed. Re-assessment after 6-12 months shows progress on the same scale.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pyright">
            <a:extLst>
              <a:ext uri="{FF2B5EF4-FFF2-40B4-BE49-F238E27FC236}">
                <a16:creationId xmlns:a16="http://schemas.microsoft.com/office/drawing/2014/main" id="{3B4D22EA-6C3B-5382-574E-D2753BFD7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553498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 dirty="0"/>
              <a:t>© 2026 Grant Thornton Bahrain. All rights reserved</a:t>
            </a:r>
            <a:endParaRPr lang="en-GB" altLang="en-US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0A6B9-45EB-DBF7-B946-D7EB6F9BC51B}"/>
              </a:ext>
            </a:extLst>
          </p:cNvPr>
          <p:cNvCxnSpPr/>
          <p:nvPr/>
        </p:nvCxnSpPr>
        <p:spPr>
          <a:xfrm>
            <a:off x="8179318" y="6529686"/>
            <a:ext cx="3502025" cy="0"/>
          </a:xfrm>
          <a:prstGeom prst="line">
            <a:avLst/>
          </a:prstGeom>
          <a:ln w="19050" cap="rnd">
            <a:solidFill>
              <a:srgbClr val="4F2D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3B2A613-D3C6-D0DC-6B04-CDC625527585}"/>
              </a:ext>
            </a:extLst>
          </p:cNvPr>
          <p:cNvSpPr txBox="1">
            <a:spLocks/>
          </p:cNvSpPr>
          <p:nvPr/>
        </p:nvSpPr>
        <p:spPr>
          <a:xfrm>
            <a:off x="8296275" y="6555086"/>
            <a:ext cx="2444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800" b="1" kern="1200">
                <a:solidFill>
                  <a:srgbClr val="4F2D7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D42419B-EEFE-4EEC-87E4-D75541E4ADAF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C4E759-2976-C340-AC49-7D86E7CA1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1023" y="6594029"/>
            <a:ext cx="668633" cy="12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396" y="400000"/>
            <a:ext cx="11263086" cy="56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F2D7F"/>
                </a:solidFill>
                <a:latin typeface="Arial"/>
              </a:rPr>
              <a:t>Deliverables, Client Inputs and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4396" y="1230000"/>
            <a:ext cx="3654362" cy="420000"/>
          </a:xfrm>
          <a:prstGeom prst="rect">
            <a:avLst/>
          </a:prstGeom>
          <a:solidFill>
            <a:srgbClr val="4F2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DELIVERABLES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396" y="1650000"/>
            <a:ext cx="3654362" cy="3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96" y="1750000"/>
            <a:ext cx="3514362" cy="3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Confidential AI Readiness &amp; Risk Assessment report (PDF) by Day 5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Readiness by domain and overall maturity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Inherent AI risk tier, exposure and pathway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Findings, top-5 priorities and roadmap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Regulatory considerations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Debrief presentation (Standard / Plus)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758" y="1230000"/>
            <a:ext cx="3654362" cy="420000"/>
          </a:xfrm>
          <a:prstGeom prst="rect">
            <a:avLst/>
          </a:prstGeom>
          <a:solidFill>
            <a:srgbClr val="7B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FROM THE 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758" y="1650000"/>
            <a:ext cx="3654362" cy="3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758" y="1750000"/>
            <a:ext cx="3514362" cy="3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An executive sponsor and a coordinator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Completed questionnaire by Day 2 (about 45 minutes)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Optional evidence: AI policy, AI inventory, risk register, vendor contracts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Availability for the debrief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3120" y="1230000"/>
            <a:ext cx="3654362" cy="420000"/>
          </a:xfrm>
          <a:prstGeom prst="rect">
            <a:avLst/>
          </a:prstGeom>
          <a:solidFill>
            <a:srgbClr val="00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STANDARDS &amp; FRAMEWORKS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3120" y="1650000"/>
            <a:ext cx="3654362" cy="3700000"/>
          </a:xfrm>
          <a:prstGeom prst="rect">
            <a:avLst/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3120" y="1750000"/>
            <a:ext cx="3514362" cy="36000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GT AI Ready7 maturity model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NSW AI Assessment Framework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ISO/IEC 42001, ISO/IEC 23894, ISO/IEC 42005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NIST AI RMF 1.0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EU AI Act; Bahrain PDPL; CBB; iGA AI Policy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222222"/>
                </a:solidFill>
                <a:latin typeface="Arial"/>
              </a:rPr>
              <a:t>•  ISACA Securing AI Agents (2026); OWASP LLM Top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396" y="5480000"/>
            <a:ext cx="11263086" cy="60000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Natural next step: </a:t>
            </a:r>
            <a:r>
              <a:rPr sz="1150" b="0">
                <a:solidFill>
                  <a:srgbClr val="FFFFFF"/>
                </a:solidFill>
                <a:latin typeface="Arial"/>
              </a:rPr>
              <a:t>the GT AI Strategy &amp; Roadmap service uses the Opportunity Discovery Toolkit to show WHERE AI fits - the readiness assessment shows HOW READY the organisation is to adopt it safely. Both can run together within the same 5 working days.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A46A0A1A-B19E-0BFC-6EEF-260FF5AB704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9" name="Picture 3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A3A203B-D766-3AEA-9F50-6032B251B3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931" y="669123"/>
            <a:ext cx="1971437" cy="384947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329E1795-73BD-0E0E-ED10-5D29E643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7100" y="6489700"/>
            <a:ext cx="3216275" cy="246063"/>
          </a:xfrm>
          <a:prstGeom prst="rect">
            <a:avLst/>
          </a:prstGeom>
          <a:noFill/>
          <a:ln>
            <a:noFill/>
          </a:ln>
        </p:spPr>
        <p:txBody>
          <a:bodyPr lIns="0" r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Grant Thornton Bahrain. All rights reserved</a:t>
            </a:r>
            <a:endParaRPr kumimoji="0" lang="en-GB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A4DDDF-97D9-D0B9-B463-C091F6493B4C}"/>
              </a:ext>
            </a:extLst>
          </p:cNvPr>
          <p:cNvCxnSpPr>
            <a:cxnSpLocks/>
          </p:cNvCxnSpPr>
          <p:nvPr/>
        </p:nvCxnSpPr>
        <p:spPr>
          <a:xfrm>
            <a:off x="8187070" y="6465888"/>
            <a:ext cx="3611230" cy="0"/>
          </a:xfrm>
          <a:prstGeom prst="line">
            <a:avLst/>
          </a:prstGeom>
          <a:ln w="19050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885719-5C02-DCBF-DF94-A69A46A2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757" y="6542074"/>
            <a:ext cx="783618" cy="1514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C2AB6E-E684-4F3A-C6AF-FD54CA90F340}"/>
              </a:ext>
            </a:extLst>
          </p:cNvPr>
          <p:cNvSpPr txBox="1"/>
          <p:nvPr/>
        </p:nvSpPr>
        <p:spPr>
          <a:xfrm>
            <a:off x="1993614" y="2775950"/>
            <a:ext cx="7999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82834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I Tech Agency Infographics by Slidesgo">
  <a:themeElements>
    <a:clrScheme name="2024 GT Brand Colours">
      <a:dk1>
        <a:sysClr val="windowText" lastClr="000000"/>
      </a:dk1>
      <a:lt1>
        <a:sysClr val="window" lastClr="FFFFFF"/>
      </a:lt1>
      <a:dk2>
        <a:srgbClr val="2B144D"/>
      </a:dk2>
      <a:lt2>
        <a:srgbClr val="F2F0EE"/>
      </a:lt2>
      <a:accent1>
        <a:srgbClr val="4F2D7F"/>
      </a:accent1>
      <a:accent2>
        <a:srgbClr val="00A4B3"/>
      </a:accent2>
      <a:accent3>
        <a:srgbClr val="A06DFF"/>
      </a:accent3>
      <a:accent4>
        <a:srgbClr val="FFC23D"/>
      </a:accent4>
      <a:accent5>
        <a:srgbClr val="FF5149"/>
      </a:accent5>
      <a:accent6>
        <a:srgbClr val="E0DCD7"/>
      </a:accent6>
      <a:hlink>
        <a:srgbClr val="CE2C2C"/>
      </a:hlink>
      <a:folHlink>
        <a:srgbClr val="2B144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BCE743941B38499BA0828BD6747A51" ma:contentTypeVersion="14" ma:contentTypeDescription="Create a new document." ma:contentTypeScope="" ma:versionID="5b5103ee929778762073fe6fa317c747">
  <xsd:schema xmlns:xsd="http://www.w3.org/2001/XMLSchema" xmlns:xs="http://www.w3.org/2001/XMLSchema" xmlns:p="http://schemas.microsoft.com/office/2006/metadata/properties" xmlns:ns2="5e0ef65a-1ea4-4b7d-b000-a53661fd6977" xmlns:ns3="85621b14-c816-4f8e-852d-41713515fa48" targetNamespace="http://schemas.microsoft.com/office/2006/metadata/properties" ma:root="true" ma:fieldsID="137ff7116f4ec37242bcc4c84de4ffe6" ns2:_="" ns3:_="">
    <xsd:import namespace="5e0ef65a-1ea4-4b7d-b000-a53661fd6977"/>
    <xsd:import namespace="85621b14-c816-4f8e-852d-41713515fa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ef65a-1ea4-4b7d-b000-a53661fd69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c99e683d-467f-4dfa-9912-3e70df3bffd8}" ma:internalName="TaxCatchAll" ma:showField="CatchAllData" ma:web="5e0ef65a-1ea4-4b7d-b000-a53661fd69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621b14-c816-4f8e-852d-41713515fa4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1eeafb0-3949-4f31-85ca-d6b5cf5d88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621b14-c816-4f8e-852d-41713515fa48">
      <Terms xmlns="http://schemas.microsoft.com/office/infopath/2007/PartnerControls"/>
    </lcf76f155ced4ddcb4097134ff3c332f>
    <TaxCatchAll xmlns="5e0ef65a-1ea4-4b7d-b000-a53661fd69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F2BD41-BE98-4252-9DDA-C8535B0DAFC0}">
  <ds:schemaRefs>
    <ds:schemaRef ds:uri="5e0ef65a-1ea4-4b7d-b000-a53661fd6977"/>
    <ds:schemaRef ds:uri="85621b14-c816-4f8e-852d-41713515fa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1EE9459-EFE9-4808-8BC6-7BD989BABDE1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85621b14-c816-4f8e-852d-41713515fa48"/>
    <ds:schemaRef ds:uri="http://schemas.microsoft.com/office/infopath/2007/PartnerControls"/>
    <ds:schemaRef ds:uri="5e0ef65a-1ea4-4b7d-b000-a53661fd6977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5F560F-52AE-4DA0-95BC-B02FDADBA8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36392</TotalTime>
  <Words>3295</Words>
  <Application>Microsoft Office PowerPoint</Application>
  <PresentationFormat>Widescreen</PresentationFormat>
  <Paragraphs>385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Fira Sans Condensed</vt:lpstr>
      <vt:lpstr>Fira Sans Condensed Light</vt:lpstr>
      <vt:lpstr>GT Walsheim Pro Bold</vt:lpstr>
      <vt:lpstr>GT Walsheim Pro Regular</vt:lpstr>
      <vt:lpstr>Lato Light</vt:lpstr>
      <vt:lpstr>Poppins</vt:lpstr>
      <vt:lpstr>Rajdhani</vt:lpstr>
      <vt:lpstr>Office Theme</vt:lpstr>
      <vt:lpstr>AI Tech Agency Infographics by Slidesgo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Kajal Rajusth</dc:creator>
  <cp:lastModifiedBy>Mahek Trivedi</cp:lastModifiedBy>
  <cp:revision>84</cp:revision>
  <dcterms:created xsi:type="dcterms:W3CDTF">2024-04-22T06:15:53Z</dcterms:created>
  <dcterms:modified xsi:type="dcterms:W3CDTF">2026-09-24T13:08:32Z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0x01010042BCE743941B38499BA0828BD6747A51</vt:lpwstr>
  </property>
  <property fmtid="{D5CDD505-2E9C-101B-9397-08002B2CF9AE}" pid="3" name="MediaServiceImageTags">
    <vt:lpwstr/>
  </property>
</Properties>
</file>