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28"/>
  </p:notesMasterIdLst>
  <p:sldIdLst>
    <p:sldId id="2141411893" r:id="rId7"/>
    <p:sldId id="2141411894" r:id="rId8"/>
    <p:sldId id="2141411913" r:id="rId9"/>
    <p:sldId id="2141411895" r:id="rId10"/>
    <p:sldId id="2141411896" r:id="rId11"/>
    <p:sldId id="2141411897" r:id="rId12"/>
    <p:sldId id="2141411898" r:id="rId13"/>
    <p:sldId id="2141411899" r:id="rId14"/>
    <p:sldId id="2141411900" r:id="rId15"/>
    <p:sldId id="2141411901" r:id="rId16"/>
    <p:sldId id="2141411902" r:id="rId17"/>
    <p:sldId id="2141411903" r:id="rId18"/>
    <p:sldId id="2141411904" r:id="rId19"/>
    <p:sldId id="2141411905" r:id="rId20"/>
    <p:sldId id="2141411906" r:id="rId21"/>
    <p:sldId id="2141411907" r:id="rId22"/>
    <p:sldId id="2141411908" r:id="rId23"/>
    <p:sldId id="2141411909" r:id="rId24"/>
    <p:sldId id="2141411910" r:id="rId25"/>
    <p:sldId id="2141411914" r:id="rId36"/>
    <p:sldId id="2141411915" r:id="rId37"/>
    <p:sldId id="2141411916" r:id="rId38"/>
    <p:sldId id="2141411911" r:id="rId26"/>
    <p:sldId id="214141191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008A"/>
    <a:srgbClr val="004850"/>
    <a:srgbClr val="304C88"/>
    <a:srgbClr val="4F2D7F"/>
    <a:srgbClr val="A06DFF"/>
    <a:srgbClr val="2B144D"/>
    <a:srgbClr val="C6ADEA"/>
    <a:srgbClr val="6611FF"/>
    <a:srgbClr val="0F9ED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3447" autoAdjust="0"/>
  </p:normalViewPr>
  <p:slideViewPr>
    <p:cSldViewPr snapToGrid="0">
      <p:cViewPr>
        <p:scale>
          <a:sx n="75" d="100"/>
          <a:sy n="75" d="100"/>
        </p:scale>
        <p:origin x="1022" y="504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Relationship Id="rId35" Type="http://schemas.microsoft.com/office/2018/10/relationships/authors" Target="authors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AI Ready7 score (%)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1-FAAA-4C1E-A74A-B9FF93CC344A}"/>
              </c:ext>
            </c:extLst>
          </c:dPt>
          <c:dPt>
            <c:idx val="1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3-FAAA-4C1E-A74A-B9FF93CC344A}"/>
              </c:ext>
            </c:extLst>
          </c:dPt>
          <c:dPt>
            <c:idx val="2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5-FAAA-4C1E-A74A-B9FF93CC344A}"/>
              </c:ext>
            </c:extLst>
          </c:dPt>
          <c:dPt>
            <c:idx val="3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7-FAAA-4C1E-A74A-B9FF93CC344A}"/>
              </c:ext>
            </c:extLst>
          </c:dPt>
          <c:dPt>
            <c:idx val="4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9-FAAA-4C1E-A74A-B9FF93CC344A}"/>
              </c:ext>
            </c:extLst>
          </c:dPt>
          <c:dPt>
            <c:idx val="5"/>
            <c:invertIfNegative val="1"/>
            <c:bubble3D val="0"/>
            <c:spPr>
              <a:solidFill>
                <a:srgbClr val="E8705F"/>
              </a:solidFill>
            </c:spPr>
            <c:extLst>
              <c:ext xmlns:c16="http://schemas.microsoft.com/office/drawing/2014/chart" uri="{C3380CC4-5D6E-409C-BE32-E72D297353CC}">
                <c16:uniqueId val="{0000000B-FAAA-4C1E-A74A-B9FF93CC344A}"/>
              </c:ext>
            </c:extLst>
          </c:dPt>
          <c:dPt>
            <c:idx val="6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D-FAAA-4C1E-A74A-B9FF93CC344A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Business Alignment</c:v>
                </c:pt>
                <c:pt idx="1">
                  <c:v>Governance &amp; Ethics</c:v>
                </c:pt>
                <c:pt idx="2">
                  <c:v>Training &amp; Development</c:v>
                </c:pt>
                <c:pt idx="3">
                  <c:v>Architecture &amp; Technology</c:v>
                </c:pt>
                <c:pt idx="4">
                  <c:v>Data &amp; Quality</c:v>
                </c:pt>
                <c:pt idx="5">
                  <c:v>Protect AI Systems</c:v>
                </c:pt>
                <c:pt idx="6">
                  <c:v>Protection from AI Threats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50</c:v>
                </c:pt>
                <c:pt idx="1">
                  <c:v>60</c:v>
                </c:pt>
                <c:pt idx="2">
                  <c:v>68.75</c:v>
                </c:pt>
                <c:pt idx="3">
                  <c:v>55</c:v>
                </c:pt>
                <c:pt idx="4">
                  <c:v>70</c:v>
                </c:pt>
                <c:pt idx="5">
                  <c:v>55</c:v>
                </c:pt>
                <c:pt idx="6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FAAA-4C1E-A74A-B9FF93CC344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t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  <c:majorUnit val="25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10/4/2026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15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29.jpeg"/><Relationship Id="rId3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1.png"/><Relationship Id="rId5" Type="http://schemas.openxmlformats.org/officeDocument/2006/relationships/image" Target="../media/image15.png"/><Relationship Id="rId6" Type="http://schemas.openxmlformats.org/officeDocument/2006/relationships/image" Target="../media/image32.png"/><Relationship Id="rId7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26.png"/><Relationship Id="rId5" Type="http://schemas.openxmlformats.org/officeDocument/2006/relationships/image" Target="../media/image21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9.png"/><Relationship Id="rId6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19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29.jpeg"/><Relationship Id="rId3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Relationship Id="rId5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image" Target="../media/image12.png"/><Relationship Id="rId5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Relationship Id="rId5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Relationship Id="rId5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2.png"/><Relationship Id="rId5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Readiness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Risk Assessment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Proposal  |  October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Placeholder 33" descr="Abstract background of data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85" r="26485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rgbClr val="0048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rgbClr val="3100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3459D4-4AF6-6F47-8BB4-1CA1BBA68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Why AI Readiness Matters Now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006F5-1C04-4972-41F2-04748EC080EE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055BF-7125-8B17-C755-56ADD56F160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3B38F-803F-E011-B715-1E592BF45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5A2760F-4C29-FD80-F2C0-2D5EA36B7BDD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4CAA9825-59F6-5A15-059C-497AB6525B89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27AEEA94-A964-D111-DE54-B641C2D23E45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AB3168E6-2681-8853-F77E-D01C3517A6F5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DB12C8-1698-0770-C567-BEFC297CDB26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Why AI Readiness Matters Now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902F58-77A1-AF97-4F2C-D77955E40D89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1955B4-4E3B-B846-6234-10D024666E45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4AE5AD-E238-8918-BC34-4ACB64D50E69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15658A-C26E-929D-3947-61F49C63C96D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9DDF0-EAEA-0A58-FA51-92881C3C9761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  <p:extLst>
      <p:ext uri="{BB962C8B-B14F-4D97-AF65-F5344CB8AC3E}">
        <p14:creationId xmlns:p14="http://schemas.microsoft.com/office/powerpoint/2010/main" val="494922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Shift Has Already Happened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has moved from experiment to infrastructure. The competitive question in 2026 isn't whether your peers are using it - it's how far ahead they already 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3654362" cy="19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96" y="1550000"/>
            <a:ext cx="620000" cy="62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4396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78-88%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4396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Enterprise AI adoption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396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of organisations report using AI in at least one business function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380000"/>
            <a:ext cx="3654362" cy="19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c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8758" y="1550000"/>
            <a:ext cx="620000" cy="6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78758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$407B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8758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Worldwide AI spending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8758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34.8% annual growth in AI and GenAI spending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120" y="1380000"/>
            <a:ext cx="3654362" cy="19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c_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3120" y="1550000"/>
            <a:ext cx="620000" cy="62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983120" y="1500000"/>
            <a:ext cx="2754362" cy="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$15.7T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3120" y="2180000"/>
            <a:ext cx="2754362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Global economic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3120" y="2630000"/>
            <a:ext cx="3354362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</a:rPr>
              <a:t>potential contribution of AI to the global economy by 2030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3430000"/>
            <a:ext cx="5556543" cy="3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means for leadership teams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3880000"/>
            <a:ext cx="5556543" cy="1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AI is already inside the organisation - in staff tools, purchased software and suppliers' services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Value goes to organisations that scale AI safely, not those that run the most pilots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Boards, regulators and clients increasingly ask for evidence that AI is governed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0939" y="3430000"/>
            <a:ext cx="5556543" cy="38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In Bahrain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0939" y="3860000"/>
            <a:ext cx="5556543" cy="1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Economic Vision 2030 positions AI as a lever for productivity and diversification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iGA General Policy for the Use of AI (2025) sets expectations for compliance, adoption and awareness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•  Bahrain PDPL applies whenever AI processes personal data; sector regulators (CBB, NHRA, TRA) expect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McKinsey's State of AI 2025 Survey; IDC's Worldwide AI and Generative AI Spending Guide 2025.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AI Unlocks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delivers measurable outcomes across the organisation - when it is adopted with the right foundations.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64617" cy="5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ge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96" y="1430000"/>
            <a:ext cx="460000" cy="4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4396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Automate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4396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4F2D7F"/>
                </a:solidFill>
                <a:latin typeface="Arial"/>
              </a:rPr>
              <a:t>-27%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96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operational costs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JPM Coin turns deposits into on-chain, programmable, always-on digital money.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9013" y="1380000"/>
            <a:ext cx="2164617" cy="56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9013" y="1430000"/>
            <a:ext cx="460000" cy="4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59013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9013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ex_analyz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9013" y="1980000"/>
            <a:ext cx="2084617" cy="13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99013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7B5BA6"/>
                </a:solidFill>
                <a:latin typeface="Arial"/>
              </a:rPr>
              <a:t>-31%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9013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downtime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9013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Shell scales AI-fuelled predictive maintenance to 10,000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3630" y="1380000"/>
            <a:ext cx="2164617" cy="5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630" y="1430000"/>
            <a:ext cx="460000" cy="4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33630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Generate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3630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73630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00A7B5"/>
                </a:solidFill>
                <a:latin typeface="Arial"/>
              </a:rPr>
              <a:t>+26-60%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3630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developer productivity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3630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AI coding assistants accelerate software delivery.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48247" y="1380000"/>
            <a:ext cx="2164617" cy="5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c_da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8247" y="1430000"/>
            <a:ext cx="460000" cy="46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08247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48247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ex_predi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8247" y="1980000"/>
            <a:ext cx="2084617" cy="130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48247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2E1A47"/>
                </a:solidFill>
                <a:latin typeface="Arial"/>
              </a:rPr>
              <a:t>22%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8247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efficiency gains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48247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UPS ORION optimises delivery routes with advanced analytics.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22864" y="1380000"/>
            <a:ext cx="2164617" cy="5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c_pers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92864" y="1430000"/>
            <a:ext cx="460000" cy="460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182864" y="1460000"/>
            <a:ext cx="1564617" cy="4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Assist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22864" y="1940000"/>
            <a:ext cx="2164617" cy="13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ex_assi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62864" y="1980000"/>
            <a:ext cx="2084617" cy="1300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22864" y="3360000"/>
            <a:ext cx="2164617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E8705F"/>
                </a:solidFill>
                <a:latin typeface="Arial"/>
              </a:rPr>
              <a:t>&lt;2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22864" y="3900000"/>
            <a:ext cx="2164617" cy="33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</a:rPr>
              <a:t>resolution time  |  +$40M profit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22864" y="4260000"/>
            <a:ext cx="2164617" cy="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Klarna's AI assistant handled two-thirds of customer-service chats in its first month.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4396" y="5310000"/>
            <a:ext cx="11263086" cy="5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The same capabilities create new risks </a:t>
            </a:r>
            <a:r>
              <a:rPr sz="1200" b="0">
                <a:solidFill>
                  <a:srgbClr val="FFFFFF"/>
                </a:solidFill>
                <a:latin typeface="Arial"/>
              </a:rPr>
              <a:t>- to data, decisions, customers and compliance - unless governance keeps pace. That is what this assessment measures.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4396" y="588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McKinsey's State of AI 2025 Survey; IDC's Worldwide AI and Generative AI Spending Guide 2025.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13FDE5-DD06-8106-C03F-F2BA75001810}"/>
              </a:ext>
            </a:extLst>
          </p:cNvPr>
          <p:cNvSpPr/>
          <p:nvPr/>
        </p:nvSpPr>
        <p:spPr>
          <a:xfrm>
            <a:off x="566348" y="1980000"/>
            <a:ext cx="2084617" cy="1290000"/>
          </a:xfrm>
          <a:prstGeom prst="rect">
            <a:avLst/>
          </a:prstGeom>
          <a:solidFill>
            <a:srgbClr val="304C8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702E2983-F480-17CC-955D-65328C888208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20645"/>
          <a:stretch>
            <a:fillRect/>
          </a:stretch>
        </p:blipFill>
        <p:spPr>
          <a:xfrm>
            <a:off x="570158" y="1980000"/>
            <a:ext cx="2086943" cy="1310000"/>
          </a:xfrm>
          <a:prstGeom prst="roundRect">
            <a:avLst>
              <a:gd name="adj" fmla="val 1959"/>
            </a:avLst>
          </a:prstGeom>
          <a:effectLst>
            <a:softEdge rad="63500"/>
          </a:effectLst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03B19232-1F4C-D728-AB38-1C3C3AFB7612}"/>
              </a:ext>
            </a:extLst>
          </p:cNvPr>
          <p:cNvSpPr/>
          <p:nvPr/>
        </p:nvSpPr>
        <p:spPr>
          <a:xfrm>
            <a:off x="5113583" y="1981430"/>
            <a:ext cx="2084617" cy="1290000"/>
          </a:xfrm>
          <a:prstGeom prst="rect">
            <a:avLst/>
          </a:prstGeom>
          <a:solidFill>
            <a:srgbClr val="304C8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Kiro Interface - IDE - Docs - Kiro">
            <a:extLst>
              <a:ext uri="{FF2B5EF4-FFF2-40B4-BE49-F238E27FC236}">
                <a16:creationId xmlns:a16="http://schemas.microsoft.com/office/drawing/2014/main" id="{C71551D2-063C-D62F-0A61-2ED30685BD4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62549" y="2011905"/>
            <a:ext cx="2002155" cy="1215248"/>
          </a:xfrm>
          <a:prstGeom prst="roundRect">
            <a:avLst>
              <a:gd name="adj" fmla="val 34"/>
            </a:avLst>
          </a:prstGeom>
          <a:effectLst>
            <a:softEdge rad="1270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AI Adoption Maturity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25758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dirty="0" err="1">
                <a:solidFill>
                  <a:srgbClr val="595959"/>
                </a:solidFill>
                <a:latin typeface="Arial"/>
              </a:rPr>
              <a:t>Organisations</a:t>
            </a:r>
            <a:r>
              <a:rPr sz="1150" b="0" dirty="0">
                <a:solidFill>
                  <a:srgbClr val="595959"/>
                </a:solidFill>
                <a:latin typeface="Arial"/>
              </a:rPr>
              <a:t> move from awareness to governed, enterprise-wide AI - and the governance required rises at every stage. </a:t>
            </a:r>
            <a:endParaRPr lang="en-US" sz="1150" b="0" dirty="0">
              <a:solidFill>
                <a:srgbClr val="595959"/>
              </a:solidFill>
              <a:latin typeface="Arial"/>
            </a:endParaRPr>
          </a:p>
          <a:p>
            <a:pPr algn="l">
              <a:spcAft>
                <a:spcPts val="200"/>
              </a:spcAft>
            </a:pPr>
            <a:r>
              <a:rPr sz="1150" b="0" dirty="0">
                <a:solidFill>
                  <a:srgbClr val="595959"/>
                </a:solidFill>
                <a:latin typeface="Arial"/>
              </a:rPr>
              <a:t>Example: JPMorgan Chase LLM Suite (2023-2025).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3130000"/>
            <a:ext cx="2180617" cy="7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4396" y="319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4F2D7F"/>
                </a:solidFill>
                <a:latin typeface="Arial"/>
              </a:rPr>
              <a:t>1  Awareness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396" y="3560000"/>
            <a:ext cx="2080617" cy="2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Late 2022-2023: </a:t>
            </a:r>
            <a:r>
              <a:rPr sz="950" b="0">
                <a:solidFill>
                  <a:srgbClr val="222222"/>
                </a:solidFill>
                <a:latin typeface="Arial"/>
              </a:rPr>
              <a:t>Pilots &amp; hackathons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Acceptable-use policy; AI literacy; ban on client data in public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5013" y="2800000"/>
            <a:ext cx="2180617" cy="10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845013" y="286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2  Use-case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5013" y="3230000"/>
            <a:ext cx="2080617" cy="5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Early-mid 2024: </a:t>
            </a:r>
            <a:r>
              <a:rPr sz="950" b="0">
                <a:solidFill>
                  <a:srgbClr val="FFFFFF"/>
                </a:solidFill>
                <a:latin typeface="Arial"/>
              </a:rPr>
              <a:t>Initial rollout to 60,000 employees, usage tracked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95013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inventory; use-case intake; owner for every tool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5630" y="2470000"/>
            <a:ext cx="2180617" cy="13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15630" y="253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3  Controlled adoption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5630" y="2900000"/>
            <a:ext cx="2080617" cy="91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Late 2024: </a:t>
            </a:r>
            <a:r>
              <a:rPr sz="950" b="0">
                <a:solidFill>
                  <a:srgbClr val="FFFFFF"/>
                </a:solidFill>
                <a:latin typeface="Arial"/>
              </a:rPr>
              <a:t>Opt-in scaling to 140,000-200,000 employees in 8 months, proving ROI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630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Risk assessment by tier; human oversight; vendor due diligence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36247" y="2140000"/>
            <a:ext cx="2180617" cy="169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86247" y="220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4  Enterprise enablement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6247" y="2570000"/>
            <a:ext cx="2080617" cy="124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Late 2025: </a:t>
            </a:r>
            <a:r>
              <a:rPr sz="950" b="0">
                <a:solidFill>
                  <a:srgbClr val="FFFFFF"/>
                </a:solidFill>
                <a:latin typeface="Arial"/>
              </a:rPr>
              <a:t>Multi-model, firm-wide use by 250,000+ employees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36247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committee; monitoring &amp; KRIs; secure architecture; model validation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6864" y="1810000"/>
            <a:ext cx="2180617" cy="20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56864" y="1870000"/>
            <a:ext cx="2080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5  Governance maturity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864" y="2240000"/>
            <a:ext cx="2080617" cy="15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2025 onward: </a:t>
            </a:r>
            <a:r>
              <a:rPr sz="950" b="0">
                <a:solidFill>
                  <a:srgbClr val="FFFFFF"/>
                </a:solidFill>
                <a:latin typeface="Arial"/>
              </a:rPr>
              <a:t>Oversight &amp; controls embedded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6864" y="3910000"/>
            <a:ext cx="2180617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Board oversight; assurance; ISO/IEC 42001-aligned management 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396" y="5000000"/>
            <a:ext cx="11263086" cy="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4396" y="5060000"/>
            <a:ext cx="11263086" cy="2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4F2D7F"/>
                </a:solidFill>
                <a:latin typeface="Arial"/>
              </a:rPr>
              <a:t>Governance focus needed at each stage (what the assessment checks)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4396" y="556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Where are you on the curve? </a:t>
            </a:r>
            <a:r>
              <a:rPr sz="1100" b="0">
                <a:solidFill>
                  <a:srgbClr val="FFFFFF"/>
                </a:solidFill>
                <a:latin typeface="Arial"/>
              </a:rPr>
              <a:t>The assessment places the organisation on this journey and shows what must be in place - governance, risk, skills, strategy and data - to move up safely.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6110000"/>
            <a:ext cx="11263086" cy="2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Source: JPMorgan Chase public disclosures on LLM Suite adoption (2023-2025).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Organisations Are Moving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commercial pressure for AI adoption is becoming difficult to ignore - but adoption is moving faster than governance.</a:t>
            </a:r>
          </a:p>
        </p:txBody>
      </p:sp>
      <p:sp>
        <p:nvSpPr>
          <p:cNvPr id="10" name="Hexagon 9"/>
          <p:cNvSpPr/>
          <p:nvPr/>
        </p:nvSpPr>
        <p:spPr>
          <a:xfrm>
            <a:off x="2454396" y="2470000"/>
            <a:ext cx="1240000" cy="720000"/>
          </a:xfrm>
          <a:prstGeom prst="hexagon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4F2D7F"/>
                </a:solidFill>
                <a:latin typeface="Arial"/>
              </a:rPr>
              <a:t>AI adoption</a:t>
            </a:r>
          </a:p>
        </p:txBody>
      </p:sp>
      <p:sp>
        <p:nvSpPr>
          <p:cNvPr id="11" name="Hexagon 10"/>
          <p:cNvSpPr/>
          <p:nvPr/>
        </p:nvSpPr>
        <p:spPr>
          <a:xfrm>
            <a:off x="2374396" y="1450000"/>
            <a:ext cx="1400000" cy="600000"/>
          </a:xfrm>
          <a:prstGeom prst="hexagon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Faster decision cycles</a:t>
            </a:r>
          </a:p>
        </p:txBody>
      </p:sp>
      <p:sp>
        <p:nvSpPr>
          <p:cNvPr id="12" name="Hexagon 11"/>
          <p:cNvSpPr/>
          <p:nvPr/>
        </p:nvSpPr>
        <p:spPr>
          <a:xfrm>
            <a:off x="3889940" y="1990000"/>
            <a:ext cx="1400000" cy="600000"/>
          </a:xfrm>
          <a:prstGeom prst="hexag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Productivity pressure</a:t>
            </a:r>
          </a:p>
        </p:txBody>
      </p:sp>
      <p:sp>
        <p:nvSpPr>
          <p:cNvPr id="13" name="Hexagon 12"/>
          <p:cNvSpPr/>
          <p:nvPr/>
        </p:nvSpPr>
        <p:spPr>
          <a:xfrm>
            <a:off x="3889940" y="3070000"/>
            <a:ext cx="1400000" cy="600000"/>
          </a:xfrm>
          <a:prstGeom prst="hexag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Cost optimisation</a:t>
            </a:r>
          </a:p>
        </p:txBody>
      </p:sp>
      <p:sp>
        <p:nvSpPr>
          <p:cNvPr id="14" name="Hexagon 13"/>
          <p:cNvSpPr/>
          <p:nvPr/>
        </p:nvSpPr>
        <p:spPr>
          <a:xfrm>
            <a:off x="2374396" y="3610000"/>
            <a:ext cx="1400000" cy="600000"/>
          </a:xfrm>
          <a:prstGeom prst="hexag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Customer expectations</a:t>
            </a:r>
          </a:p>
        </p:txBody>
      </p:sp>
      <p:sp>
        <p:nvSpPr>
          <p:cNvPr id="15" name="Hexagon 14"/>
          <p:cNvSpPr/>
          <p:nvPr/>
        </p:nvSpPr>
        <p:spPr>
          <a:xfrm>
            <a:off x="858851" y="3070000"/>
            <a:ext cx="1400000" cy="600000"/>
          </a:xfrm>
          <a:prstGeom prst="hexag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volume growth</a:t>
            </a:r>
          </a:p>
        </p:txBody>
      </p:sp>
      <p:sp>
        <p:nvSpPr>
          <p:cNvPr id="16" name="Hexagon 15"/>
          <p:cNvSpPr/>
          <p:nvPr/>
        </p:nvSpPr>
        <p:spPr>
          <a:xfrm>
            <a:off x="858851" y="1990000"/>
            <a:ext cx="1400000" cy="600000"/>
          </a:xfrm>
          <a:prstGeom prst="hexag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Competitive pressure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24396" y="1380000"/>
            <a:ext cx="5763086" cy="4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But adoption is moving faster than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24396" y="1900000"/>
            <a:ext cx="5763086" cy="1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</a:rPr>
              <a:t>Example: </a:t>
            </a:r>
            <a:r>
              <a:rPr sz="1100" b="0">
                <a:solidFill>
                  <a:srgbClr val="222222"/>
                </a:solidFill>
                <a:latin typeface="Arial"/>
              </a:rPr>
              <a:t>Morgan Stanley deployed Microsoft 365 Copilot and AI assistants to thousands of financial advisors - less time searching internal documents, more time serving clients and faster responses.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24396" y="3130000"/>
            <a:ext cx="5763086" cy="10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4F2D7F"/>
                </a:solidFill>
                <a:latin typeface="Arial"/>
              </a:rPr>
              <a:t>“Bahrain's National AI Strategy promotes embedding AI in finance and operations while requiring governance to support economic diversification and regulatory compliance.”</a:t>
            </a:r>
          </a:p>
          <a:p>
            <a:pPr algn="l"/>
            <a:r>
              <a:rPr sz="1050" b="1">
                <a:solidFill>
                  <a:srgbClr val="4F2D7F"/>
                </a:solidFill>
                <a:latin typeface="Arial"/>
              </a:rPr>
              <a:t>Information &amp; eGovernment Authority (iGA), Bahrain AI Report,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396" y="4330000"/>
            <a:ext cx="11263086" cy="3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When governance lags behind adoption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4396" y="4820000"/>
            <a:ext cx="520000" cy="520000"/>
          </a:xfrm>
          <a:prstGeom prst="ellips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96" y="4820000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84396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Shadow AI &amp; data leakage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96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Staff paste confidential or personal data into public AI tools.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67667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437667" y="4820000"/>
            <a:ext cx="520000" cy="520000"/>
          </a:xfrm>
          <a:prstGeom prst="ellipse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67" y="4820000"/>
            <a:ext cx="520000" cy="52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027667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Unreliable or biased outputs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7667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Errors and bias reach customers and decisions unchecked.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0938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280938" y="4820000"/>
            <a:ext cx="520000" cy="520000"/>
          </a:xfrm>
          <a:prstGeom prst="ellipse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0938" y="4820000"/>
            <a:ext cx="520000" cy="520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70938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Regulatory exposure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938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PDPL, sector-regulator and EU AI Act obligations missed.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54209" y="4740000"/>
            <a:ext cx="2733271" cy="1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124209" y="4820000"/>
            <a:ext cx="520000" cy="520000"/>
          </a:xfrm>
          <a:prstGeom prst="ellipse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c_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209" y="4820000"/>
            <a:ext cx="520000" cy="520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14209" y="4780000"/>
            <a:ext cx="2033271" cy="6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2D7F"/>
                </a:solidFill>
                <a:latin typeface="Arial"/>
              </a:rPr>
              <a:t>AI-enabled fraud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209" y="5400000"/>
            <a:ext cx="2553271" cy="6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Deepfake payment requests and AI-crafted phishing succeed.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Assess AI Readiness and Risk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is already in the organisation - in staff tools, in software and in suppliers' services. Boards and regulators now expect it to be governed.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4396" y="1380000"/>
            <a:ext cx="3654362" cy="6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c_doc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450000"/>
            <a:ext cx="480000" cy="48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74396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Regulation is arriving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396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EU AI Act obligations phase in to 2026-27 (AI literacy since Feb 2025); Bahrain PDPL applies to AI processing personal data; iGA AI Policy (2025); CBB expectations for licensees; draft Bahrain AI law.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8758" y="1380000"/>
            <a:ext cx="3654362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_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450000"/>
            <a:ext cx="480000" cy="48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78758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Shadow AI and embedded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8758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Staff use public GenAI tools; vendors switch on AI features in existing software. Without an inventory, risk is invisible.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120" y="138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33120" y="1380000"/>
            <a:ext cx="3654362" cy="6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450000"/>
            <a:ext cx="480000" cy="48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83120" y="144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raises the stakes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3120" y="208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AI that takes actions through tools and APIs introduces prompt injection, excessive agency and new fraud paths (ISACA, 2026).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24396" y="3530000"/>
            <a:ext cx="3654362" cy="6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c_ris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396" y="3600000"/>
            <a:ext cx="480000" cy="48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74396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AI-enabled threats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396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Deepfake payment fraud, AI-crafted phishing and automated attacks target every organisation - whether or not it uses AI itself.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28758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28758" y="3530000"/>
            <a:ext cx="3654362" cy="6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_peo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8758" y="3600000"/>
            <a:ext cx="480000" cy="480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978758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Boards are asking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8758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Who owns AI? What is our risk appetite? Which AI do we use, with what data, and who checks 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3120" y="3530000"/>
            <a:ext cx="3654362" cy="202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133120" y="3530000"/>
            <a:ext cx="3654362" cy="62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c_sear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3120" y="3600000"/>
            <a:ext cx="480000" cy="480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783120" y="3590000"/>
            <a:ext cx="2954362" cy="50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Investment needs a baseline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3120" y="4230000"/>
            <a:ext cx="3474362" cy="127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A measured starting point focuses budgets on the gaps that matter and shows progress over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the Assessment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answers in one report - about 45 minutes of the client's time. Report in 5 working days (Essential), 2 weeks (Standard) or 6-8 weeks (Plus).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1000000" cy="10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96" y="1580000"/>
            <a:ext cx="560000" cy="560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524396" y="138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How ready are we?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4396" y="138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Readiness score and maturity (Partial / Informed / Repeatable / Adaptive) overall and for each of the five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510000"/>
            <a:ext cx="1000000" cy="10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96" y="2710000"/>
            <a:ext cx="560000" cy="560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524396" y="251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How risky is our AI?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24396" y="251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Inherent AI risk tier (Low to Very high) from how AI is used, the decisions it influences, the data it touches and the oversight in place.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640000"/>
            <a:ext cx="1000000" cy="103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e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396" y="3840000"/>
            <a:ext cx="560000" cy="560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524396" y="364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Is our readiness enough for our risk?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4396" y="364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Overall AI risk exposure and a recommended pathway: proceed, proceed with conditions, remediate before scaling, or pause.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4770000"/>
            <a:ext cx="1000000" cy="103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doc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96" y="4970000"/>
            <a:ext cx="560000" cy="560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524396" y="4770000"/>
            <a:ext cx="2300000" cy="103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400" b="1">
                <a:solidFill>
                  <a:srgbClr val="4F2D7F"/>
                </a:solidFill>
                <a:latin typeface="Arial"/>
              </a:rPr>
              <a:t>What should we do first?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24396" y="4770000"/>
            <a:ext cx="3457851" cy="10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0">
                <a:solidFill>
                  <a:srgbClr val="222222"/>
                </a:solidFill>
                <a:latin typeface="Arial"/>
              </a:rPr>
              <a:t>Findings per question, top-5 priority actions, a phased roadmap, regulatory considerations and next steps.</a:t>
            </a:r>
          </a:p>
        </p:txBody>
      </p:sp>
      <p:pic>
        <p:nvPicPr>
          <p:cNvPr id="26" name="Picture 25" descr="rep0_domai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32247" y="1780000"/>
            <a:ext cx="4355235" cy="2434880"/>
          </a:xfrm>
          <a:prstGeom prst="rect">
            <a:avLst/>
          </a:prstGeom>
          <a:ln>
            <a:solidFill>
              <a:srgbClr val="D9CCEB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7432247" y="1380000"/>
            <a:ext cx="4355235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Readiness by domain - as shown in the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2247" y="4278931"/>
            <a:ext cx="4355235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Illustrative sample 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Approach - Core Assessment 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Light-touch for the client, rigorous behind the scenes. The scoring engine stays with GT - the client receives a clear, independent report.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380000"/>
            <a:ext cx="2300617" cy="60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1  Kick-off</a:t>
            </a:r>
          </a:p>
        </p:txBody>
      </p:sp>
      <p:sp>
        <p:nvSpPr>
          <p:cNvPr id="11" name="Chevron 10"/>
          <p:cNvSpPr/>
          <p:nvPr/>
        </p:nvSpPr>
        <p:spPr>
          <a:xfrm>
            <a:off x="2765013" y="1380000"/>
            <a:ext cx="2300617" cy="600000"/>
          </a:xfrm>
          <a:prstGeom prst="chevr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1-2  Questionnaire</a:t>
            </a:r>
          </a:p>
        </p:txBody>
      </p:sp>
      <p:sp>
        <p:nvSpPr>
          <p:cNvPr id="12" name="Chevron 11"/>
          <p:cNvSpPr/>
          <p:nvPr/>
        </p:nvSpPr>
        <p:spPr>
          <a:xfrm>
            <a:off x="5005630" y="1380000"/>
            <a:ext cx="2300617" cy="600000"/>
          </a:xfrm>
          <a:prstGeom prst="chevr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3-4  GT analysis</a:t>
            </a:r>
          </a:p>
        </p:txBody>
      </p:sp>
      <p:sp>
        <p:nvSpPr>
          <p:cNvPr id="13" name="Chevron 12"/>
          <p:cNvSpPr/>
          <p:nvPr/>
        </p:nvSpPr>
        <p:spPr>
          <a:xfrm>
            <a:off x="7246247" y="1380000"/>
            <a:ext cx="2300617" cy="600000"/>
          </a:xfrm>
          <a:prstGeom prst="chevr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5  Report</a:t>
            </a:r>
          </a:p>
        </p:txBody>
      </p:sp>
      <p:sp>
        <p:nvSpPr>
          <p:cNvPr id="14" name="Chevron 13"/>
          <p:cNvSpPr/>
          <p:nvPr/>
        </p:nvSpPr>
        <p:spPr>
          <a:xfrm>
            <a:off x="9486864" y="1380000"/>
            <a:ext cx="2300617" cy="600000"/>
          </a:xfrm>
          <a:prstGeom prst="chevr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Day 5  Debrief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4396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384704" y="2140000"/>
            <a:ext cx="520000" cy="520000"/>
          </a:xfrm>
          <a:prstGeom prst="ellips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_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4704" y="2140000"/>
            <a:ext cx="520000" cy="52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4396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30-minute call with the sponsor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Scope: whole organisation, unit or AI system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Respondents agreed; link sent the same 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4396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30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396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Scope confirmed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5013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625321" y="2140000"/>
            <a:ext cx="520000" cy="520000"/>
          </a:xfrm>
          <a:prstGeom prst="ellipse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lap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5321" y="2140000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25013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Secure Microsoft Forms questionnaire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34 questions: profile, AI use, readiness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Plain-language options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5013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~45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95013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Completed responses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35630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865938" y="2140000"/>
            <a:ext cx="520000" cy="520000"/>
          </a:xfrm>
          <a:prstGeom prst="ellipse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5938" y="2140000"/>
            <a:ext cx="520000" cy="52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065630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Responses processed in GT's proprietary engine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Risk tier, maturity, exposure, findings, roadmap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GT AI GRC professional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5630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35630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Quality-reviewed 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6247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106555" y="2140000"/>
            <a:ext cx="520000" cy="520000"/>
          </a:xfrm>
          <a:prstGeom prst="ellipse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c_do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6555" y="2140000"/>
            <a:ext cx="520000" cy="52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306247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Confidential PDF report (7-9 pages)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Emailed to the sponsor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Headline results in the email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6247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None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76247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Report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16864" y="2080000"/>
            <a:ext cx="2180617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0347172" y="2140000"/>
            <a:ext cx="520000" cy="520000"/>
          </a:xfrm>
          <a:prstGeom prst="ellipse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ic_bul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7172" y="2140000"/>
            <a:ext cx="520000" cy="5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546864" y="2720000"/>
            <a:ext cx="2120617" cy="1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60-90 minute leadership debrief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Priorities and owners agreed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•  Follow-on options discussed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16864" y="4200000"/>
            <a:ext cx="2180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Client time: </a:t>
            </a:r>
            <a:r>
              <a:rPr sz="1050" b="0">
                <a:solidFill>
                  <a:srgbClr val="4F2D7F"/>
                </a:solidFill>
                <a:latin typeface="Arial"/>
              </a:rPr>
              <a:t>60-90 min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16864" y="4770000"/>
            <a:ext cx="2180617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Output: </a:t>
            </a:r>
            <a:r>
              <a:rPr sz="1050" b="0">
                <a:solidFill>
                  <a:srgbClr val="4F2D7F"/>
                </a:solidFill>
                <a:latin typeface="Arial"/>
              </a:rPr>
              <a:t>90-day action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396" y="5400000"/>
            <a:ext cx="11263086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This core cycle is the Essential option (5 working days). Standard (2 weeks) adds respondents, evidence review and a leadership workshop; Plus (6-8 weeks) adds AI-system deep dives.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Five Assessment Domains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16 readiness questions across five equally weighted domains, aligned to ISO/IEC 42001, ISO/IEC 23894, NIST AI RMF and the NSW AI Assessment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72617" cy="10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or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704" y="1430000"/>
            <a:ext cx="480000" cy="48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4396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AI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4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4396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governance structure &amp; accountability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policy, acceptable use &amp; regulatory compliance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Responsible-AI guardrails &amp; human oversight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incidents, monitoring &amp; assurance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clear accountability, policy, oversight and assurance, AI is adopted inconsistently, misused and breaches regulation without anyone noticing or answering for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97013" y="1380000"/>
            <a:ext cx="2172617" cy="10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c_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321" y="1430000"/>
            <a:ext cx="480000" cy="4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97013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AI Risk &amp; Security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7013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6 questions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97013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27013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risk management framework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risk appetite, KRIs &amp; reporting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inventory &amp; risk / impact assessment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Third-party &amp; AI supply-chain risk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Securing AI systems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Defending against AI-enabled threats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97013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7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an AI risk framework, risk appetite, impact assessments, third-party controls and AI security, the organisation is exposed to unmanaged AI risk, prompt injection, data leakage, model compromise and deepfake-enabled fraud.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69630" y="1380000"/>
            <a:ext cx="2172617" cy="10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c_per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938" y="1430000"/>
            <a:ext cx="480000" cy="48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69630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Training &amp; Awareness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69630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1 question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69630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99630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training, literacy &amp; awareness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9630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A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Low AI literacy and awareness increase unsafe use of AI tools, unchecked or biased outputs and susceptibility to AI-enabled phishing and deepfakes.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42247" y="1380000"/>
            <a:ext cx="2172617" cy="10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8555" y="1430000"/>
            <a:ext cx="480000" cy="480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342247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Strategy &amp; Value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42247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2 questions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42247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72247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strategy &amp; executive ownership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Use-case portfolio &amp; value realisation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42247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Without clear direction, ownership and value tracking, AI adoption is fragmented, duplicated and hard to justify.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14864" y="1380000"/>
            <a:ext cx="2172617" cy="10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c_da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1172" y="1430000"/>
            <a:ext cx="480000" cy="480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614864" y="1930000"/>
            <a:ext cx="2172617" cy="4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Data &amp; Technology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14864" y="2380000"/>
            <a:ext cx="2172617" cy="2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3 questions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4864" y="2660000"/>
            <a:ext cx="2172617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644864" y="2710000"/>
            <a:ext cx="2112617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Data governance, quality &amp; privacy for AI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AI architecture, integration &amp; monitoring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•  Model risk management &amp; 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14864" y="4360000"/>
            <a:ext cx="2172617" cy="1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1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900" b="1">
                <a:solidFill>
                  <a:srgbClr val="222222"/>
                </a:solidFill>
                <a:latin typeface="Arial"/>
              </a:rPr>
              <a:t>If weak: </a:t>
            </a:r>
            <a:r>
              <a:rPr sz="900" b="0">
                <a:solidFill>
                  <a:srgbClr val="222222"/>
                </a:solidFill>
                <a:latin typeface="Arial"/>
              </a:rPr>
              <a:t>Weak data governance, architecture and model validation lead to inaccurate or biased outputs, privacy breaches, undetected drift and unsustainable costs.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4396" y="5780000"/>
            <a:ext cx="11263086" cy="4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Each question maps to findings, recommendations and controls of the GT AI Risk Assessment Framework - so results convert directly into an action plan.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Inherent AI Risk Profile (NSW AIAF-based)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Four questions establish how much risk the organisation's AI use carries - before considering its controls.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900000" cy="7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396" y="1505000"/>
            <a:ext cx="500000" cy="5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74396" y="138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AI use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4396" y="138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Which statement best describes how AI is used in your organisation today (including AI embedded in software and tools used by staff)?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210000"/>
            <a:ext cx="2900000" cy="7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396" y="2335000"/>
            <a:ext cx="500000" cy="50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74396" y="221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Decision impact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4396" y="221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significant type of decision or outcome your AI systems influence?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040000"/>
            <a:ext cx="2900000" cy="7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_da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396" y="3165000"/>
            <a:ext cx="500000" cy="50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74396" y="304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Data sensitivity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4396" y="304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What is the most sensitive data processed by your AI systems (including data staff enter into AI tools)?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3870000"/>
            <a:ext cx="2900000" cy="7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c_ey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396" y="3995000"/>
            <a:ext cx="500000" cy="50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4396" y="3870000"/>
            <a:ext cx="2200000" cy="75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Oversight &amp; reversibility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4396" y="3870000"/>
            <a:ext cx="4000000" cy="7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How much human oversight applies to AI outputs, and how reversible are the outcomes?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4396" y="1380000"/>
            <a:ext cx="41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Inherent risk tier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4396" y="1810000"/>
            <a:ext cx="4163086" cy="48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Low  </a:t>
            </a:r>
            <a:r>
              <a:rPr sz="1050" b="0">
                <a:solidFill>
                  <a:srgbClr val="222222"/>
                </a:solidFill>
                <a:latin typeface="Arial"/>
              </a:rPr>
              <a:t>Internal productivity tools, human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4396" y="2330000"/>
            <a:ext cx="4163086" cy="48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Medium  </a:t>
            </a:r>
            <a:r>
              <a:rPr sz="1050" b="0">
                <a:solidFill>
                  <a:srgbClr val="222222"/>
                </a:solidFill>
                <a:latin typeface="Arial"/>
              </a:rPr>
              <a:t>Customer-facing or confidential 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24396" y="2850000"/>
            <a:ext cx="4163086" cy="48000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High  </a:t>
            </a:r>
            <a:r>
              <a:rPr sz="1050" b="0">
                <a:solidFill>
                  <a:srgbClr val="222222"/>
                </a:solidFill>
                <a:latin typeface="Arial"/>
              </a:rPr>
              <a:t>Decisions affecting people or sensitive data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4396" y="3370000"/>
            <a:ext cx="4163086" cy="480000"/>
          </a:xfrm>
          <a:prstGeom prst="rect">
            <a:avLst/>
          </a:prstGeom>
          <a:solidFill>
            <a:srgbClr val="E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1">
                <a:solidFill>
                  <a:srgbClr val="222222"/>
                </a:solidFill>
                <a:latin typeface="Arial"/>
              </a:rPr>
              <a:t>Very high  </a:t>
            </a:r>
            <a:r>
              <a:rPr sz="1050" b="0">
                <a:solidFill>
                  <a:srgbClr val="222222"/>
                </a:solidFill>
                <a:latin typeface="Arial"/>
              </a:rPr>
              <a:t>Significant decisions with little oversight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4396" y="3930000"/>
            <a:ext cx="4163086" cy="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Overrides apply - AI that makes or materially influences decisions about individuals' rights or access to services cannot be rated Low.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4396" y="4830000"/>
            <a:ext cx="11263086" cy="65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222222"/>
                </a:solidFill>
                <a:latin typeface="Arial"/>
              </a:rPr>
              <a:t>Exposure = inherent risk tier x readiness maturity. </a:t>
            </a:r>
            <a:r>
              <a:rPr sz="1150" b="0">
                <a:solidFill>
                  <a:srgbClr val="222222"/>
                </a:solidFill>
                <a:latin typeface="Arial"/>
              </a:rPr>
              <a:t>A mature organisation with high-risk AI can be at moderate exposure; an immature organisation with the same AI is at critical exposure. The pathway follows from the exposure.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5580000"/>
            <a:ext cx="11263086" cy="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Basis: NSW AI Assessment Framework; EU AI Act risk categories; ISO/IEC 23894 and ISO/IEC 42005.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Results Are Expressed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Clear, comparable results for every client; the detailed scoring rules remain GT's proprietary methodology.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6757851" cy="3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1  Every answer on a five-level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770000"/>
            <a:ext cx="1303570" cy="52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0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Not in place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87966" y="1770000"/>
            <a:ext cx="1303570" cy="52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1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Initial / ad hoc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51536" y="1770000"/>
            <a:ext cx="1303570" cy="52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2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5106" y="1770000"/>
            <a:ext cx="1303570" cy="52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3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Implemented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78676" y="1770000"/>
            <a:ext cx="1303570" cy="52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222222"/>
                </a:solidFill>
                <a:latin typeface="Arial"/>
              </a:rPr>
              <a:t>Level 4</a:t>
            </a:r>
          </a:p>
          <a:p>
            <a:pPr algn="ctr"/>
            <a:r>
              <a:rPr sz="1000" b="0">
                <a:solidFill>
                  <a:srgbClr val="222222"/>
                </a:solidFill>
                <a:latin typeface="Arial"/>
              </a:rPr>
              <a:t>Optimised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2380000"/>
            <a:ext cx="6757851" cy="34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2  Domain and overall scores placed in four maturity bands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2770000"/>
            <a:ext cx="1644462" cy="1150000"/>
          </a:xfrm>
          <a:prstGeom prst="rect">
            <a:avLst/>
          </a:prstGeom>
          <a:solidFill>
            <a:srgbClr val="F8C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Partial  &lt; 50%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Foundational capabilities are missing or ad hoc; AI risk is largely unmanaged.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8858" y="2770000"/>
            <a:ext cx="1644462" cy="115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Informed  50 - 70%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Awareness and some defined practices exist, but they are not consistently implemented.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3320" y="2770000"/>
            <a:ext cx="1644462" cy="115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Repeatable  70 - 90%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Practices are defined and consistently applied across most of the organisation.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782" y="2770000"/>
            <a:ext cx="1644462" cy="115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Adaptive  90%+</a:t>
            </a:r>
          </a:p>
          <a:p>
            <a:pPr algn="ctr"/>
            <a:r>
              <a:rPr sz="950" b="0">
                <a:solidFill>
                  <a:srgbClr val="222222"/>
                </a:solidFill>
                <a:latin typeface="Arial"/>
              </a:rPr>
              <a:t>Practices are optimised, measured and continuously improved.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010000"/>
            <a:ext cx="6757851" cy="3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3  Exposure (risk tier x maturity) sets the recommended pathway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Low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Proceed - self-managed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28858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Moderate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Proceed with conditions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3320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High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Remediate before scaling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37782" y="4400000"/>
            <a:ext cx="1644462" cy="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Critical exposure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Pause high-impact AI and escalate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396" y="5380000"/>
            <a:ext cx="6757851" cy="4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Domains are equally weighted. Findings, risks, controls (GT AI Risk Assessment Framework) and recommendations are generated by the GT engine and reviewed by a GT professional.</a:t>
            </a:r>
          </a:p>
        </p:txBody>
      </p:sp>
      <p:pic>
        <p:nvPicPr>
          <p:cNvPr id="27" name="Picture 26" descr="rep0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2247" y="1380000"/>
            <a:ext cx="4355235" cy="3694860"/>
          </a:xfrm>
          <a:prstGeom prst="rect">
            <a:avLst/>
          </a:prstGeom>
          <a:ln>
            <a:solidFill>
              <a:srgbClr val="D9CCEB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432247" y="5330000"/>
            <a:ext cx="4355235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How it looks in the report (illustrative sample)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Answers Are Collected - and Why the Engine Stays with GT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client never handles spreadsheets or formulas. Responses flow securely from a form to a reviewed PDF report.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80000"/>
            <a:ext cx="2108617" cy="10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c_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704" y="1440000"/>
            <a:ext cx="500000" cy="5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4396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Completes the secure Microsoft Forms questionnaire (one respondent or a coordinated team response)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013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813013" y="1380000"/>
            <a:ext cx="2108617" cy="10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7321" y="1440000"/>
            <a:ext cx="500000" cy="5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813013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secure tenant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13013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Responses exported from Forms in GT's Microsoft 365 environment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41630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01630" y="1380000"/>
            <a:ext cx="2108617" cy="10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c_ge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938" y="1440000"/>
            <a:ext cx="500000" cy="50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01630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assessment engine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1630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Proprietary scoring, findings and roadmap logic - not shared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30247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90247" y="1380000"/>
            <a:ext cx="2108617" cy="10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c_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4555" y="1440000"/>
            <a:ext cx="500000" cy="50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90247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GT reviewer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90247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GRC professional reviews results and context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18864" y="1780000"/>
            <a:ext cx="140000" cy="300000"/>
          </a:xfrm>
          <a:prstGeom prst="rightArrow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678864" y="1380000"/>
            <a:ext cx="2108617" cy="10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c_doc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83172" y="1440000"/>
            <a:ext cx="500000" cy="500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78864" y="1960000"/>
            <a:ext cx="2108617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78864" y="2380000"/>
            <a:ext cx="2108617" cy="10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Receives the PDF report by email; debrief session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3530000"/>
            <a:ext cx="5556543" cy="4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Why we do not send the Excel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396" y="3980000"/>
            <a:ext cx="5556543" cy="19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Protects GT methodology, weightings and content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Avoids answers being 'tuned' to the score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Consistent, quality-reviewed results across clients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macros, formulas or printing issues on client devices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0939" y="3530000"/>
            <a:ext cx="5556543" cy="4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How we protect the client's answers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0939" y="3980000"/>
            <a:ext cx="5556543" cy="19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Stored only in GT's Microsoft 365 tenant; access limited to the engagement team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No personal data beyond contact details; Bahrain PDPL-compliant handling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Never entered into public AI tools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Retained per engagement terms; deleted on request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Report marked confidential; shared only with the named sponsor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16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Report - What the Client Receives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One report per client (7-9 pages) - three of its pages shown, from an illustrative sample with sample answers.</a:t>
            </a:r>
          </a:p>
        </p:txBody>
      </p:sp>
      <p:pic>
        <p:nvPicPr>
          <p:cNvPr id="10" name="Picture 9" descr="rep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1" name="Picture 10" descr="r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2" name="Picture 11" descr="r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4396" y="1380000"/>
            <a:ext cx="3039119" cy="43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2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Page 1 - Executive summary &amp; maturity curve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Page 2 - Readiness by domain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4396" y="5700000"/>
            <a:ext cx="30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2D7F"/>
                </a:solidFill>
                <a:latin typeface="Arial"/>
              </a:rPr>
              <a:t>Page 5 - Priorities &amp;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4396" y="1380000"/>
            <a:ext cx="1813086" cy="4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222222"/>
                </a:solidFill>
                <a:latin typeface="Arial"/>
              </a:rPr>
              <a:t>Report sections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Executive summary, pathway &amp; AI adoption maturity curve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Readiness by domain (radar)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AI use &amp; inherent risk profile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Responsible-AI principle coverage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Detailed findings &amp; recommendations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Top-5 priority actions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Suggested roadmap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Regulatory &amp; standards considerations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How GT can help; next steps &amp; sign-off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Own Starting Point - GT Bahrain AI Ready7 (Sept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We assessed ourselves first. GT Bahrain's AI Ready7 results by pillar, and consolidated into the five assessment domains.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30000"/>
          <a:ext cx="5856804" cy="42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719093" y="1430000"/>
          <a:ext cx="5068388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0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Assessment domain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Compared Ready7 pillar(s)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 Governance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Governance &amp; Ethics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 Risk &amp; Security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Protect AI Systems + Protection from AI Threats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Training &amp; Awareness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Training &amp; Development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Strategy &amp; Value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Business Alignment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Data &amp; Technology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Architecture &amp; Technology + Data &amp; Quality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Overall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Readiness status: Informed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719093" y="4530000"/>
            <a:ext cx="5068389" cy="1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Our priorities: </a:t>
            </a:r>
            <a:r>
              <a:rPr sz="1050" b="0">
                <a:solidFill>
                  <a:srgbClr val="222222"/>
                </a:solidFill>
                <a:latin typeface="Arial"/>
              </a:rPr>
              <a:t>Strategy &amp; Value (50%) and AI Governance (60%) - including lifecycle AI risk assessment (Ready7 2.4) and data classification for AI (5.1), both 'Not Met'. The AI Readiness &amp; Risk Assessment adds deeper governance and risk-management questions to measure exactly these areas.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396" y="57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Source: GT Bahrain AI Ready7 Result Report (Sept 2026). Domain = average of its Ready7 pillars. Coral = below 60%.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Engagement Plan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Engagement Options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64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290000"/>
            <a:ext cx="520000" cy="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24396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ESSENTIAL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5 working days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a fast, independent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96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Kick-off call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Online questionnaire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GT analysis and quality review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Confidential PDF report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30-minute results 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758" y="1230000"/>
            <a:ext cx="3654362" cy="64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290000"/>
            <a:ext cx="520000" cy="5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8758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STANDARD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2 weeks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8758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leadership alignment and an agreed 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8758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98758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Everything in Essential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Multi-respondent input (risk, IT, business)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Evidence review and validation interviews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Leadership debrief workshop (90 min)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Agreed 90-day action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120" y="1230000"/>
            <a:ext cx="3654362" cy="64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290000"/>
            <a:ext cx="520000" cy="52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33120" y="1230000"/>
            <a:ext cx="2904362" cy="64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PLUS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6 weeks (extendable to 8)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3120" y="1870000"/>
            <a:ext cx="3654362" cy="40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4F2D7F"/>
                </a:solidFill>
                <a:latin typeface="Arial"/>
              </a:rPr>
              <a:t>Best for: regulated organisations and boards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120" y="2270000"/>
            <a:ext cx="3654362" cy="2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03120" y="2350000"/>
            <a:ext cx="3514362" cy="19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Everything in Standard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inventory and risk-tiering of AI systems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Risk &amp; impact assessments of high-risk AI systems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Control review against the GT AI Risk Assessment Framework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ISO/IEC 42001 gap assessment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security &amp; agent review (selected systems)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Remediation roadmap and board presentation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4396" y="4480000"/>
            <a:ext cx="11263086" cy="3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Duration by option - detailed timelines on the following slides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396" y="5730000"/>
            <a:ext cx="11263086" cy="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Fees are proposed per option once scope (entities, AI systems, respondents) is confirmed. Re-assessment after 6-12 months shows progress on the same scale.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4930000"/>
            <a:ext cx="3701028" cy="700000"/>
          </a:xfrm>
          <a:prstGeom prst="rect">
            <a:avLst/>
          </a:prstGeom>
          <a:solidFill>
            <a:srgbClr val="EDE7F6"/>
          </a:solidFill>
          <a:ln w="12700">
            <a:solidFill>
              <a:srgbClr val="00A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ESSENTIAL  |  5 working days</a:t>
            </a:r>
          </a:p>
          <a:p>
            <a:pPr algn="ctr"/>
            <a:r>
              <a:rPr sz="1100" b="0">
                <a:solidFill>
                  <a:srgbClr val="4F2D7F"/>
                </a:solidFill>
                <a:latin typeface="Arial"/>
              </a:rPr>
              <a:t>Report on Day 5; results call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05424" y="4930000"/>
            <a:ext cx="3701028" cy="700000"/>
          </a:xfrm>
          <a:prstGeom prst="rect">
            <a:avLst/>
          </a:prstGeom>
          <a:solidFill>
            <a:srgbClr val="EDE7F6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STANDARD  |  2 weeks</a:t>
            </a:r>
          </a:p>
          <a:p>
            <a:pPr algn="ctr"/>
            <a:r>
              <a:rPr sz="1100" b="0">
                <a:solidFill>
                  <a:srgbClr val="4F2D7F"/>
                </a:solidFill>
                <a:latin typeface="Arial"/>
              </a:rPr>
              <a:t>Report end of week 2; leadership debrief &amp; 90-day plan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6452" y="4930000"/>
            <a:ext cx="3701028" cy="700000"/>
          </a:xfrm>
          <a:prstGeom prst="rect">
            <a:avLst/>
          </a:prstGeom>
          <a:solidFill>
            <a:srgbClr val="EDE7F6"/>
          </a:solidFill>
          <a:ln w="12700">
            <a:solidFill>
              <a:srgbClr val="2E1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PLUS  |  6 weeks, extendable to 8</a:t>
            </a:r>
          </a:p>
          <a:p>
            <a:pPr algn="ctr"/>
            <a:r>
              <a:rPr sz="1100" b="0">
                <a:solidFill>
                  <a:srgbClr val="4F2D7F"/>
                </a:solidFill>
                <a:latin typeface="Arial"/>
              </a:rPr>
              <a:t>Readiness report week 2; full report &amp; board presentation week 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20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Deliverables, Client Inputs and Standards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4396" y="1230000"/>
            <a:ext cx="3654362" cy="6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96" y="1280000"/>
            <a:ext cx="520000" cy="5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24396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DELIVERABLES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96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Confidential AI Readiness &amp; Risk Assessment report (PDF): Day 5 / week 2 / week 6 by option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Readiness by domain and overall maturity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Inherent AI risk tier, exposure and pathway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Findings, top-5 priorities and roadmap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Regulatory considerations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Debrief presentation (Standard / Plus)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230000"/>
            <a:ext cx="3654362" cy="6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c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758" y="1280000"/>
            <a:ext cx="520000" cy="52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8758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FROM THE 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8758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758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An executive sponsor and a coordinator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Completed questionnaire (about 45 minutes) and, for Standard / Plus, evidence and interviews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Optional evidence: AI policy, AI inventory, risk register, vendor contracts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Availability for the debrief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3120" y="1230000"/>
            <a:ext cx="3654362" cy="6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c_doc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3120" y="1280000"/>
            <a:ext cx="520000" cy="5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33120" y="1230000"/>
            <a:ext cx="2904362" cy="6200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STANDARDS &amp; FRAMEWORKS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3120" y="1850000"/>
            <a:ext cx="3654362" cy="23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03120" y="1920000"/>
            <a:ext cx="3514362" cy="2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NSW AI Assessment Framework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ISO/IEC 42001, ISO/IEC 23894, ISO/IEC 42005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NIST AI RMF 1.0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EU AI Act; Bahrain PDPL; CBB; iGA AI Policy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ISACA Securing AI Agents (2026); OWASP LLM Top 10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Arial"/>
              </a:rPr>
              <a:t>•  GT AI Risk Assessment Framework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4396" y="4240000"/>
            <a:ext cx="11263086" cy="33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What the report contains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1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Executive summary &amp; pathway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1405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2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Readiness by domain (radar)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38414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3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AI use &amp; inherent risk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5423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4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Responsible-AI principles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52432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5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Findings &amp; recommendations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09441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6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Top-5 priority actions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66450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7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Implementation roadmap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23459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8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Regulatory considerations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80468" y="4610000"/>
            <a:ext cx="1207009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00" b="1">
                <a:solidFill>
                  <a:srgbClr val="4F2D7F"/>
                </a:solidFill>
                <a:latin typeface="Arial"/>
              </a:rPr>
              <a:t>9</a:t>
            </a:r>
          </a:p>
          <a:p>
            <a:pPr algn="ctr"/>
            <a:r>
              <a:rPr sz="900" b="0">
                <a:solidFill>
                  <a:srgbClr val="4F2D7F"/>
                </a:solidFill>
                <a:latin typeface="Arial"/>
              </a:rPr>
              <a:t>How GT can help &amp; sign-off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5480000"/>
            <a:ext cx="11263086" cy="6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Natural next step: the GT AI Strategy &amp; Roadmap service uses the Opportunity Discovery Toolkit to show WHERE AI fits - the readiness assessment shows HOW READY the organisation is to adopt it safely. Both can run together.</a:t>
            </a:r>
            <a:r>
              <a:rPr sz="1150" b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Essential - Timeline (5 Working Days)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fast, independent baseline: one respondent, GT-scored report on Day 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24396" y="1360000"/>
            <a:ext cx="1577617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Day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17013" y="1360000"/>
            <a:ext cx="1577617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Day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09630" y="1360000"/>
            <a:ext cx="1577617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Day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02247" y="1360000"/>
            <a:ext cx="1577617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Day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94864" y="1360000"/>
            <a:ext cx="1577617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Day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396" y="174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Kick-off call &amp; scope confirmation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39396" y="1800000"/>
            <a:ext cx="751308" cy="21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4396" y="207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Questionnaire link sent</a:t>
            </a:r>
          </a:p>
        </p:txBody>
      </p:sp>
      <p:sp>
        <p:nvSpPr>
          <p:cNvPr id="18" name="Diamond 17"/>
          <p:cNvSpPr/>
          <p:nvPr/>
        </p:nvSpPr>
        <p:spPr>
          <a:xfrm>
            <a:off x="4500704" y="2115000"/>
            <a:ext cx="240000" cy="240000"/>
          </a:xfrm>
          <a:prstGeom prst="diamond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4396" y="240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Client completes questionnaire (~45 min)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17181" y="2460000"/>
            <a:ext cx="2662448" cy="21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396" y="273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Responses received</a:t>
            </a:r>
          </a:p>
        </p:txBody>
      </p:sp>
      <p:sp>
        <p:nvSpPr>
          <p:cNvPr id="22" name="Diamond 21"/>
          <p:cNvSpPr/>
          <p:nvPr/>
        </p:nvSpPr>
        <p:spPr>
          <a:xfrm>
            <a:off x="6889630" y="2775000"/>
            <a:ext cx="240000" cy="240000"/>
          </a:xfrm>
          <a:prstGeom prst="diamond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4396" y="306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GT analysis, scoring &amp; findings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24630" y="3120000"/>
            <a:ext cx="2503187" cy="21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4396" y="339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GT quality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54293" y="3450000"/>
            <a:ext cx="910570" cy="21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4396" y="372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Report issued (PDF by email)</a:t>
            </a:r>
          </a:p>
        </p:txBody>
      </p:sp>
      <p:sp>
        <p:nvSpPr>
          <p:cNvPr id="28" name="Diamond 27"/>
          <p:cNvSpPr/>
          <p:nvPr/>
        </p:nvSpPr>
        <p:spPr>
          <a:xfrm>
            <a:off x="10552649" y="3765000"/>
            <a:ext cx="240000" cy="240000"/>
          </a:xfrm>
          <a:prstGeom prst="diamond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4396" y="405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Results call (30 min)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46910" y="4110000"/>
            <a:ext cx="910570" cy="21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4396" y="5480000"/>
            <a:ext cx="3674362" cy="6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50" b="1">
                <a:solidFill>
                  <a:srgbClr val="222222"/>
                </a:solidFill>
                <a:latin typeface="Arial"/>
              </a:rPr>
              <a:t>Client time: </a:t>
            </a:r>
            <a:r>
              <a:rPr sz="950" b="0">
                <a:solidFill>
                  <a:srgbClr val="222222"/>
                </a:solidFill>
                <a:latin typeface="Arial"/>
              </a:rPr>
              <a:t>about 2 hours in total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18758" y="5480000"/>
            <a:ext cx="3674362" cy="6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50" b="1">
                <a:solidFill>
                  <a:srgbClr val="222222"/>
                </a:solidFill>
                <a:latin typeface="Arial"/>
              </a:rPr>
              <a:t>Deliverables: </a:t>
            </a:r>
            <a:r>
              <a:rPr sz="950" b="0">
                <a:solidFill>
                  <a:srgbClr val="222222"/>
                </a:solidFill>
                <a:latin typeface="Arial"/>
              </a:rPr>
              <a:t>confidential PDF report, results call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13120" y="5480000"/>
            <a:ext cx="3674362" cy="6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50" b="1">
                <a:solidFill>
                  <a:srgbClr val="222222"/>
                </a:solidFill>
                <a:latin typeface="Arial"/>
              </a:rPr>
              <a:t>Assumption: </a:t>
            </a:r>
            <a:r>
              <a:rPr sz="950" b="0">
                <a:solidFill>
                  <a:srgbClr val="222222"/>
                </a:solidFill>
                <a:latin typeface="Arial"/>
              </a:rPr>
              <a:t>questionnaire completed by Day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7482" y="6160000"/>
            <a:ext cx="3800000" cy="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>
                <a:solidFill>
                  <a:srgbClr val="595959"/>
                </a:solidFill>
                <a:latin typeface="Arial"/>
              </a:rPr>
              <a:t>◆ </a:t>
            </a:r>
            <a:r>
              <a:rPr sz="850" b="0">
                <a:solidFill>
                  <a:srgbClr val="595959"/>
                </a:solidFill>
                <a:latin typeface="Arial"/>
              </a:rPr>
              <a:t>milestone / steering checkpoint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Standard - Timeline (2 Weeks)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validated result and an agreed plan: several respondents, evidence review and a leadership workshop.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24396" y="1360000"/>
            <a:ext cx="781308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0704" y="1360000"/>
            <a:ext cx="781308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17012" y="1360000"/>
            <a:ext cx="781308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3320" y="1360000"/>
            <a:ext cx="781308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9628" y="1360000"/>
            <a:ext cx="781308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05936" y="1360000"/>
            <a:ext cx="781308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02244" y="1360000"/>
            <a:ext cx="781308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98552" y="1360000"/>
            <a:ext cx="781308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94860" y="1360000"/>
            <a:ext cx="781308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91168" y="1360000"/>
            <a:ext cx="781308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D10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396" y="1740000"/>
            <a:ext cx="11263086" cy="29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50" b="1">
                <a:solidFill>
                  <a:srgbClr val="4F2D7F"/>
                </a:solidFill>
                <a:latin typeface="Arial"/>
              </a:rPr>
              <a:t>Week 1 - 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396" y="207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Kick-off &amp; respondent briefing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9396" y="2130000"/>
            <a:ext cx="751308" cy="21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4396" y="240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Multi-respondent questionnaire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7550" y="2460000"/>
            <a:ext cx="2742078" cy="21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4396" y="273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Evidence request &amp; review (policies, inventory, risk register)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32012" y="2790000"/>
            <a:ext cx="3140232" cy="21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4396" y="3060000"/>
            <a:ext cx="11263086" cy="29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50" b="1">
                <a:solidFill>
                  <a:srgbClr val="4F2D7F"/>
                </a:solidFill>
                <a:latin typeface="Arial"/>
              </a:rPr>
              <a:t>Week 2 - Validate &amp;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396" y="339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Validation interviews (risk, IT, business)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20936" y="3450000"/>
            <a:ext cx="1547616" cy="21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4396" y="372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GT analysis, scoring &amp; quality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19090" y="3780000"/>
            <a:ext cx="1945770" cy="21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4396" y="405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Report issued</a:t>
            </a:r>
          </a:p>
        </p:txBody>
      </p:sp>
      <p:sp>
        <p:nvSpPr>
          <p:cNvPr id="33" name="Diamond 32"/>
          <p:cNvSpPr/>
          <p:nvPr/>
        </p:nvSpPr>
        <p:spPr>
          <a:xfrm>
            <a:off x="10074860" y="4095000"/>
            <a:ext cx="240000" cy="240000"/>
          </a:xfrm>
          <a:prstGeom prst="diamond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4396" y="438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Leadership debrief workshop (90 min)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369121" y="4440000"/>
            <a:ext cx="751308" cy="21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4396" y="4710000"/>
            <a:ext cx="3250000" cy="3300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90-day action plan agreed</a:t>
            </a:r>
          </a:p>
        </p:txBody>
      </p:sp>
      <p:sp>
        <p:nvSpPr>
          <p:cNvPr id="37" name="Diamond 36"/>
          <p:cNvSpPr/>
          <p:nvPr/>
        </p:nvSpPr>
        <p:spPr>
          <a:xfrm>
            <a:off x="11348952" y="4755000"/>
            <a:ext cx="240000" cy="240000"/>
          </a:xfrm>
          <a:prstGeom prst="diamond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24396" y="5480000"/>
            <a:ext cx="3674362" cy="6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50" b="1">
                <a:solidFill>
                  <a:srgbClr val="222222"/>
                </a:solidFill>
                <a:latin typeface="Arial"/>
              </a:rPr>
              <a:t>Client time: </a:t>
            </a:r>
            <a:r>
              <a:rPr sz="950" b="0">
                <a:solidFill>
                  <a:srgbClr val="222222"/>
                </a:solidFill>
                <a:latin typeface="Arial"/>
              </a:rPr>
              <a:t>sponsor, 3-5 respondents, 2-3 interviews, 90-min workshop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18758" y="5480000"/>
            <a:ext cx="3674362" cy="6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50" b="1">
                <a:solidFill>
                  <a:srgbClr val="222222"/>
                </a:solidFill>
                <a:latin typeface="Arial"/>
              </a:rPr>
              <a:t>Deliverables: </a:t>
            </a:r>
            <a:r>
              <a:rPr sz="950" b="0">
                <a:solidFill>
                  <a:srgbClr val="222222"/>
                </a:solidFill>
                <a:latin typeface="Arial"/>
              </a:rPr>
              <a:t>PDF report, debrief deck, 90-day action plan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3120" y="5480000"/>
            <a:ext cx="3674362" cy="6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50" b="1">
                <a:solidFill>
                  <a:srgbClr val="222222"/>
                </a:solidFill>
                <a:latin typeface="Arial"/>
              </a:rPr>
              <a:t>Checkpoints: </a:t>
            </a:r>
            <a:r>
              <a:rPr sz="950" b="0">
                <a:solidFill>
                  <a:srgbClr val="222222"/>
                </a:solidFill>
                <a:latin typeface="Arial"/>
              </a:rPr>
              <a:t>end of week 1 (evidence complete), Day 10 (plan agreed)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87482" y="6160000"/>
            <a:ext cx="3800000" cy="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>
                <a:solidFill>
                  <a:srgbClr val="595959"/>
                </a:solidFill>
                <a:latin typeface="Arial"/>
              </a:rPr>
              <a:t>◆ </a:t>
            </a:r>
            <a:r>
              <a:rPr sz="850" b="0">
                <a:solidFill>
                  <a:srgbClr val="595959"/>
                </a:solidFill>
                <a:latin typeface="Arial"/>
              </a:rPr>
              <a:t>milestone / steering checkpoint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Plus - Timeline (6 Weeks, Extendable to 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Organisation-wide readiness plus a deep dive into the AI systems themselves - for regulated organisations and boards.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24396" y="1360000"/>
            <a:ext cx="980385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19781" y="1360000"/>
            <a:ext cx="980385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15166" y="1360000"/>
            <a:ext cx="980385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0551" y="1360000"/>
            <a:ext cx="980385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05936" y="1360000"/>
            <a:ext cx="980385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01321" y="1360000"/>
            <a:ext cx="980385" cy="33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96706" y="1360000"/>
            <a:ext cx="980385" cy="33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W7 (ext.)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92091" y="1360000"/>
            <a:ext cx="980385" cy="33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W8 (ext.)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396" y="1740000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Mobilise &amp; kick-off; AI system list requested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96706" y="1760000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792091" y="1760000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39396" y="1800000"/>
            <a:ext cx="552231" cy="181666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396" y="2041666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Readiness questionnaire, evidence &amp; interviews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6706" y="2061666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792091" y="2061666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38011" y="2101666"/>
            <a:ext cx="1647154" cy="181666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4396" y="2343332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Readiness report &amp; debrief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96706" y="2363332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792091" y="2363332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5709333" y="2388332"/>
            <a:ext cx="211666" cy="211666"/>
          </a:xfrm>
          <a:prstGeom prst="diamond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4396" y="2644998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AI inventory &amp; risk-tiering of AI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96706" y="2664998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792091" y="2664998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34781" y="2704998"/>
            <a:ext cx="1945770" cy="181666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4396" y="2946664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Risk &amp; impact assessments - high-risk AI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96706" y="2966664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792091" y="2966664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858" y="3006664"/>
            <a:ext cx="2443462" cy="181666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4396" y="3248330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Control review vs GT AI Risk Assessment Framework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96706" y="3268330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92091" y="3268330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27858" y="3308330"/>
            <a:ext cx="2443462" cy="181666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4396" y="3549996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ISO/IEC 42001 gap assessment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96706" y="3569996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792091" y="3569996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25551" y="3609996"/>
            <a:ext cx="1945770" cy="181666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4396" y="3851662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AI security &amp; agent review (selected systems)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96706" y="3871662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792091" y="3871662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23243" y="3911662"/>
            <a:ext cx="1945770" cy="181666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4396" y="4153328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Remediation roadmap &amp; board pack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796706" y="4173328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792091" y="4173328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617244" y="4213328"/>
            <a:ext cx="1149462" cy="181666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4396" y="4454994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Steering checkpoints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96706" y="4474994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792091" y="4474994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iamond 56"/>
          <p:cNvSpPr/>
          <p:nvPr/>
        </p:nvSpPr>
        <p:spPr>
          <a:xfrm>
            <a:off x="5709333" y="4499994"/>
            <a:ext cx="211666" cy="211666"/>
          </a:xfrm>
          <a:prstGeom prst="diamond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Diamond 57"/>
          <p:cNvSpPr/>
          <p:nvPr/>
        </p:nvSpPr>
        <p:spPr>
          <a:xfrm>
            <a:off x="7700103" y="4499994"/>
            <a:ext cx="211666" cy="211666"/>
          </a:xfrm>
          <a:prstGeom prst="diamond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9690873" y="4499994"/>
            <a:ext cx="211666" cy="211666"/>
          </a:xfrm>
          <a:prstGeom prst="diamond">
            <a:avLst/>
          </a:prstGeom>
          <a:solidFill>
            <a:srgbClr val="F2B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4396" y="4756660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Final report &amp; board presentation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796706" y="4776660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792091" y="4776660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iamond 62"/>
          <p:cNvSpPr/>
          <p:nvPr/>
        </p:nvSpPr>
        <p:spPr>
          <a:xfrm>
            <a:off x="9690873" y="4801660"/>
            <a:ext cx="211666" cy="211666"/>
          </a:xfrm>
          <a:prstGeom prst="diamond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4396" y="5058326"/>
            <a:ext cx="3250000" cy="30166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22222"/>
                </a:solidFill>
                <a:latin typeface="Arial"/>
              </a:rPr>
              <a:t>Extension: additional entities / AI systems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96706" y="5078326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792091" y="5078326"/>
            <a:ext cx="980385" cy="261666"/>
          </a:xfrm>
          <a:prstGeom prst="rect">
            <a:avLst/>
          </a:prstGeom>
          <a:solidFill>
            <a:srgbClr val="F7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811706" y="5118326"/>
            <a:ext cx="1945770" cy="181666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24396" y="5480000"/>
            <a:ext cx="3674362" cy="6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50" b="1">
                <a:solidFill>
                  <a:srgbClr val="222222"/>
                </a:solidFill>
                <a:latin typeface="Arial"/>
              </a:rPr>
              <a:t>Client time: </a:t>
            </a:r>
            <a:r>
              <a:rPr sz="950" b="0">
                <a:solidFill>
                  <a:srgbClr val="222222"/>
                </a:solidFill>
                <a:latin typeface="Arial"/>
              </a:rPr>
              <a:t>sponsor weekly 30 min; system owners 1-2 h each; board session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18758" y="5480000"/>
            <a:ext cx="3674362" cy="6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50" b="1">
                <a:solidFill>
                  <a:srgbClr val="222222"/>
                </a:solidFill>
                <a:latin typeface="Arial"/>
              </a:rPr>
              <a:t>Deliverables: </a:t>
            </a:r>
            <a:r>
              <a:rPr sz="950" b="0">
                <a:solidFill>
                  <a:srgbClr val="222222"/>
                </a:solidFill>
                <a:latin typeface="Arial"/>
              </a:rPr>
              <a:t>readiness report, AI inventory &amp; risk tiers, assessments, 42001 gap, security findings, roadmap, board pack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13120" y="5480000"/>
            <a:ext cx="3674362" cy="64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50" b="1">
                <a:solidFill>
                  <a:srgbClr val="222222"/>
                </a:solidFill>
                <a:latin typeface="Arial"/>
              </a:rPr>
              <a:t>Extension: </a:t>
            </a:r>
            <a:r>
              <a:rPr sz="950" b="0">
                <a:solidFill>
                  <a:srgbClr val="222222"/>
                </a:solidFill>
                <a:latin typeface="Arial"/>
              </a:rPr>
              <a:t>weeks 7-8 when more entities or AI systems are in scope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87482" y="6160000"/>
            <a:ext cx="3800000" cy="25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1">
                <a:solidFill>
                  <a:srgbClr val="595959"/>
                </a:solidFill>
                <a:latin typeface="Arial"/>
              </a:rPr>
              <a:t>◆ </a:t>
            </a:r>
            <a:r>
              <a:rPr sz="850" b="0">
                <a:solidFill>
                  <a:srgbClr val="595959"/>
                </a:solidFill>
                <a:latin typeface="Arial"/>
              </a:rPr>
              <a:t>milestone / steering checkpoint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36401</TotalTime>
  <Words>3252</Words>
  <Application>Microsoft Office PowerPoint</Application>
  <PresentationFormat>Widescreen</PresentationFormat>
  <Paragraphs>428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87</cp:revision>
  <dcterms:created xsi:type="dcterms:W3CDTF">2024-04-22T06:15:53Z</dcterms:created>
  <dcterms:modified xsi:type="dcterms:W3CDTF">2026-10-04T06:19:40Z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