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31"/>
  </p:notesMasterIdLst>
  <p:sldIdLst>
    <p:sldId id="2141411893" r:id="rId7"/>
    <p:sldId id="2141411917" r:id="rId8"/>
    <p:sldId id="2141411895" r:id="rId9"/>
    <p:sldId id="2141411896" r:id="rId10"/>
    <p:sldId id="2141411897" r:id="rId11"/>
    <p:sldId id="2141411898" r:id="rId12"/>
    <p:sldId id="2141411899" r:id="rId13"/>
    <p:sldId id="2141411900" r:id="rId14"/>
    <p:sldId id="2141411901" r:id="rId15"/>
    <p:sldId id="2141411902" r:id="rId16"/>
    <p:sldId id="2141411903" r:id="rId17"/>
    <p:sldId id="2141411904" r:id="rId18"/>
    <p:sldId id="2141411905" r:id="rId19"/>
    <p:sldId id="2141411906" r:id="rId20"/>
    <p:sldId id="2141411907" r:id="rId21"/>
    <p:sldId id="2141411908" r:id="rId22"/>
    <p:sldId id="2141411909" r:id="rId23"/>
    <p:sldId id="2141411910" r:id="rId24"/>
    <p:sldId id="2141411911" r:id="rId25"/>
    <p:sldId id="2141411912" r:id="rId26"/>
    <p:sldId id="2141411913" r:id="rId27"/>
    <p:sldId id="2141411914" r:id="rId28"/>
    <p:sldId id="2141411915" r:id="rId29"/>
    <p:sldId id="214141191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2D7F"/>
    <a:srgbClr val="A06DFF"/>
    <a:srgbClr val="2B144D"/>
    <a:srgbClr val="C6ADEA"/>
    <a:srgbClr val="6611FF"/>
    <a:srgbClr val="0F9ED5"/>
    <a:srgbClr val="FFFFFF"/>
    <a:srgbClr val="FFC23D"/>
    <a:srgbClr val="CE2C2C"/>
    <a:srgbClr val="00A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3447" autoAdjust="0"/>
  </p:normalViewPr>
  <p:slideViewPr>
    <p:cSldViewPr snapToGrid="0">
      <p:cViewPr>
        <p:scale>
          <a:sx n="33" d="100"/>
          <a:sy n="33" d="100"/>
        </p:scale>
        <p:origin x="2654" y="1421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6/11/relationships/changesInfo" Target="changesInfos/changesInfo1.xml"/><Relationship Id="rId37" Type="http://schemas.microsoft.com/office/2015/10/relationships/revisionInfo" Target="revisionInfo.xml"/><Relationship Id="rId38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result (Sept 2026)</c:v>
                </c:pt>
              </c:strCache>
            </c:strRef>
          </c:tx>
          <c:spPr>
            <a:solidFill>
              <a:srgbClr val="4F2D7F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AI Governance</c:v>
                </c:pt>
                <c:pt idx="1">
                  <c:v>AI Risk &amp; Security</c:v>
                </c:pt>
                <c:pt idx="2">
                  <c:v>Training &amp; Awareness</c:v>
                </c:pt>
                <c:pt idx="3">
                  <c:v>Strategy &amp; Value</c:v>
                </c:pt>
                <c:pt idx="4">
                  <c:v>Data &amp; Technology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63</c:v>
                </c:pt>
                <c:pt idx="2">
                  <c:v>69</c:v>
                </c:pt>
                <c:pt idx="3">
                  <c:v>50</c:v>
                </c:pt>
                <c:pt idx="4">
                  <c:v>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FA8-4C56-AE10-66AE797AD15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(end-2027, proposed)</c:v>
                </c:pt>
              </c:strCache>
            </c:strRef>
          </c:tx>
          <c:spPr>
            <a:solidFill>
              <a:srgbClr val="D9CCEB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AI Governance</c:v>
                </c:pt>
                <c:pt idx="1">
                  <c:v>AI Risk &amp; Security</c:v>
                </c:pt>
                <c:pt idx="2">
                  <c:v>Training &amp; Awareness</c:v>
                </c:pt>
                <c:pt idx="3">
                  <c:v>Strategy &amp; Value</c:v>
                </c:pt>
                <c:pt idx="4">
                  <c:v>Data &amp; Technology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78</c:v>
                </c:pt>
                <c:pt idx="2">
                  <c:v>80</c:v>
                </c:pt>
                <c:pt idx="3">
                  <c:v>75</c:v>
                </c:pt>
                <c:pt idx="4">
                  <c:v>78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FA8-4C56-AE10-66AE797AD15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Entries</c:v>
                </c:pt>
              </c:strCache>
            </c:strRef>
          </c:tx>
          <c:spPr>
            <a:solidFill>
              <a:srgbClr val="7B5BA6"/>
            </a:solidFill>
          </c:spPr>
          <c:invertIfNegative val="1"/>
          <c:dPt>
            <c:idx val="1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1-FDE8-4AF9-8452-72E1E3CBD37D}"/>
              </c:ext>
            </c:extLst>
          </c:dPt>
          <c:dPt>
            <c:idx val="2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3-FDE8-4AF9-8452-72E1E3CBD37D}"/>
              </c:ext>
            </c:extLst>
          </c:dPt>
          <c:dPt>
            <c:idx val="3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5-FDE8-4AF9-8452-72E1E3CBD37D}"/>
              </c:ext>
            </c:extLst>
          </c:dPt>
          <c:dPt>
            <c:idx val="4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7-FDE8-4AF9-8452-72E1E3CBD37D}"/>
              </c:ext>
            </c:extLst>
          </c:dPt>
          <c:dPt>
            <c:idx val="5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9-FDE8-4AF9-8452-72E1E3CBD37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Cross-industry</c:v>
                </c:pt>
                <c:pt idx="1">
                  <c:v>Banking &amp; payments</c:v>
                </c:pt>
                <c:pt idx="2">
                  <c:v>Insurance</c:v>
                </c:pt>
                <c:pt idx="3">
                  <c:v>Capital markets &amp; wealth</c:v>
                </c:pt>
                <c:pt idx="4">
                  <c:v>Healthcare</c:v>
                </c:pt>
                <c:pt idx="5">
                  <c:v>Telecommunications</c:v>
                </c:pt>
                <c:pt idx="6">
                  <c:v>Government &amp; public sector</c:v>
                </c:pt>
                <c:pt idx="7">
                  <c:v>Retail &amp; e-commerce</c:v>
                </c:pt>
                <c:pt idx="8">
                  <c:v>Hospitality &amp; tourism</c:v>
                </c:pt>
                <c:pt idx="9">
                  <c:v>Manufacturing &amp; industrial</c:v>
                </c:pt>
                <c:pt idx="10">
                  <c:v>Oil, gas, energy &amp; utilities</c:v>
                </c:pt>
                <c:pt idx="11">
                  <c:v>Logistics, aviation &amp; transport</c:v>
                </c:pt>
                <c:pt idx="12">
                  <c:v>Real estate &amp; construction</c:v>
                </c:pt>
                <c:pt idx="13">
                  <c:v>Education</c:v>
                </c:pt>
                <c:pt idx="14">
                  <c:v>Professional services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60</c:v>
                </c:pt>
                <c:pt idx="1">
                  <c:v>23</c:v>
                </c:pt>
                <c:pt idx="2">
                  <c:v>17</c:v>
                </c:pt>
                <c:pt idx="3">
                  <c:v>8</c:v>
                </c:pt>
                <c:pt idx="4">
                  <c:v>20</c:v>
                </c:pt>
                <c:pt idx="5">
                  <c:v>17</c:v>
                </c:pt>
                <c:pt idx="6">
                  <c:v>15</c:v>
                </c:pt>
                <c:pt idx="7">
                  <c:v>11</c:v>
                </c:pt>
                <c:pt idx="8">
                  <c:v>10</c:v>
                </c:pt>
                <c:pt idx="9">
                  <c:v>11</c:v>
                </c:pt>
                <c:pt idx="10">
                  <c:v>10</c:v>
                </c:pt>
                <c:pt idx="11">
                  <c:v>9</c:v>
                </c:pt>
                <c:pt idx="12">
                  <c:v>7</c:v>
                </c:pt>
                <c:pt idx="13">
                  <c:v>7</c:v>
                </c:pt>
                <c:pt idx="14">
                  <c:v>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A-FDE8-4AF9-8452-72E1E3CBD37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5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10/4/2026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Strategy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Roadmap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33" descr="Abstract background of data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85" r="26485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rgbClr val="0048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rgbClr val="3100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3F1FF-923D-A791-47FE-61E77B802F18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Context &amp; Our Starting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DBEC2-CBCC-F409-11AC-ADE57824FD7B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97EA22-06BC-34A7-422A-24B28BA4308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Questions Every Leadership Team Is Asking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An AI strategy is only useful if it says precisely where AI creates value in this organisation - and where it does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4396" y="1480000"/>
            <a:ext cx="3654362" cy="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4396" y="168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Where exactly does AI fit?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96" y="223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processes, functions and decisions would genuinely benefit - beyond generic 'use ChatGPT' advice?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8758" y="1480000"/>
            <a:ext cx="3654362" cy="9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28758" y="168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Do we have the data?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58" y="223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Is our data digital, joined-up, reliable and deep enough for AI - or do we need foundations first?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3120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3120" y="1480000"/>
            <a:ext cx="3654362" cy="9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33120" y="168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Is automation enough?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3120" y="223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For many organisations - especially smaller ones - workflow automation, RPA and dashboards deliver most of the value at lower cost and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4396" y="3530000"/>
            <a:ext cx="3654362" cy="9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396" y="373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Build, buy or partner?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396" y="428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What can we realistically run with our scale, budget and technology team?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8758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28758" y="3530000"/>
            <a:ext cx="3654362" cy="9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28758" y="373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are the risks?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758" y="428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uses affect customers, employees or regulators (PDPL, CBB, NHRA, TRA, EU AI Act) and what controls are required?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3120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33120" y="3530000"/>
            <a:ext cx="3654362" cy="9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33120" y="373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do we do first?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120" y="428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A prioritised roadmap with quick wins, measurable KPIs and clear ownership.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68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Our approach answers these with evidence: </a:t>
            </a:r>
            <a:r>
              <a:rPr sz="1200" b="0">
                <a:solidFill>
                  <a:srgbClr val="FFFFFF"/>
                </a:solidFill>
                <a:latin typeface="Arial"/>
              </a:rPr>
              <a:t>an AI position screen, a 240-entry AI use-case library, a process-by-process AI fit diagnostic and a risk-tiered roadmap - delivered within 5 working days.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Where the Value Is - Sector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and automation potential is highest where volumes, data and regulation meet: financial services, healthcare and telecom lead - and our library goes deepest there.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230000"/>
          <a:ext cx="11263084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8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2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90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2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Value at stake by 2030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Where the value is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Library entries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Banking &amp; payments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Onboarding &amp; KYC, financial-crime alert triage, fraud, credit, customer service, regulatory reporting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Insurance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 (financial services)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Claims intake &amp; settlement, claims fraud, underwriting intake, policy servicing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Capital markets &amp; wealth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 (financial services)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Reconciliations, surveillance, research, client reporting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Healthcare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$5.1T | 20.7%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Revenue cycle, scheduling, documentation, coding, imaging and early warning (regulated)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Telecommunications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$305B | 12.4% (technology, communications &amp; entertainment)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Network operations (AIOps), churn, care automation, fraud, revenue assurance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Government &amp; public sector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Citizen services, application processing, translation, records, inspections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Retail &amp; e-commerce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$2.0T | 14.8%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Demand forecasting, pricing, personalisation, content, service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Hospitality &amp; tourism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$2.0T | 14.8% (retail &amp; consumer)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Revenue management, guest messaging, reputation, F&amp;B waste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Manufacturing &amp; industrial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$4.0T | 11.9%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Predictive maintenance, quality inspection, scheduling, energy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Oil, gas, energy &amp; utilities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$1.7T | 12.0%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Asset integrity, inspection, load forecasting, leak detection, ESG reporting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Logistics, aviation &amp; transport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$569B | 10.3%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Routing, warehouse optimisation, customs documents, fleet maintenance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Real estate &amp; construction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Lease abstraction, tenant service, rent collection, progress monitoring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Education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Student service, content, timetabling - assessment and admissions are high-risk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Professional services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Audit analytics, drafting, tax research, DD review, practice operations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24396" y="576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Plus 60 cross-industry entries (finance, HR, customer service, procurement, risk, IT ...). Source (value at stake, GDP uplift by 2030): QuantumBlack &amp; PwC analysis (Predictions for 2030); insurance and capital markets share the financial-services figure.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Starting Point - GT Bahrain AI Ready7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GT Bahrain's AI Ready7 results (Sept 2026), consolidated into the five GT readiness domains, against our proposed end-2027 targets.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6532589" cy="43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82247" y="1430000"/>
          <a:ext cx="4505234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06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Ready7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Governance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Risk &amp; Security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Training &amp; Awareness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Overall readiness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&gt;= 75%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82247" y="4030000"/>
            <a:ext cx="4505235" cy="1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What it means: </a:t>
            </a:r>
            <a:r>
              <a:rPr sz="1050" b="0">
                <a:solidFill>
                  <a:srgbClr val="222222"/>
                </a:solidFill>
                <a:latin typeface="Arial"/>
              </a:rPr>
              <a:t>GT Bahrain is 'Informed' (61.4%) - strongest in Training &amp; Awareness (69%), weakest in Strategy &amp; Value (50%). Knowing where AI fits and governing it is our own priority too.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Readiness vs fit: </a:t>
            </a:r>
            <a:r>
              <a:rPr sz="1050" b="0">
                <a:solidFill>
                  <a:srgbClr val="222222"/>
                </a:solidFill>
                <a:latin typeface="Arial"/>
              </a:rPr>
              <a:t>Ready7 tells us HOW READY an organisation is; the Opportunity Discovery method tells us WHERE AI FITS. A complete strategy needs both.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8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Source: GT Bahrain AI Ready7 Result Report (Sept 2026). Domain = average of its Ready7 pillars: Data &amp; Technology = Architecture &amp; Technology + Data &amp; Quality; AI Risk &amp; Security = Protect AI Systems + Protection from AI Threats. Maturity: &lt;50% Partial | 50-70% Informed | 70-90% Repeatable | 90%+ Adaptive.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Methodology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Five phases, report within 5 working days. Phase 3 - AI Opportunity Discovery - is what makes the strategy specific to the organisation.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430000"/>
            <a:ext cx="2300617" cy="65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1  Mobilise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430000"/>
            <a:ext cx="2300617" cy="65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  Situational analysis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430000"/>
            <a:ext cx="2300617" cy="65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3  AI opportunity discovery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430000"/>
            <a:ext cx="2300617" cy="65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4  Strategy formulation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430000"/>
            <a:ext cx="2300617" cy="65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5  Roadmap &amp; 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4396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Scope, sponsor, stakeholders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Pre-work: sector, process list and documents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Kick-off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4396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0-1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5013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25013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External scan (regulation, market, sector, technology)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Internal scan: strategy, systems, data, current AI use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interviews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SWOT -&gt; strategic options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5013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5630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65630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position screen (data x scale)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Function workshops with the use-case library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fit diagnostic per process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Value, feasibility &amp; risk scoring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5630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1-3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6247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06247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vision &amp; ambition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Objectives &amp; KPIs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Priority portfolio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Build / buy / partner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Risk appetite &amp; guardrails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Operating model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76247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3-4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16864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46864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H1 / H2 / H3 roadmap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Enablers: data, platforms, people, governance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Use-case canvases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Report &amp; presentation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16864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4-5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Principles Behind Our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What makes a GT AI strategy different from a technology wish-list.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650000" cy="10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4396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74396" y="152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Problem first, not technology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4396" y="190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We start from processes, pain points and decisions - then choose the technology.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0939" y="1430000"/>
            <a:ext cx="650000" cy="10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0939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80939" y="152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Automation before AI - where it is enough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0939" y="190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If rules, workflow or a dashboard solve it, we say so. AI is recommended only where it adds value that automation cannot.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2600000"/>
            <a:ext cx="650000" cy="10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74396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74396" y="269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Data decides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4396" y="307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Every AI recommendation passes a data gate: is the data digital, available, reliable and (for prediction) labelled?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0939" y="2600000"/>
            <a:ext cx="650000" cy="10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80939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80939" y="269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Right-sized to the organisation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0939" y="307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A solution ceiling based on scale, budget and technology capacity: an SME and a bank get different answers.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4396" y="3770000"/>
            <a:ext cx="650000" cy="10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74396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74396" y="386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Proportionate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4396" y="424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Each opportunity is risk-tiered (NSW AIAF, EU AI Act Annex III, PDPL, sector regulators) and carries minimum controls before go-live.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0939" y="3770000"/>
            <a:ext cx="650000" cy="10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80939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80939" y="386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Standards-based and vendor-agnostic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0939" y="424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ISO/IEC 42001, 22989, 5259, 42005, NIST AI RMF, OECD, APQC - and no vendor commissions.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Phases 1-2: Mobilise and Situational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Understand the organisation, its sector and its starting point before discussing solutions.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96" y="1950000"/>
            <a:ext cx="3514362" cy="3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Kick-off with sponsor; confirm scope, objectives and success criteria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Review strategy, IT landscape, data assets and current AI use (incl. shadow AI)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Leadership interviews (strategy, operations, IT, risk)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External scan: Bahrain Vision 2030, iGA AI Policy, PDPL, sector regulator (CBB, NHRA, TRA ...), EU AI Act reach, peer AI use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SWOT -&gt; strategic 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PRE-WORK &amp;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8758" y="1950000"/>
            <a:ext cx="3514362" cy="3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Client pre-work before Day 1: sector, organisation chart, top processes and pain points, key documents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Sector profile and value-at-stake data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PESTLE and SWOT / TOWS templates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use inventory template (incl. embedded AI in SaaS)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Optional baseline: GT AI Readiness &amp; Risk Assessment (20 questions, 5 domains)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03120" y="1950000"/>
            <a:ext cx="3514362" cy="3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Situational analysis and SWOT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Strategic options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Current AI use inventory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Readiness baseline (if selected)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10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3: The GT AI Opportunity Discovery Toolkit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structured, facilitated method that answers 'where exactly does AI fit?' - process by process - and tells the organisation where automation is enough.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172617" cy="7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 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Is the organisation positioned for AI? 12 questions on DATA (digitisation, history, quality, documents, integration, outcomes) and SCALE &amp; CAPACITY (size, volumes, IT, budget, digital channels, change capacity).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Archetype + solution ceiling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7013" y="1430000"/>
            <a:ext cx="2172617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  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7013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Function-by-function workshops using the GT AI Use-Case Library: 240 entries - 60 cross-industry plus 180 for 14 sectors, filtered to the client's sector.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7013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Process &amp; pain-point inventory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9630" y="1430000"/>
            <a:ext cx="2172617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  Diagnose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9630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For every process: task nature -&gt; solution family (10 families, 5 levels), data gate, organisational fit and risk tier - plus the library's GT recommendation.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9630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Verdict + recommendation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42247" y="1430000"/>
            <a:ext cx="2172617" cy="7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  Prioritise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Value (volume, effort, importance, customer impact) x feasibility (data, standardisation, simplicity, fit), risk-adjusted.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42247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Ranked opportunities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4864" y="1430000"/>
            <a:ext cx="2172617" cy="7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  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14864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Opportunity report, H1 / H2 / H3 roadmap lanes with the enabling foundations, and a one-page canvas per priority use case.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4864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Report, roadmap, canvases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573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 a readiness test: </a:t>
            </a:r>
            <a:r>
              <a:rPr sz="1100" b="0">
                <a:solidFill>
                  <a:srgbClr val="FFFFFF"/>
                </a:solidFill>
                <a:latin typeface="Arial"/>
              </a:rPr>
              <a:t>the toolkit locates opportunities and the right type of solution. Governance maturity is measured separately by the GT AI Readiness &amp; Risk Assessment.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1: Organisational AI Position - Is Automation Enough?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Two scores place the organisation in one of four archetypes. Each archetype sets a ceiling on the complexity of solution it can realistically adopt today.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24396" y="1730000"/>
            <a:ext cx="2350000" cy="16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C. Buy and configure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Good data, limited scale / capacity: adopt and configure proven AI products rather than build.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4 - Configured AI on own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4396" y="1730000"/>
            <a:ext cx="2350000" cy="165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D. Build and scale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Data and scale support custom AI: build a portfolio, including advanced analytics and governed agentic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5 - Custom AI / agentic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4396" y="3440000"/>
            <a:ext cx="2350000" cy="16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A. Automation is enough - for now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Digitise and automate first; use AI that is already built into everyday tools.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4396" y="3440000"/>
            <a:ext cx="2350000" cy="16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B. Data foundations first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Scale is there but the data is not: fix data foundations while automating and adopting off-the-shelf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396" y="2030000"/>
            <a:ext cx="1150000" cy="16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396" y="3740000"/>
            <a:ext cx="1150000" cy="16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396" y="5180000"/>
            <a:ext cx="235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4396" y="5180000"/>
            <a:ext cx="235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4396" y="1430000"/>
            <a:ext cx="50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12 position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4396" y="1860000"/>
            <a:ext cx="5063086" cy="20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Data position: </a:t>
            </a:r>
            <a:r>
              <a:rPr sz="1050" b="0">
                <a:solidFill>
                  <a:srgbClr val="222222"/>
                </a:solidFill>
                <a:latin typeface="Arial"/>
              </a:rPr>
              <a:t>how processes run (paper -&gt; integrated systems); depth of digital history; data quality &amp; ownership; where documents live; integration; recorded outcomes ('labels').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Scale &amp; capacity: </a:t>
            </a:r>
            <a:r>
              <a:rPr sz="1050" b="0">
                <a:solidFill>
                  <a:srgbClr val="222222"/>
                </a:solidFill>
                <a:latin typeface="Arial"/>
              </a:rPr>
              <a:t>employees; transaction volumes; in-house technology skills; budget; digital interactions; capacity for change.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4396" y="3830000"/>
            <a:ext cx="5063086" cy="3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Solution levels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4396" y="4230000"/>
            <a:ext cx="5063086" cy="1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1. Digitise / redesign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2. Automate (no AI)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3. Off-the-shelf / embedded AI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4. Configured AI on own data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5. Custom AI / agentic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OECD Framework for the Classification of AI Systems (Economic Context; Data &amp; Input), ISO/IEC 42001 cl. 4.1-4.2, NIST AI RMF MAP 1.3-1.6.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2: The GT AI Use-Case Library - 240 Entries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Recommendations come from a curated, standards-based library - not from a blank page. Deepest coverage where automation potential is highest.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330000"/>
          <a:ext cx="4730496" cy="46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5480153" y="1330000"/>
            <a:ext cx="6307329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Every entry carries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0153" y="174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Sector &amp; function: </a:t>
            </a:r>
            <a:r>
              <a:rPr sz="950" b="0">
                <a:solidFill>
                  <a:srgbClr val="222222"/>
                </a:solidFill>
                <a:latin typeface="Arial"/>
              </a:rPr>
              <a:t>APQC Process Classification Framework level-1 functions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0153" y="203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Process &amp; typical pain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0153" y="232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Task nature -&gt; solution family: </a:t>
            </a:r>
            <a:r>
              <a:rPr sz="950" b="0">
                <a:solidFill>
                  <a:srgbClr val="222222"/>
                </a:solidFill>
                <a:latin typeface="Arial"/>
              </a:rPr>
              <a:t>ISO/IEC 22989 / OECD-based, 10 families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0153" y="261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GT recommendation: </a:t>
            </a:r>
            <a:r>
              <a:rPr sz="950" b="0">
                <a:solidFill>
                  <a:srgbClr val="222222"/>
                </a:solidFill>
                <a:latin typeface="Arial"/>
              </a:rPr>
              <a:t>what to implement and how - specific to the use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0153" y="290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Data needed &amp; KPIs: </a:t>
            </a:r>
            <a:r>
              <a:rPr sz="950" b="0">
                <a:solidFill>
                  <a:srgbClr val="222222"/>
                </a:solidFill>
                <a:latin typeface="Arial"/>
              </a:rPr>
              <a:t>what the data gate checks; how value is measured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0153" y="319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Regulatory &amp; risk notes: </a:t>
            </a:r>
            <a:r>
              <a:rPr sz="950" b="0">
                <a:solidFill>
                  <a:srgbClr val="222222"/>
                </a:solidFill>
                <a:latin typeface="Arial"/>
              </a:rPr>
              <a:t>CBB, NHRA, TRA, NBR, PDPL, EU AI Act, model-risk, sector standards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0153" y="348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Minimum risk tier: </a:t>
            </a:r>
            <a:r>
              <a:rPr sz="950" b="0">
                <a:solidFill>
                  <a:srgbClr val="222222"/>
                </a:solidFill>
                <a:latin typeface="Arial"/>
              </a:rPr>
              <a:t>EU AI Act Annex III high-risk uses (credit, life &amp; health insurance, employment, education, public assistance, emergency triage) floored at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0153" y="3940000"/>
            <a:ext cx="6307329" cy="3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Example entry  BNK-05  |  Banking &amp; payments  |  Retail credit decisioning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0153" y="4260000"/>
            <a:ext cx="6307329" cy="1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Recommendation: </a:t>
            </a:r>
            <a:r>
              <a:rPr sz="850" b="0">
                <a:solidFill>
                  <a:srgbClr val="222222"/>
                </a:solidFill>
                <a:latin typeface="Arial"/>
              </a:rPr>
              <a:t>Explainable scorecard / ML credit model with policy rules, reason codes and human review of declines; bias and stability testing.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Data: </a:t>
            </a:r>
            <a:r>
              <a:rPr sz="850" b="0">
                <a:solidFill>
                  <a:srgbClr val="222222"/>
                </a:solidFill>
                <a:latin typeface="Arial"/>
              </a:rPr>
              <a:t>Application data, bureau data, repayment history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KPIs: </a:t>
            </a:r>
            <a:r>
              <a:rPr sz="850" b="0">
                <a:solidFill>
                  <a:srgbClr val="222222"/>
                </a:solidFill>
                <a:latin typeface="Arial"/>
              </a:rPr>
              <a:t>Decision time; default rate; approval rate by segment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Notes: </a:t>
            </a:r>
            <a:r>
              <a:rPr sz="850" b="0">
                <a:solidFill>
                  <a:srgbClr val="222222"/>
                </a:solidFill>
                <a:latin typeface="Arial"/>
              </a:rPr>
              <a:t>HIGH-RISK: EU AI Act Annex III 5(b) creditworthiness of natural persons; CBB credit-risk rules; fair-lending; model validation.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Minimum risk tier: </a:t>
            </a:r>
            <a:r>
              <a:rPr sz="850" b="0">
                <a:solidFill>
                  <a:srgbClr val="222222"/>
                </a:solidFill>
                <a:latin typeface="Arial"/>
              </a:rPr>
              <a:t>High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3: Diagnose - From Task to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nature of the work - not the hype - determines the solution. Each process gets one of five verdicts and the library's recommendation.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380000"/>
          <a:ext cx="6983110" cy="3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8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5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75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63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Nature of the task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AI?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Min. data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Move or re-key data between systems following fixed rules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Workflow automation / RPA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Check or approve items against fixed criteria (rules, thresholds, checklists)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 automation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Produce reports, dashboards or reconciliations from existing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BI, dashboards &amp; reconciliation automation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Extract information from documents, forms or emails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 (IDP)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Light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Draft, summarise, translate or review 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Generative AI assistant (off-the-shelf)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Answer questions from internal knowledge, policies or past work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GenAI knowledge assistant (RAG on own content)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Converse with customers, citizens or staff (chat, voice, WhatsApp)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Conversational AI / virtual agent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Recognise or inspect images, video or speech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Computer vision / speech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Forecast, score, classify or detect anomalies from historical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Predictive analytics / machine learning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Coordinate multi-step work across systems that needs judgement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Agentic AI (supervised agents)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657509" y="1380000"/>
            <a:ext cx="4129973" cy="3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Verdict logic (in order)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57509" y="181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Process varies by person?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22495" y="1810000"/>
            <a:ext cx="2064986" cy="560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Redesign / standardise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57509" y="245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Family needs no AI?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22495" y="2450000"/>
            <a:ext cx="2064986" cy="56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Automate - AI not needed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57509" y="309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Data below the family's minimum?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22495" y="3090000"/>
            <a:ext cx="2064986" cy="56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later - close data gap first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57509" y="373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Level above the organisation's ceiling?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2495" y="3730000"/>
            <a:ext cx="2064986" cy="56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Stretch - partner or later stage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57509" y="437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Otherwise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2495" y="4370000"/>
            <a:ext cx="2064986" cy="56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fit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7509" y="5080000"/>
            <a:ext cx="4129973" cy="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Inputs per process: volume, effort (hours / month), standardisation, data availability, strategic importance, customer / quality impact, effect on individuals' rights, personal data, intended autonomy. Basis: ISO/IEC 22989, 23053, OECD AI classification, ISO/IEC 5259, ISO/IEC 42001 Annex A.7.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4: Prioritise - Value, Feasibility and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Transparent scoring that leadership can challenge - and that separates quick wins from strategic bets.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VALUE (1-5)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4396" y="1950000"/>
            <a:ext cx="3494362" cy="17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Volume of the process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Effort today (staff hours / month)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Strategic importance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Customer / quality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FEASIBILITY (1-5)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08758" y="1950000"/>
            <a:ext cx="3494362" cy="17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Data fit (vs. family minimum)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Process standardisation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Solution simplicity (level 1-5)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Organisational fit (vs. ceiling)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13120" y="1950000"/>
            <a:ext cx="3494362" cy="17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+2  Affects individuals' rights or access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  Personal or confidential data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+0-2  Autonomy (assist / approve / automated)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+1-2  Impact of errors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Never below the library minimum tier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880000"/>
            <a:ext cx="1800000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Strategic bets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harder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4396" y="3880000"/>
            <a:ext cx="1800000" cy="70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Quick wins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feasible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630000"/>
            <a:ext cx="1800000" cy="70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Deprioritise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harder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4396" y="4630000"/>
            <a:ext cx="1800000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Fill-ins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feasible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4396" y="3880000"/>
            <a:ext cx="7413086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Priority </a:t>
            </a:r>
            <a:r>
              <a:rPr sz="1100" b="0">
                <a:solidFill>
                  <a:srgbClr val="222222"/>
                </a:solidFill>
                <a:latin typeface="Arial"/>
              </a:rPr>
              <a:t>= value x feasibility, reduced for High risk (-15%) and where redesign is needed first (-20%).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Horizons: </a:t>
            </a:r>
            <a:r>
              <a:rPr sz="1100" b="0">
                <a:solidFill>
                  <a:srgbClr val="222222"/>
                </a:solidFill>
                <a:latin typeface="Arial"/>
              </a:rPr>
              <a:t>H1 (0-6 months) quick wins and automation;  H2 (6-12 months) strategic bets, stretch items, redesigned processes and every High-risk or agentic use case (after impact assessment and controls);  H3 (12-24 months) items waiting on data foundations.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Minimum controls by tier </a:t>
            </a:r>
            <a:r>
              <a:rPr sz="1100" b="0">
                <a:solidFill>
                  <a:srgbClr val="222222"/>
                </a:solidFill>
                <a:latin typeface="Arial"/>
              </a:rPr>
              <a:t>(GT AI Risk Assessment Framework, ISO/IEC 42005, PDPL) on every canvas.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NIST AI RMF MAP 3.1-3.2, ISO/IEC 42001 cl. 6.2, NSW AI Assessment Framework, EU AI Act Annex III, ISACA Securing AI Agents (2026).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Illustrative Output - Bahrain Retail 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Worked example included with the toolkit (illustrative inputs): 25 processes selected from the banking and cross-industry library entries.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30000"/>
            <a:ext cx="2725771" cy="11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4396" y="1390000"/>
            <a:ext cx="2605771" cy="5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Build &amp; scale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396" y="1930000"/>
            <a:ext cx="2605771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AI position (archetype D)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Data 61%  |  Scale &amp; capacity 78%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330000"/>
            <a:ext cx="2725771" cy="11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30167" y="1390000"/>
            <a:ext cx="2605771" cy="5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76%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0167" y="1930000"/>
            <a:ext cx="2605771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of processes: AI fit now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(IDP, ML alert triage, virtual agents)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5938" y="1330000"/>
            <a:ext cx="2725771" cy="1150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75938" y="1390000"/>
            <a:ext cx="2605771" cy="5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5938" y="1930000"/>
            <a:ext cx="2605771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automation is enough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(payment repairs, CBB returns)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61709" y="1330000"/>
            <a:ext cx="2725771" cy="11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21709" y="1390000"/>
            <a:ext cx="2605771" cy="5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1709" y="1930000"/>
            <a:ext cx="2605771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need data or process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foundations first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24396" y="2600000"/>
          <a:ext cx="7433633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56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9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93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30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64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Process / use case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Payment exceptions &amp; repairs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Automate - AI not needed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Sanctions &amp; PEP screening alert review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Retail customer onboarding (eKYC)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Banking virtual assistant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Conversational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Retail credit decisioning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Trade-finance document checking (LCs)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IT service desk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Conversational AI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Card &amp; payment fraud detection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83294" y="2600000"/>
            <a:ext cx="3604188" cy="3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What the client learns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Highest-ranked item needs no AI at all - rules-based payment repair.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Credit decisioning and eKYC fit, but are High-risk (EU AI Act Annex III / biometrics): scheduled for H2 after impact assessment and controls.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Collections, card disputes and IFRS 9 staging fail the data gate: capture outcomes first.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Complaints handling varies by team: standardise before automating.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Client Receives from Phase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Illustrative pages from the retail-bank worked example.</a:t>
            </a:r>
          </a:p>
        </p:txBody>
      </p:sp>
      <p:pic>
        <p:nvPicPr>
          <p:cNvPr id="10" name="Picture 9" descr="tk_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tk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tk_canv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24396" y="5930000"/>
            <a:ext cx="32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Organisational AI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4396" y="5930000"/>
            <a:ext cx="32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AI opportunity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4396" y="5930000"/>
            <a:ext cx="32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Use-case canvas (one per priority)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396" y="1380000"/>
            <a:ext cx="1363086" cy="4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Also delivered: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Top-10 opportunities with GT recommendations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Full AI fit diagnostic (up to 50 processes)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Roadmap lanes with enabling foundations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Sector lens and regulators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Standards appendix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4: AI Strategy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opportunity evidence becomes a strategy leadership can approve, fund and govern.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Vision &amp; ambition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Where AI will - and will not - be used; ambition consistent with the AI position archetype.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0167" y="14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Objectives &amp; KPIs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3-5 measurable objectives (ISO/IEC 42001 cl. 6.2) using the library KPIs: hours released, cycle time, quality, customer outcomes.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5938" y="14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Priority portfolio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5938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The ranked opportunities grouped into themes; automation programme and AI programme distinguished.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61709" y="14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Build / buy / partner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9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Decided per family against the solution ceiling; vendor-selection criteria (security, data residency, no training on client data).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5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Risk appetite &amp; guardrails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risk appetite statement, acceptable-use policy, approval by risk tier, human oversight.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70167" y="35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Operating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0167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Executive sponsor, AI owner / CoE, decision rights, intake and stage-gates; links to existing risk and IT governance.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5938" y="35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People &amp; change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5938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literacy for all users, role-based skills, change and communications plan.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61709" y="35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 &amp; platforms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61709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Data foundations required by H2 / H3 opportunities; platform choices (automation, GenAI, data).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18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5: Roadmap and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sequenced plan the organisation can execute - with the foundations each opportunity depends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600000" cy="6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H1  Now  (0-6 months)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4396" y="143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Quick wins and fill-ins: automation programme, off-the-shelf GenAI under policy, first configured AI pilots.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190000"/>
            <a:ext cx="2600000" cy="6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H2  Next  (6-12 months)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4396" y="219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Strategic bets, stretch items with partners, redesigned processes, High-risk and agentic use cases once controls are in place.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950000"/>
            <a:ext cx="2600000" cy="6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H3  Later  (12-24 months)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4396" y="295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AI use cases unlocked by data foundations; scaling of proven pilots.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3780000"/>
            <a:ext cx="11263086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ENABLERS ACROSS ALL HORIZONS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Governance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policy, AI register, tier-based risk assessment, GT AI RCM v2.1 controls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7013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Data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owners, quality, integration, capture of outcomes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9630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Platforms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one automation platform; enterprise GenAI; data platform as needed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People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literacy, champions, change management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4864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Value tracking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KPI dashboard, benefits realisation, quarterly portfolio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580000"/>
            <a:ext cx="11263086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22222"/>
                </a:solidFill>
                <a:latin typeface="Arial"/>
              </a:rPr>
              <a:t>Report delivered on Day 5: </a:t>
            </a:r>
            <a:r>
              <a:rPr sz="1150" b="0">
                <a:solidFill>
                  <a:srgbClr val="222222"/>
                </a:solidFill>
                <a:latin typeface="Arial"/>
              </a:rPr>
              <a:t>AI strategy and roadmap report, opportunity report, top-10 use-case canvases and a leadership presentation.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Standards and Frameworks Behind the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Every step is traceable to recognised international guidance - giving boards and regulators confidence in the result.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180000"/>
          <a:ext cx="11263084" cy="44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6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5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414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Standard or framework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How it is used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OECD Framework for the Classification of AI Systems (2022)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Economic Context and Data &amp; Input dimensions shape the position screen: scale, sector, data provenance, structure and availability.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4.1 - 4.2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Understanding the organisation, its context and interested parties before deciding where AI is used.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1.3, 1.4, 1.6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Organisational mission, business value and system requirements established before AI is selected.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APQC Process Classification Framework (cross-industry)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Function taxonomy of the 240-entry GT AI Use-Case Library (11 functions mapped to APQC level-1 categories).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Sector regulation (CBB Rulebook, NHRA, TRA, iGA AI Policy, PDPL)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Sector entries of the library carry the relevant Bahrain regulator and rule references and a minimum risk tier.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Intended purpose, context of use and users documented for each candidate process.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22989:2022 and ISO/IEC 23053:2022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concepts, tasks and ML system components - basis for the task-nature to solution-family mapping.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OECD AI classification - AI Model and Task &amp; Output dimensions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Distinguishes recognition, detection, forecasting, personalisation, goal-driven optimisation and generation tasks.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5259 series (2024-2025) and ISO/IEC 8183:2023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Data quality and data life cycle for analytics and ML - basis for the per-process data gate.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Annex A.7 (Data for AI systems)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Data acquisition, quality, provenance and preparation expected before AI is deployed.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NSW AI Assessment Framework (AIAF)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Inherent-risk questions (impact on people, autonomy, data sensitivity) behind the risk tier.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EU AI Act (Reg. 2024/1689) Art. 5, 6, 50 and Annex III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Library minimum risk tiers: high-risk uses (credit scoring, life &amp; health insurance pricing, employment, education, public assistance, emergency triage) are floored at High; prohibited practices and transparency duties noted.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Bahrain PDPL (Law No. 30 of 2018)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Personal and sensitive data flag; lawful basis and DPIA expectations for higher-risk processing.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ISACA - Cybersecurity Recommendations for Securing AI Agents (2026); OWASP Top 10 for LLM Applications (2025)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Autonomy rating and agentic guardrails: least agency, human approval for high-impact actions, excessive-agency risk.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3.1, 3.2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Expected benefits and costs (incl. of errors) weighed per use case.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6.2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objectives that are measurable - feed the KPIs on each canvas.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42005:2025 and ISO/IEC 23894:2023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system impact assessment and risk management for Medium / High-tier use cases before go-live.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5338:2023 and ISO/IEC 42001 Annex A.6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system life cycle from design to retirement for each roadmap item.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 v1.1 and GT AI RCM v2.1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Tier-based minimum controls on each use-case canvas; control testing once in production.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Complementary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GT AI Ready7 / GT AI Readiness &amp; Risk Assessment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Measures governance and capability maturity. Not repeated here - this toolkit asks WHERE AI fits, not HOW READY the organisation is.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21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Plan - Report Within 5 Working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focused, workshop-based engagement. Client pre-work before Day 1 keeps the timeline to five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1810514" cy="42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Pre-work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4396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Kick-off call (30 min)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Client shares sector, top processes, pain points and key documents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Workshop invitations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4910" y="1430000"/>
            <a:ext cx="1810514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4910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Position &amp; 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14910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44910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kick-off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position screen (30-45 min)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Situational scan &amp; interviews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First function workshops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5424" y="1430000"/>
            <a:ext cx="1810514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5424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Discovery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05424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35424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Function workshops with the use-case library (2-3 h each)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Process inventory 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5938" y="1430000"/>
            <a:ext cx="1810514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5938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Diagnose &amp; prioritise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938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25938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fit diagnostic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Value / feasibility / risk scoring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Validation call with sponsor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6452" y="1430000"/>
            <a:ext cx="1810514" cy="4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86452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Strategy &amp; roadmap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6452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16452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Strategy formulation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Roadmap lanes &amp; enablers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Use-case canvases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GT quality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76966" y="1430000"/>
            <a:ext cx="1810514" cy="4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76966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Report &amp; presentation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76966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06966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Strategy &amp; roadmap report issued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presentation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Agree next steps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4396" y="5080000"/>
            <a:ext cx="11263086" cy="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Client time: </a:t>
            </a:r>
            <a:r>
              <a:rPr sz="1100" b="0">
                <a:solidFill>
                  <a:srgbClr val="222222"/>
                </a:solidFill>
                <a:latin typeface="Arial"/>
              </a:rPr>
              <a:t>sponsor 30 min / day; one 2-3 hour workshop per function in scope; position screen with leadership, IT and finance; Day-5 presentation.  </a:t>
            </a:r>
            <a:r>
              <a:rPr sz="1100" b="1">
                <a:solidFill>
                  <a:srgbClr val="222222"/>
                </a:solidFill>
                <a:latin typeface="Arial"/>
              </a:rPr>
              <a:t>Scope: </a:t>
            </a:r>
            <a:r>
              <a:rPr sz="1100" b="0">
                <a:solidFill>
                  <a:srgbClr val="222222"/>
                </a:solidFill>
                <a:latin typeface="Arial"/>
              </a:rPr>
              <a:t>standard scope covers up to 6 functions and 50 processes; larger groups run additional workshop days in parallel.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22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 and Engagement Options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24396" y="1230000"/>
          <a:ext cx="6194696" cy="3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8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78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strategy &amp; roadmap report (situational analysis, strategy, roadmap)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Report (PDF) + leadership deck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Organisational AI position and opportunity report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Toolkit output (PDF)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fit diagnostic of in-scope processes with GT recommendations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Excel (GT AI Opportunity Discovery Toolkit)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Use-case canvases for the top 10 opportunities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One-page canvases (PDF)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Roadmap lanes, enablers and KPIs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Report section + Excel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19093" y="1230000"/>
            <a:ext cx="4868389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AUTOMATION &amp; AI SCAN   </a:t>
            </a:r>
            <a:r>
              <a:rPr sz="1100" b="0">
                <a:solidFill>
                  <a:srgbClr val="FFFFFF"/>
                </a:solidFill>
                <a:latin typeface="Arial"/>
              </a:rPr>
              <a:t>report in 3 working days - SMEs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19093" y="16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Position screen, one discovery workshop, diagnostic of up to 15 processes, opportunity report and roadmap lanes. Answers: is automation enough?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9093" y="2680000"/>
            <a:ext cx="4868389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AI STRATEGY &amp; ROADMAP   </a:t>
            </a:r>
            <a:r>
              <a:rPr sz="1100" b="0">
                <a:solidFill>
                  <a:srgbClr val="FFFFFF"/>
                </a:solidFill>
                <a:latin typeface="Arial"/>
              </a:rPr>
              <a:t>report in 5 working days - standard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19093" y="310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All five phases, up to 6 functions / 50 processes, strategy, roadmap and top-10 canvases.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19093" y="4130000"/>
            <a:ext cx="4868389" cy="4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STRATEGY + READINESS   </a:t>
            </a:r>
            <a:r>
              <a:rPr sz="1100" b="0">
                <a:solidFill>
                  <a:srgbClr val="FFFFFF"/>
                </a:solidFill>
                <a:latin typeface="Arial"/>
              </a:rPr>
              <a:t>both reports in 5 working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19093" y="45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Standard scope plus the GT AI Readiness &amp; Risk Assessment (questionnaire completed as pre-work) - where AI fits AND how ready the organisation 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4530000"/>
            <a:ext cx="6194697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functions, locations) is confirmed. Implementation support is scoped separately.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Grant Thornton Bahrain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Strategy, governance, risk, cyber and assurance under one roof - with proprietary tools and the GT global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Practise what we advise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GT Bahrain assessed its own AI readiness with AI Ready7 (Sept 2026) and uses the results to set its own priorities.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07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Trusted and regulation-ready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Audit, GRC and cyber heritage; Bahrain PDPL, CBB, iGA AI Policy and EU AI Act mapped into our AI RCM v2.1 (81 controls).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71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Honest about automation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We recommend AI only where it beats automation - protecting budgets and reducing risk.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35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Sector depth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 240-entry use-case library with the deepest coverage in banking, insurance, healthcare and telecom.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399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End-to-end AI service lines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Strategy &amp; Roadmap | AI Governance, Risk &amp; Compliance | AI-Driven Automation &amp; Apps | Training &amp; Awareness.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0939" y="1430000"/>
            <a:ext cx="5556543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GT AI tools and apps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30939" y="1810000"/>
          <a:ext cx="5556542" cy="3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2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Tool / app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Opportunity Discovery Toolkit (240-entry library)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(v2.0)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Readiness &amp; Risk Assessment (20 questions, 5 domains)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(v2.0)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RCM v2.1 + AI Security &amp; Agent Audit Checklist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 &amp; Toolkit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 (v1.1)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BCP 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Financial Statements tool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Client AI self-assessment portal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Planned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0939" y="4880000"/>
            <a:ext cx="5556543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The AI-powered BCP tool and AI-powered Financial Statements tool are in preparation and are not yet available to clients.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Props1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36392</TotalTime>
  <Words>5105</Words>
  <Application>Microsoft Office PowerPoint</Application>
  <PresentationFormat>Widescreen</PresentationFormat>
  <Paragraphs>690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24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85</cp:revision>
  <dcterms:created xsi:type="dcterms:W3CDTF">2024-04-22T06:15:53Z</dcterms:created>
  <dcterms:modified xsi:type="dcterms:W3CDTF">2026-10-04T06:18:39Z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