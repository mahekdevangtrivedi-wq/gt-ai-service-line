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6"/>
  </p:notesMasterIdLst>
  <p:sldIdLst>
    <p:sldId id="2141411893" r:id="rId34"/>
    <p:sldId id="2141411894" r:id="rId35"/>
    <p:sldId id="2141411895" r:id="rId36"/>
    <p:sldId id="2141411896" r:id="rId37"/>
    <p:sldId id="2141411897" r:id="rId38"/>
    <p:sldId id="2141411898" r:id="rId39"/>
    <p:sldId id="2141411899" r:id="rId40"/>
    <p:sldId id="2141411900" r:id="rId41"/>
    <p:sldId id="2141411901" r:id="rId42"/>
    <p:sldId id="2141411902" r:id="rId43"/>
    <p:sldId id="2141411903" r:id="rId44"/>
    <p:sldId id="2141411904" r:id="rId45"/>
    <p:sldId id="2141411905" r:id="rId46"/>
    <p:sldId id="2141411906" r:id="rId47"/>
    <p:sldId id="2141411907" r:id="rId48"/>
    <p:sldId id="2141411908" r:id="rId49"/>
    <p:sldId id="2141411909" r:id="rId50"/>
    <p:sldId id="2141411910" r:id="rId51"/>
    <p:sldId id="2141411911" r:id="rId52"/>
    <p:sldId id="2141411912" r:id="rId53"/>
    <p:sldId id="2141411913" r:id="rId54"/>
    <p:sldId id="214141191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 varScale="1">
        <p:scale>
          <a:sx n="95" d="100"/>
          <a:sy n="95" d="100"/>
        </p:scale>
        <p:origin x="254" y="72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 position (Sept 2026)</c:v>
                </c:pt>
              </c:strCache>
            </c:strRef>
          </c:tx>
          <c:spPr>
            <a:solidFill>
              <a:srgbClr val="4F2D7F"/>
            </a:solidFill>
          </c:spPr>
          <c:cat>
            <c:strRef>
              <c:f>Sheet1!$A$2:$A$6</c:f>
              <c:strCache>
                <c:ptCount val="5"/>
                <c:pt idx="0">
                  <c:v>Strategy &amp; Value</c:v>
                </c:pt>
                <c:pt idx="1">
                  <c:v>Governance, Risk &amp; Compliance</c:v>
                </c:pt>
                <c:pt idx="2">
                  <c:v>People &amp; Skills</c:v>
                </c:pt>
                <c:pt idx="3">
                  <c:v>Data &amp; Technology</c:v>
                </c:pt>
                <c:pt idx="4">
                  <c:v>AI Security &amp; Threat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60</c:v>
                </c:pt>
                <c:pt idx="2">
                  <c:v>69</c:v>
                </c:pt>
                <c:pt idx="3">
                  <c:v>63</c:v>
                </c:pt>
                <c:pt idx="4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(end-2027)</c:v>
                </c:pt>
              </c:strCache>
            </c:strRef>
          </c:tx>
          <c:spPr>
            <a:solidFill>
              <a:srgbClr val="D9CCEB"/>
            </a:solidFill>
          </c:spPr>
          <c:cat>
            <c:strRef>
              <c:f>Sheet1!$A$2:$A$6</c:f>
              <c:strCache>
                <c:ptCount val="5"/>
                <c:pt idx="0">
                  <c:v>Strategy &amp; Value</c:v>
                </c:pt>
                <c:pt idx="1">
                  <c:v>Governance, Risk &amp; Compliance</c:v>
                </c:pt>
                <c:pt idx="2">
                  <c:v>People &amp; Skills</c:v>
                </c:pt>
                <c:pt idx="3">
                  <c:v>Data &amp; Technology</c:v>
                </c:pt>
                <c:pt idx="4">
                  <c:v>AI Security &amp; Threat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</c:v>
                </c:pt>
                <c:pt idx="1">
                  <c:v>80</c:v>
                </c:pt>
                <c:pt idx="2">
                  <c:v>80</c:v>
                </c:pt>
                <c:pt idx="3">
                  <c:v>78</c:v>
                </c:pt>
                <c:pt idx="4">
                  <c:v>78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5.0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Strategy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Roadmap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4" name="Picture Placeholder 33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1" t="9767" r="17235" b="10853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Context &amp; Our Starting Point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Questions Every Leadership Team Is Asking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An AI strategy is only useful if it says precisely where AI creates value in this organisation - and where it does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396" y="1480000"/>
            <a:ext cx="3654362" cy="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396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Where exactly does AI fit?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96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processes, functions and decisions would genuinely benefit - beyond generic 'use ChatGPT' advice?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758" y="1480000"/>
            <a:ext cx="3654362" cy="9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58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Do we have the data?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58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Is our data digital, joined-up, reliable and deep enough for AI - or do we need foundations first?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3120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3120" y="1480000"/>
            <a:ext cx="3654362" cy="9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3120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Is automation enough?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3120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For many organisations - especially smaller ones - workflow automation, RPA and dashboards deliver most of the value at lower cost and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4396" y="3530000"/>
            <a:ext cx="3654362" cy="9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396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Build, buy or partner?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396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What can we realistically run with our scale, budget and technology team?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758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8758" y="3530000"/>
            <a:ext cx="3654362" cy="9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8758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are the risks?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758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uses affect customers, employees or regulators (PDPL, CBB, EU AI Act) and what controls are required?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3120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3120" y="3530000"/>
            <a:ext cx="3654362" cy="9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33120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do we do first?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120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A prioritised, costed roadmap with quick wins, measurable KPIs and clear ownership.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68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Our approach answers these with evidence: </a:t>
            </a:r>
            <a:r>
              <a:rPr sz="1200" b="0">
                <a:solidFill>
                  <a:srgbClr val="FFFFFF"/>
                </a:solidFill>
                <a:latin typeface="Arial"/>
              </a:rPr>
              <a:t>an organisational AI position screen, a process-by-process AI fit diagnostic and a risk-tiered roadmap - built on international standards.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Starting Point - GT Bahrain AI Ready7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We apply our methods to ourselves first. GT Bahrain's AI Ready7 self-assessment (Sept 2026), consolidated into the five GT readiness domains, against our end-2027 targets.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6532589" cy="43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82247" y="1430000"/>
          <a:ext cx="4505234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7879"/>
                <a:gridCol w="675785"/>
                <a:gridCol w="750872"/>
                <a:gridCol w="600698"/>
              </a:tblGrid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Now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Governance, Risk &amp; Compliance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People &amp; Skills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Security &amp; Threat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Overall readiness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&gt;= 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82247" y="4030000"/>
            <a:ext cx="4505235" cy="1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it means for our AI strategy work: </a:t>
            </a:r>
            <a:r>
              <a:rPr sz="1050" b="0">
                <a:solidFill>
                  <a:srgbClr val="222222"/>
                </a:solidFill>
                <a:latin typeface="Arial"/>
              </a:rPr>
              <a:t>we are 'Informed' (61.4%) - strongest in People &amp; Skills and Data; weakest in Strategy &amp; Value (50%) and Governance (60%). Our own priority is therefore exactly what this proposal offers clients: knowing where AI fits and governing it.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Readiness vs fit: </a:t>
            </a:r>
            <a:r>
              <a:rPr sz="1050" b="0">
                <a:solidFill>
                  <a:srgbClr val="222222"/>
                </a:solidFill>
                <a:latin typeface="Arial"/>
              </a:rPr>
              <a:t>Ready7 tells us HOW READY we are; the Opportunity Discovery method tells us WHERE AI FITS. A complete strategy needs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8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Domain scores are the averages of the AI Ready7 pillars they consolidate: Data &amp; Technology = Architecture &amp; Technology + Data &amp; Quality; AI Security &amp; Threat Risk = Protect AI Systems + Protection from AI Threats. Maturity: &lt;50% Partial | 50-70% Informed | 70-90% Repeatable | 90%+ Adaptive.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Starting Point - Where AI Fits in GT Bahrain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We ran the Opportunity Discovery Toolkit on our own firm (21 processes): the result shapes our own roadmap and is the worked example clients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725771" cy="12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396" y="151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Buy &amp; configure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396" y="208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AI position (archetype C)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Data 56%  |  Scale &amp; capacity 44%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430000"/>
            <a:ext cx="2725771" cy="12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0167" y="151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0167" y="208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of processes: AI fit now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(GenAI drafting, IDP, knowledge assistants)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5938" y="1430000"/>
            <a:ext cx="2725771" cy="1250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5938" y="151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5938" y="208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automation is enough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(VAT data, billing, KYC checks, KPI packs)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61709" y="1430000"/>
            <a:ext cx="2725771" cy="12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1709" y="151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1709" y="208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need a partner, data or process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foundations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278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4F2D7F"/>
                </a:solidFill>
                <a:latin typeface="Arial"/>
              </a:rPr>
              <a:t>Top-ranked opportunities (risk-adjusted priority)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24396" y="3180000"/>
          <a:ext cx="11263083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286"/>
                <a:gridCol w="3495440"/>
                <a:gridCol w="1359337"/>
                <a:gridCol w="2912867"/>
                <a:gridCol w="2330293"/>
                <a:gridCol w="873860"/>
              </a:tblGrid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VAT return data preparation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Tax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Workflow automation / RPA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Automate - AI not needed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Timesheets, WIP &amp; billing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Finance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Workflow automation / RPA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Automate - AI not needed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Meeting minutes &amp; action tracking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Firm-wide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GenAI assistant (off-the-shelf)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Audit working-paper &amp; memo drafting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Audit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GenAI assistant (off-the-shelf)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Client acceptance, KYC &amp; independence checks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Risk &amp; Quality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Automate - AI not needed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Bank &amp; confirmation letters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Audit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Methodology &amp; knowledge Q&amp;A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Firm-wide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GenAI knowledge assistant (RAG)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24396" y="590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Insight: our two highest-ranked opportunities need no AI at all - exactly the discipline we bring to clients. Journal-entry analytics and the AI Financial Statements tool rank as 'stretch' (custom ML beyond our position) - delivered with partners; the AI-powered BCP and Financial Statements tools remain in preparation.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Methodology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Five phases over 6-8 weeks. Phase 3 - AI Opportunity Discovery - is what makes the strategy specific to the organisation.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430000"/>
            <a:ext cx="2300617" cy="65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1  Mobilise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430000"/>
            <a:ext cx="2300617" cy="65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  Situational analysis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430000"/>
            <a:ext cx="2300617" cy="65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3  AI opportunity discovery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430000"/>
            <a:ext cx="2300617" cy="65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4  Strategy formulation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430000"/>
            <a:ext cx="2300617" cy="65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5  Roadmap &amp; business case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396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Scope, sponsor and stakeholders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Document request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Interview plan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 workshop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4396" y="5380000"/>
            <a:ext cx="2180617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Project charter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5013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013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External scan (PESTLE: regulation, market, competitors, technology)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Internal scan: strategy, operating model, systems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Stakeholder interviews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SWOT -&gt; TOWS options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Optional: AI Readiness &amp; Risk Assessment baseline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5013" y="5380000"/>
            <a:ext cx="2180617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Situational report, SWOT / TOWS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5630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630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Organisational AI position (data x scale)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Process discovery workshops per function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 per process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Value, feasibility &amp; risk scoring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Opportunity map &amp; use-case canvases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5630" y="5380000"/>
            <a:ext cx="2180617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Opportunity map, top-10 canvases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6247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6247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vision &amp; ambition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Objectives &amp; KPIs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Priority domains &amp; portfolio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Build / buy / partner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Risk appetite &amp; guardrails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Operating model (owner, CoE, decision rights)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76247" y="5380000"/>
            <a:ext cx="2180617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AI strategy document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16864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46864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H1 / H2 / H3 roadmap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Enablers: data, platforms, people, governance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Indicative budget &amp; benefits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100-day plan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KPI dashboard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6864" y="5380000"/>
            <a:ext cx="2180617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Roadmap, business case, 100-day plan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4396" y="600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595959"/>
                </a:solidFill>
                <a:latin typeface="Arial"/>
              </a:rPr>
              <a:t>Week:   1   |   1-2   |   2-5   |   5-7   |   7-8        Steering checkpoints at the end of phases 2, 3 and 5.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Principles Behind Our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What makes a GT AI strategy different from a technology wish-list.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650000" cy="10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4396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4396" y="152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Problem first, not technology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4396" y="190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We start from processes, pain points and decisions - then choose the technology.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939" y="1430000"/>
            <a:ext cx="650000" cy="10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0939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0939" y="152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Automation before AI - where it is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0939" y="190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If rules, workflow or a dashboard solve it, we say so. AI is recommended only where it adds value that automation cannot.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2600000"/>
            <a:ext cx="650000" cy="10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74396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74396" y="269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Data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4396" y="307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Every AI recommendation passes a data gate: is the data digital, available, reliable and (for prediction) labelled?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0939" y="2600000"/>
            <a:ext cx="650000" cy="10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80939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0939" y="269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Right-sized to the organisation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0939" y="307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A solution ceiling based on scale, budget and technology capacity: an SME and a bank get different answers.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4396" y="3770000"/>
            <a:ext cx="650000" cy="10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74396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4396" y="386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Proportionate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4396" y="424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Each opportunity is risk-tiered (NSW AIAF / EU AI Act / PDPL) and carries minimum controls before go-live.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0939" y="3770000"/>
            <a:ext cx="650000" cy="10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80939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0939" y="386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Standards-based and vendor-agnostic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0939" y="424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ISO/IEC 42001, 22989, 5259, 42005, NIST AI RMF, OECD - and no vendor commissions.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Phases 1-2: Mobilise and Situational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Understand the organisation, its environment and its starting point before discussing solutions.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96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Kick-off with sponsor; confirm scope, objectives and success criteria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Review strategy, operating model, IT landscape, data assets and current AI use (incl. shadow AI)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6-10 stakeholder interviews (leadership, business units, IT, risk, HR)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External scan: Bahrain Vision 2030, iGA AI Policy, PDPL, CBB, EU AI Act reach; sector and competitor AI use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SWOT and TOWS to derive strategic 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TOOLS &amp; INPUTS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758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Document request list and interview guides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PESTLE and SWOT / TOWS templates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use inventory template (incl. embedded AI in SaaS)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Optional baseline: GT AI Readiness &amp; Risk Assessment (20 questions, 5 domains, auto-generated report)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3120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Situational analysis report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SWOT / TOWS and strategic options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Current AI use inventory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Readiness baseline (if selected)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3: The GT AI Opportunity Discovery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structured, facilitated method that answers 'where exactly does AI fit?' - process by process - and tells the organisation where automation is enough.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172617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 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Is the organisation positioned for AI? 12 questions on DATA (digitisation, history, quality, documents, integration, outcomes) and SCALE &amp; CAPACITY (size, volumes, IT, budget, digital channels, change capacity).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Archetype + solution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7013" y="1430000"/>
            <a:ext cx="2172617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  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7013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Function-by-function workshops using a 60+ process library (cross-industry and Bahrain priority sectors: banking, insurance, government, healthcare, hospitality, manufacturing).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7013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Process &amp; pain-point inventory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9630" y="1430000"/>
            <a:ext cx="2172617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  Diagnose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9630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For every process: nature of the task -&gt; solution family (10 families, 5 levels), data gate, organisational fit and AIAF-style risk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9630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Verdict per 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2247" y="1430000"/>
            <a:ext cx="2172617" cy="7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  Prioritise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Value (volume, effort, strategic importance, customer impact) x feasibility (data fit, standardisation, simplicity, organisational fit), risk-adjusted.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247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Ranked opportunities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4864" y="1430000"/>
            <a:ext cx="2172617" cy="7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 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4864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Opportunity map, H1 / H2 / H3 roadmap lanes with the enabling foundations, and a one-page canvas per priority use case.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4864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Opportunity map, roadmap, canvases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573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 a readiness test: </a:t>
            </a:r>
            <a:r>
              <a:rPr sz="1100" b="0">
                <a:solidFill>
                  <a:srgbClr val="FFFFFF"/>
                </a:solidFill>
                <a:latin typeface="Arial"/>
              </a:rPr>
              <a:t>the toolkit locates opportunities and the right type of solution. Governance maturity is measured separately by the GT AI Readiness &amp; Risk Assessment.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1: Organisational AI Position - Is Automation Enough?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Two scores place the organisation in one of four archetypes. Each archetype sets a ceiling on the complexity of solution it can realistically adopt today.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24396" y="1730000"/>
            <a:ext cx="2350000" cy="16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C. Buy and configure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Good data, limited scale / capacity: adopt and configure proven AI products rather than build.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4 - Configured AI on own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4396" y="1730000"/>
            <a:ext cx="2350000" cy="165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D. Build and scale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Data and scale support custom AI: build a portfolio, including advanced analytics and governed agentic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5 - Custom AI / agentic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396" y="3440000"/>
            <a:ext cx="2350000" cy="16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A. Automation is enough - for now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Digitise and automate first; use AI that is already built into everyday tools.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4396" y="3440000"/>
            <a:ext cx="2350000" cy="16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B. Data foundations first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Scale is there but the data is not: fix data foundations while automating and adopting off-the-shelf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396" y="2030000"/>
            <a:ext cx="1150000" cy="16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396" y="3740000"/>
            <a:ext cx="1150000" cy="16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96" y="5180000"/>
            <a:ext cx="235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4396" y="5180000"/>
            <a:ext cx="235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4396" y="1430000"/>
            <a:ext cx="50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12 position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4396" y="1860000"/>
            <a:ext cx="5063086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Data position: </a:t>
            </a:r>
            <a:r>
              <a:rPr sz="1050" b="0">
                <a:solidFill>
                  <a:srgbClr val="222222"/>
                </a:solidFill>
                <a:latin typeface="Arial"/>
              </a:rPr>
              <a:t>how processes run (paper -&gt; integrated systems); depth of digital history; data quality &amp; ownership; where documents live; integration; recorded outcomes ('labels').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Scale &amp; capacity: </a:t>
            </a:r>
            <a:r>
              <a:rPr sz="1050" b="0">
                <a:solidFill>
                  <a:srgbClr val="222222"/>
                </a:solidFill>
                <a:latin typeface="Arial"/>
              </a:rPr>
              <a:t>employees; transaction volumes; in-house technology skills; budget; digital interactions; capacity for change.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4396" y="3830000"/>
            <a:ext cx="5063086" cy="3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Solution levels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4396" y="4230000"/>
            <a:ext cx="5063086" cy="1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1. Digitise / redesign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2. Automate (no AI)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3. Off-the-shelf / embedded AI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4. Configured AI on own data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5. Custom AI / agentic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OECD Framework for the Classification of AI Systems (Economic Context; Data &amp; Input), ISO/IEC 42001 cl. 4.1-4.2, NIST AI RMF MAP 1.3-1.6. A foundation flag is raised where core processes are still paper-based or no outcomes are recorded.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Steps 2-3: Discover and Diagnose - From Task to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nature of the work - not the hype - determines the solution. Each process gets one of five verdicts.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380000"/>
          <a:ext cx="6983110" cy="3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762"/>
                <a:gridCol w="2208943"/>
                <a:gridCol w="427537"/>
                <a:gridCol w="427537"/>
                <a:gridCol w="926331"/>
              </a:tblGrid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Nature of the task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AI?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Min. data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Move or re-key data between systems following fixed rules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Workflow automation / RPA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Check or approve items against fixed criteria (rules, thresholds, checklists)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 automation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Produce reports, dashboards or reconciliations from existing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BI, dashboards &amp; reconciliation automation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Extract information from documents, forms or emails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 (IDP)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Light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Draft, summarise, translate or review 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Generative AI assistant (off-the-shelf)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Answer questions from internal knowledge, policies or past work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GenAI knowledge assistant (RAG on own content)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Converse with customers, citizens or staff (chat, voice, WhatsApp)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Conversational AI / virtual agent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Recognise or inspect images, video or speech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Computer vision / speech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Forecast, score, classify or detect anomalies from historical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Predictive analytics / machine learning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Coordinate multi-step work across systems that needs judgement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Agentic AI (supervised agents)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657509" y="1380000"/>
            <a:ext cx="4129973" cy="3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Verdict logic (in order)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7509" y="181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Process varies by person?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22495" y="1810000"/>
            <a:ext cx="2064986" cy="560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Redesign / standardise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57509" y="245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Family needs no AI?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22495" y="2450000"/>
            <a:ext cx="2064986" cy="56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Automate - AI not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57509" y="309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Data below the family's minimum?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22495" y="3090000"/>
            <a:ext cx="2064986" cy="56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later - close data gap first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57509" y="373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Level above the organisation's ceiling?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2495" y="3730000"/>
            <a:ext cx="2064986" cy="56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Stretch - partner or later stage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57509" y="437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Otherwise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2495" y="4370000"/>
            <a:ext cx="2064986" cy="56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fit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09" y="5080000"/>
            <a:ext cx="4129973" cy="9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Inputs per process: task nature, volume, effort (hours / month), standardisation, data availability, strategic importance, customer / quality impact, effect on individuals' rights, personal data, intended autonomy. Basis: ISO/IEC 22989, ISO/IEC 23053, OECD AI classification, ISO/IEC 5259, ISO/IEC 42001 Annex A.7.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4: Prioritise - Value, Feasibility and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Transparent scoring that leadership can challenge - and that separates quick wins from strategic bets.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VALUE (1-5)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4396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Volume of the process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Effort today (staff hours / month)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Strategic importance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Customer / quality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FEASIBILITY (1-5)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8758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Data fit (vs. family minimum)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Process standardisation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Solution simplicity (level 1-5)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Organisational fit (vs. ceiling)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3120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+2  Affects individuals' rights or access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  Personal or confidential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+0-2  Autonomy (assist / approve / automated)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+1-2  Impact of errors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4+ High | 2-3 Medium | 0-1 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880000"/>
            <a:ext cx="1800000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Strategic bets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harder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4396" y="3880000"/>
            <a:ext cx="1800000" cy="70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Quick wins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feasible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630000"/>
            <a:ext cx="1800000" cy="70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Deprioritise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harder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4396" y="4630000"/>
            <a:ext cx="1800000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Fill-ins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feasible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4396" y="3880000"/>
            <a:ext cx="7413086" cy="1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Priority score </a:t>
            </a:r>
            <a:r>
              <a:rPr sz="1100" b="0">
                <a:solidFill>
                  <a:srgbClr val="222222"/>
                </a:solidFill>
                <a:latin typeface="Arial"/>
              </a:rPr>
              <a:t>= value x feasibility, reduced for High risk (-15%) and where redesign is needed first (-20%).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Horizons: </a:t>
            </a:r>
            <a:r>
              <a:rPr sz="1100" b="0">
                <a:solidFill>
                  <a:srgbClr val="222222"/>
                </a:solidFill>
                <a:latin typeface="Arial"/>
              </a:rPr>
              <a:t>H1 Now (0-6 months): quick wins and fill-ins that fit now or need only automation.  H2 Next (6-12 months): strategic bets, stretch items with partners, redesigned processes.  H3 Later (12-24 months): items waiting on data foundations.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Minimum controls by tier </a:t>
            </a:r>
            <a:r>
              <a:rPr sz="1100" b="0">
                <a:solidFill>
                  <a:srgbClr val="222222"/>
                </a:solidFill>
                <a:latin typeface="Arial"/>
              </a:rPr>
              <a:t>(GT AI Risk Assessment Framework, ISO/IEC 42005, PDPL, EU AI Act screen) are attached to every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NIST AI RMF MAP 3.1-3.2 (benefits and costs), ISO/IEC 42001 cl. 6.2 (AI objectives), NSW AI Assessment Framework, ISACA Securing AI Agents (2026) for autonomy.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5: What the Client Receives from Phase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Illustrative pages from the worked example (GT Bahrain).</a:t>
            </a:r>
          </a:p>
        </p:txBody>
      </p:sp>
      <p:pic>
        <p:nvPicPr>
          <p:cNvPr id="10" name="Picture 9" descr="tk_pos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396" y="1380000"/>
            <a:ext cx="3180473" cy="4500000"/>
          </a:xfrm>
          <a:prstGeom prst="rect">
            <a:avLst/>
          </a:prstGeom>
        </p:spPr>
      </p:pic>
      <p:pic>
        <p:nvPicPr>
          <p:cNvPr id="11" name="Picture 10" descr="tk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4396" y="1380000"/>
            <a:ext cx="3180473" cy="4500000"/>
          </a:xfrm>
          <a:prstGeom prst="rect">
            <a:avLst/>
          </a:prstGeom>
        </p:spPr>
      </p:pic>
      <p:pic>
        <p:nvPicPr>
          <p:cNvPr id="12" name="Picture 11" descr="tk_canv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4396" y="1380000"/>
            <a:ext cx="3180473" cy="45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Organisational AI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AI opportunity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Use-case canvas (one per priority)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396" y="1380000"/>
            <a:ext cx="1363086" cy="4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Also delivered: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Full AI fit diagnostic (up to 50 processes)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Roadmap lanes with enabling foundations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Process library used in workshops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Standards basis appendix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4: AI Strategy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opportunity evidence becomes a strategy leadership can approve, fund and govern.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Vision &amp; ambition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Where AI will - and will not - be used; ambition level consistent with the AI position archetype.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0167" y="14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Objectives &amp; KPIs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3-5 measurable objectives (ISO/IEC 42001 cl. 6.2), e.g., hours released, cycle time, quality, customer outcomes.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5938" y="14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Priority portfolio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5938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The ranked opportunities grouped into themes; automation programme and AI programme distinguished.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61709" y="14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Build / buy / partner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9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Decided per family against the solution ceiling; vendor-selection criteria (security, data residency, no training on client data).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5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Risk appetite &amp; guardrails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risk appetite statement, acceptable-use policy, approval by risk tier, human oversight.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70167" y="35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Operating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0167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Executive sponsor, AI owner / CoE, decision rights, intake and stage-gates; links to existing risk and IT governance.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5938" y="35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People &amp; change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5938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literacy for all users, role-based skills, change and communications plan.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61709" y="35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 &amp; platforms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1709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Data foundations required by H2 / H3 opportunities; platform choices (automation, GenAI, data).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5: Roadmap and 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sequenced plan the organisation can execute - with the foundations each opportunity depends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600000" cy="6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H1  Now  (0-6 months)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4396" y="143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Quick wins and fill-ins: automation programme, off-the-shelf GenAI under policy, first configured AI pilots.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190000"/>
            <a:ext cx="2600000" cy="6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H2  Next  (6-12 months)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4396" y="219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Strategic bets, stretch items with partners, redesigned processes, scaling of proven pilots.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950000"/>
            <a:ext cx="2600000" cy="6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H3  Later  (12-24 months)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396" y="295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AI use cases unlocked by data foundations; advanced analytics / supervised agentic AI where the position allows.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780000"/>
            <a:ext cx="11263086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ENABLERS ACROSS ALL HORIZONS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Governance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policy, AI register, tier-based risk assessment, GT AI RCM v2.1 controls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7013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Data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owners, quality, integration, capture of outcomes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9630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Platforms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one automation platform; enterprise GenAI; data platform as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People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literacy, champions, change management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4864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Value tracking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KPI dashboard, benefits realisation, quarterly portfolio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580000"/>
            <a:ext cx="11263086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Arial"/>
              </a:rPr>
              <a:t>Also delivered: </a:t>
            </a:r>
            <a:r>
              <a:rPr sz="1150" b="0">
                <a:solidFill>
                  <a:srgbClr val="222222"/>
                </a:solidFill>
                <a:latin typeface="Arial"/>
              </a:rPr>
              <a:t>indicative budget and benefits per horizon, 100-day mobilisation plan, KPI dashboard and governance cadence.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Standards and Frameworks Behind the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Every step is traceable to recognised international guidance - giving boards and regulators confidence in the result.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230000"/>
          <a:ext cx="11263084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125"/>
                <a:gridCol w="3975206"/>
                <a:gridCol w="6246753"/>
              </a:tblGrid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Phase / step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Standard or framework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How it is used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OECD Framework for the Classification of AI Systems (2022)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Economic Context and Data &amp; Input dimensions shape the position screen: scale, sector, data provenance, structure and availability.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4.1 - 4.2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Understanding the organisation, its context and interested parties before deciding where AI is used.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1.3, 1.4, 1.6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Organisational mission, business value and system requirements established before AI is selected.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APQC Process Classification Framework (cross-industry)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Function / process taxonomy behind the process library and inventory.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Intended purpose, context of use and users documented for each candidate process.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ISO/IEC 22989:2022 and ISO/IEC 23053:2022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concepts, tasks and ML system components - basis for the task-nature to solution-family mapping.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OECD AI classification - AI Model and Task &amp; Output dimensions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Distinguishes recognition, detection, forecasting, personalisation, goal-driven optimisation and generation tasks.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ISO/IEC 5259 series (2024-2025) and ISO/IEC 8183:2023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Data quality and data life cycle for analytics and ML - basis for the per-process data gate.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Annex A.7 (Data for AI systems)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Data acquisition, quality, provenance and preparation expected before AI is deployed.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NSW AI Assessment Framework (AIAF)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Inherent-risk questions (impact on people, autonomy, data sensitivity) behind the risk tier.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EU AI Act (Reg. 2024/1689) Art. 5, 6, 50 and Annex III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Screens out prohibited practices and flags high-risk uses (credit, employment, essential services, biometrics) and transparency duties.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Bahrain PDPL (Law No. 30 of 2018)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Personal and sensitive data flag; lawful basis and DPIA expectations for higher-risk processing.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ISACA - Cybersecurity Recommendations for Securing AI Agents (2026); OWASP Top 10 for LLM Applications (2025)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Autonomy rating and agentic guardrails: least agency, human approval for high-impact actions, excessive-agency risk.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3.1, 3.2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Expected benefits and costs (incl. of errors) weighed per use case.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6.2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objectives that are measurable - feed the KPIs on each canvas.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ISO/IEC 42005:2025 and ISO/IEC 23894:2023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system impact assessment and risk management for Medium / High-tier use cases before go-live.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ISO/IEC 5338:2023 and ISO/IEC 42001 Annex A.6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system life cycle from design to retirement for each roadmap item.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v1.1 and GT AI RCM v2.1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Tier-based minimum controls on each use-case canvas; control testing once in production.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32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Complementary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GT AI Ready7 / GT AI Readiness &amp; Risk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Measures governance and capability maturity. Not repeated here - this toolkit asks WHERE AI fits, not HOW READY the organisation is.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Timeline (Standard Scope: 8 Weeks)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Indicative; adjusted to the number of functions in scope and stakeholder availability.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4396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57281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0166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3051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55936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8821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1706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54591" y="1380000"/>
            <a:ext cx="1012885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181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1  Mobilise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4396" y="1850000"/>
            <a:ext cx="1012885" cy="3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396" y="226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2  Situational analysis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0838" y="2300000"/>
            <a:ext cx="1529327" cy="3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4396" y="271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3a Position 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3723" y="2750000"/>
            <a:ext cx="496442" cy="3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4396" y="316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3b Discovery workshops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0166" y="3200000"/>
            <a:ext cx="2045770" cy="3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396" y="361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3c Diagnose &amp; prioritise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3051" y="3650000"/>
            <a:ext cx="1529327" cy="3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4396" y="406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4  Strategy formulation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72378" y="4100000"/>
            <a:ext cx="1529327" cy="3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396" y="451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5  Roadmap &amp; business case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05263" y="4550000"/>
            <a:ext cx="2045770" cy="3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396" y="4960000"/>
            <a:ext cx="2950000" cy="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4F2D7F"/>
                </a:solidFill>
                <a:latin typeface="Arial"/>
              </a:rPr>
              <a:t>Steering checkpoints</a:t>
            </a:r>
          </a:p>
        </p:txBody>
      </p:sp>
      <p:sp>
        <p:nvSpPr>
          <p:cNvPr id="33" name="Diamond 32"/>
          <p:cNvSpPr/>
          <p:nvPr/>
        </p:nvSpPr>
        <p:spPr>
          <a:xfrm>
            <a:off x="5486877" y="5020000"/>
            <a:ext cx="260000" cy="260000"/>
          </a:xfrm>
          <a:prstGeom prst="diamond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8069090" y="5020000"/>
            <a:ext cx="260000" cy="260000"/>
          </a:xfrm>
          <a:prstGeom prst="diamond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11580899" y="5020000"/>
            <a:ext cx="260000" cy="260000"/>
          </a:xfrm>
          <a:prstGeom prst="diamond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396" y="5530000"/>
            <a:ext cx="11263086" cy="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1100" b="0">
                <a:solidFill>
                  <a:srgbClr val="222222"/>
                </a:solidFill>
                <a:latin typeface="Arial"/>
              </a:rPr>
              <a:t>sponsor 1 hour / week; 6-10 interviews (1 hour); one 2-3 hour discovery workshop per function; position screen with leadership, IT and finance (30-45 minutes); two strategy workshops with the leadership team.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 and Engagement Options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4396" y="1230000"/>
          <a:ext cx="6194696" cy="32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818"/>
                <a:gridCol w="2477878"/>
              </a:tblGrid>
              <a:tr h="47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Situational analysis, SWOT / TOWS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(Word / PDF)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Organisational AI position and opportunity map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Toolkit output (PDF) + workshop deck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fit diagnostic of in-scope processes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Excel (GT AI Opportunity Discovery Toolkit)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Use-case canvases for the top 10 opportunities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One-page canvases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strategy (vision, objectives, portfolio, risk appetite, operating model)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Strategy document + board deck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Roadmap, business case, 100-day plan, KPI dashboard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Excel + deck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19093" y="1230000"/>
            <a:ext cx="4868389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AUTOMATION &amp; AI SCAN   </a:t>
            </a:r>
            <a:r>
              <a:rPr sz="1150" b="0">
                <a:solidFill>
                  <a:srgbClr val="FFFFFF"/>
                </a:solidFill>
                <a:latin typeface="Arial"/>
              </a:rPr>
              <a:t>3 weeks - SMEs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19093" y="16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Position screen, 1-2 discovery workshops, diagnostic of up to 15 processes, opportunity map and roadmap lanes. Answers: is automation enough?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9093" y="2680000"/>
            <a:ext cx="4868389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AI STRATEGY &amp; ROADMAP   </a:t>
            </a:r>
            <a:r>
              <a:rPr sz="1150" b="0">
                <a:solidFill>
                  <a:srgbClr val="FFFFFF"/>
                </a:solidFill>
                <a:latin typeface="Arial"/>
              </a:rPr>
              <a:t>6-8 weeks - standard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9093" y="310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All five phases for the whole organisation (up to 50 processes), full strategy, roadmap and business case.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9093" y="4130000"/>
            <a:ext cx="4868389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STRATEGY + READINESS   </a:t>
            </a:r>
            <a:r>
              <a:rPr sz="1150" b="0">
                <a:solidFill>
                  <a:srgbClr val="FFFFFF"/>
                </a:solidFill>
                <a:latin typeface="Arial"/>
              </a:rPr>
              <a:t>8-10 weeks - extended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9093" y="45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Standard scope plus the GT AI Readiness &amp; Risk Assessment baseline and an AI governance blueprint (policy, register, risk framework).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5580000"/>
            <a:ext cx="6194697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functions, locations) is confirmed.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Grant Thornton Bahrain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Strategy, governance, risk, cyber and assurance under one roof - with proprietary tools and the GT global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5556543" cy="69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Practise what we advise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We assessed our own readiness (AI Ready7) and ran the Opportunity Discovery Toolkit on our own firm before offering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90000"/>
            <a:ext cx="5556543" cy="69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Trusted and regulation-ready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Audit, GRC and cyber heritage; Bahrain PDPL, CBB, iGA AI Policy and EU AI Act mapped into our AI RCM v2.1 (81 controls).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950000"/>
            <a:ext cx="5556543" cy="69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Honest about automation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We recommend AI only where it beats automation - protecting budgets and reducing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710000"/>
            <a:ext cx="5556543" cy="69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End-to-end AI service lines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AI Strategy &amp; Roadmap | AI Governance, Risk &amp; Compliance | AI-Driven Automation &amp; Apps | Training &amp; Awareness.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939" y="1430000"/>
            <a:ext cx="5556543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GT AI tools and apps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30939" y="1810000"/>
          <a:ext cx="5556542" cy="3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703"/>
                <a:gridCol w="1532839"/>
              </a:tblGrid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Tool / app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Opportunity Discovery Toolkit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(v1.0)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Readiness &amp; Risk Assessment (20 questions, 5 domains)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(v2.0)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RCM v2.1 + AI Security &amp; Agent Audit Checklist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&amp; Toolkit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(v1.1)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BCP 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Financial Statements tool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Client AI self-assessment portal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30939" y="4880000"/>
            <a:ext cx="5556543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The AI-powered BCP tool and AI-powered Financial Statements tool are in preparation and are not yet available to clients.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3295</Words>
  <Application>Microsoft Office PowerPoint</Application>
  <PresentationFormat>Widescreen</PresentationFormat>
  <Paragraphs>385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Lato Light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84</cp:revision>
  <dcterms:created xsi:type="dcterms:W3CDTF">2024-04-22T06:15:53Z</dcterms:created>
  <dcterms:modified xsi:type="dcterms:W3CDTF">2026-09-24T13:08:32Z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