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3" r:id="rId5"/>
    <p:sldMasterId id="2147483685" r:id="rId6"/>
  </p:sldMasterIdLst>
  <p:notesMasterIdLst>
    <p:notesMasterId r:id="rId31"/>
  </p:notesMasterIdLst>
  <p:sldIdLst>
    <p:sldId id="2141411893" r:id="rId7"/>
    <p:sldId id="2141411917" r:id="rId8"/>
    <p:sldId id="2141411895" r:id="rId9"/>
    <p:sldId id="2141411896" r:id="rId10"/>
    <p:sldId id="2141411897" r:id="rId11"/>
    <p:sldId id="2141411898" r:id="rId12"/>
    <p:sldId id="2141411899" r:id="rId13"/>
    <p:sldId id="2141411900" r:id="rId14"/>
    <p:sldId id="2141411901" r:id="rId15"/>
    <p:sldId id="2141411902" r:id="rId16"/>
    <p:sldId id="2141411903" r:id="rId17"/>
    <p:sldId id="2141411904" r:id="rId18"/>
    <p:sldId id="2141411905" r:id="rId19"/>
    <p:sldId id="2141411906" r:id="rId20"/>
    <p:sldId id="2141411907" r:id="rId21"/>
    <p:sldId id="2141411908" r:id="rId22"/>
    <p:sldId id="2141411909" r:id="rId23"/>
    <p:sldId id="2141411910" r:id="rId24"/>
    <p:sldId id="2141411911" r:id="rId25"/>
    <p:sldId id="2141411912" r:id="rId26"/>
    <p:sldId id="2141411913" r:id="rId27"/>
    <p:sldId id="2141411914" r:id="rId28"/>
    <p:sldId id="2141411915" r:id="rId29"/>
    <p:sldId id="214141191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8" userDrawn="1">
          <p15:clr>
            <a:srgbClr val="A4A3A4"/>
          </p15:clr>
        </p15:guide>
        <p15:guide id="2" pos="58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E72921-A7D9-DCBA-A3F9-4012AE4EE01A}" name="Kajal Rajusth" initials="KR" userId="S::Kajal.Rajusth@bh.gt.com::11b61780-b247-4085-a29c-8a573c97e7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2D7F"/>
    <a:srgbClr val="A06DFF"/>
    <a:srgbClr val="2B144D"/>
    <a:srgbClr val="C6ADEA"/>
    <a:srgbClr val="6611FF"/>
    <a:srgbClr val="0F9ED5"/>
    <a:srgbClr val="FFFFFF"/>
    <a:srgbClr val="FFC23D"/>
    <a:srgbClr val="CE2C2C"/>
    <a:srgbClr val="00A4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80D65-38AE-4B63-ACC6-A8CC8317EE11}" v="1" dt="2025-04-23T12:17:02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3447" autoAdjust="0"/>
  </p:normalViewPr>
  <p:slideViewPr>
    <p:cSldViewPr snapToGrid="0">
      <p:cViewPr>
        <p:scale>
          <a:sx n="33" d="100"/>
          <a:sy n="33" d="100"/>
        </p:scale>
        <p:origin x="2654" y="1421"/>
      </p:cViewPr>
      <p:guideLst>
        <p:guide orient="horz" pos="3408"/>
        <p:guide pos="5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jal Rajusth" userId="11b61780-b247-4085-a29c-8a573c97e7f5" providerId="ADAL" clId="{89080D65-38AE-4B63-ACC6-A8CC8317EE11}"/>
    <pc:docChg chg="custSel modSld">
      <pc:chgData name="Kajal Rajusth" userId="11b61780-b247-4085-a29c-8a573c97e7f5" providerId="ADAL" clId="{89080D65-38AE-4B63-ACC6-A8CC8317EE11}" dt="2025-04-23T12:17:05.740" v="30" actId="1076"/>
      <pc:docMkLst>
        <pc:docMk/>
      </pc:docMkLst>
      <pc:sldChg chg="modSp mod">
        <pc:chgData name="Kajal Rajusth" userId="11b61780-b247-4085-a29c-8a573c97e7f5" providerId="ADAL" clId="{89080D65-38AE-4B63-ACC6-A8CC8317EE11}" dt="2025-04-23T11:17:41.002" v="0" actId="20577"/>
        <pc:sldMkLst>
          <pc:docMk/>
          <pc:sldMk cId="3443425539" sldId="4144"/>
        </pc:sldMkLst>
        <pc:spChg chg="mod">
          <ac:chgData name="Kajal Rajusth" userId="11b61780-b247-4085-a29c-8a573c97e7f5" providerId="ADAL" clId="{89080D65-38AE-4B63-ACC6-A8CC8317EE11}" dt="2025-04-23T11:17:41.002" v="0" actId="20577"/>
          <ac:spMkLst>
            <pc:docMk/>
            <pc:sldMk cId="3443425539" sldId="4144"/>
            <ac:spMk id="81" creationId="{06956AA6-9DE1-1AB8-6F11-AAC6C431CE8D}"/>
          </ac:spMkLst>
        </pc:spChg>
      </pc:sldChg>
      <pc:sldChg chg="addSp delSp modSp mod">
        <pc:chgData name="Kajal Rajusth" userId="11b61780-b247-4085-a29c-8a573c97e7f5" providerId="ADAL" clId="{89080D65-38AE-4B63-ACC6-A8CC8317EE11}" dt="2025-04-23T12:17:05.740" v="30" actId="1076"/>
        <pc:sldMkLst>
          <pc:docMk/>
          <pc:sldMk cId="3090248782" sldId="2141411889"/>
        </pc:sldMkLst>
        <pc:picChg chg="add mod">
          <ac:chgData name="Kajal Rajusth" userId="11b61780-b247-4085-a29c-8a573c97e7f5" providerId="ADAL" clId="{89080D65-38AE-4B63-ACC6-A8CC8317EE11}" dt="2025-04-23T12:17:05.740" v="30" actId="1076"/>
          <ac:picMkLst>
            <pc:docMk/>
            <pc:sldMk cId="3090248782" sldId="2141411889"/>
            <ac:picMk id="10" creationId="{8E0D406B-D48D-D6AB-9494-B050EBEDD1FB}"/>
          </ac:picMkLst>
        </pc:picChg>
        <pc:picChg chg="del">
          <ac:chgData name="Kajal Rajusth" userId="11b61780-b247-4085-a29c-8a573c97e7f5" providerId="ADAL" clId="{89080D65-38AE-4B63-ACC6-A8CC8317EE11}" dt="2025-04-23T12:16:55.620" v="28" actId="478"/>
          <ac:picMkLst>
            <pc:docMk/>
            <pc:sldMk cId="3090248782" sldId="2141411889"/>
            <ac:picMk id="73" creationId="{7FA89437-3688-7A9A-1F7D-F87BECC26257}"/>
          </ac:picMkLst>
        </pc:picChg>
      </pc:sldChg>
      <pc:sldChg chg="modSp mod">
        <pc:chgData name="Kajal Rajusth" userId="11b61780-b247-4085-a29c-8a573c97e7f5" providerId="ADAL" clId="{89080D65-38AE-4B63-ACC6-A8CC8317EE11}" dt="2025-04-23T11:24:33.678" v="27" actId="20577"/>
        <pc:sldMkLst>
          <pc:docMk/>
          <pc:sldMk cId="1495240883" sldId="2141411892"/>
        </pc:sldMkLst>
        <pc:spChg chg="mod">
          <ac:chgData name="Kajal Rajusth" userId="11b61780-b247-4085-a29c-8a573c97e7f5" providerId="ADAL" clId="{89080D65-38AE-4B63-ACC6-A8CC8317EE11}" dt="2025-04-23T11:24:33.678" v="27" actId="20577"/>
          <ac:spMkLst>
            <pc:docMk/>
            <pc:sldMk cId="1495240883" sldId="2141411892"/>
            <ac:spMk id="31" creationId="{6F23265C-C94D-1B8C-8B58-522962896158}"/>
          </ac:spMkLst>
        </pc:spChg>
      </pc:sldChg>
    </pc:docChg>
  </pc:docChgLst>
  <pc:docChgLst>
    <pc:chgData name="Kajal Rajusth" userId="11b61780-b247-4085-a29c-8a573c97e7f5" providerId="ADAL" clId="{1B17BDC0-7E97-4C1E-99EA-4D26E4DF89DD}"/>
    <pc:docChg chg="undo custSel delSld modSld">
      <pc:chgData name="Kajal Rajusth" userId="11b61780-b247-4085-a29c-8a573c97e7f5" providerId="ADAL" clId="{1B17BDC0-7E97-4C1E-99EA-4D26E4DF89DD}" dt="2025-03-24T09:19:02.599" v="393" actId="1038"/>
      <pc:docMkLst>
        <pc:docMk/>
      </pc:docMkLst>
      <pc:sldChg chg="addSp delSp modSp mod">
        <pc:chgData name="Kajal Rajusth" userId="11b61780-b247-4085-a29c-8a573c97e7f5" providerId="ADAL" clId="{1B17BDC0-7E97-4C1E-99EA-4D26E4DF89DD}" dt="2025-03-24T09:19:02.599" v="393" actId="1038"/>
        <pc:sldMkLst>
          <pc:docMk/>
          <pc:sldMk cId="88661140" sldId="4122"/>
        </pc:sldMkLst>
        <pc:spChg chg="mod">
          <ac:chgData name="Kajal Rajusth" userId="11b61780-b247-4085-a29c-8a573c97e7f5" providerId="ADAL" clId="{1B17BDC0-7E97-4C1E-99EA-4D26E4DF89DD}" dt="2025-03-24T08:27:20.279" v="223" actId="1076"/>
          <ac:spMkLst>
            <pc:docMk/>
            <pc:sldMk cId="88661140" sldId="4122"/>
            <ac:spMk id="7" creationId="{F1107ECC-23EB-E50C-FA8E-08D9314E9B64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1" creationId="{EADF41F0-1855-07DB-EE0C-28AF0227FCC0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2" creationId="{36FFFD5C-9F00-E757-66BC-327DB8120DA8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3" creationId="{B1EDB9DE-CC5E-8C8C-33BD-8C2DCBD6931F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4" creationId="{D257025D-DDF0-B001-E94C-60FE04248357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5" creationId="{2CF3EE3D-7B64-C6FD-6FCC-7F70F166FCE5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6" creationId="{773B9C7F-CE4D-91FC-574C-1FBAFFD3BF39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7" creationId="{8BD0FF9B-FF90-2645-5C05-BD9D0EC619BF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8" creationId="{C44B34DE-A5F8-9A73-81F1-4CF658D412BB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9" creationId="{B1FB2505-2348-A401-4A94-6AA2B1E78A08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20" creationId="{5EA00958-51F9-F2E8-436D-239DA0AB321A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24" creationId="{58B3CB65-D36C-6B55-7A81-1369C533D059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26" creationId="{283DDA0C-D7C1-A770-11ED-F18BB8878DB1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29" creationId="{5B9F3B89-C499-C2BA-9E54-B0A0BEC72002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24" creationId="{8AA0CC0B-7A78-B04F-3DDB-DB6BA6DE41A1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2" creationId="{6F7A6A5A-2BF0-D950-1345-AAA6468C1B4B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4" creationId="{36EB0E0C-95AF-B3E3-A282-F17C7CC722AC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5" creationId="{8586F6A1-E421-26C4-6300-F86152957DF5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1" creationId="{0B3EF589-6EDF-943C-240B-1E9BC3855475}"/>
          </ac:spMkLst>
        </pc:spChg>
        <pc:spChg chg="add 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2" creationId="{38440AB3-5295-46E0-BAA8-48A4F03C9B98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1045" creationId="{700C45A0-DF84-6A67-749F-F63B01EB56B7}"/>
          </ac:spMkLst>
        </pc:spChg>
        <pc:spChg chg="add 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6" creationId="{A23A09E2-A0BA-DD4A-74EF-0856C0720195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1049" creationId="{9E639FE1-F925-94BE-FD55-9A862CE5FC9D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53" creationId="{64802AF2-8754-97F8-7ED7-AFBB190BF049}"/>
          </ac:spMkLst>
        </pc:spChg>
        <pc:grpChg chg="mod">
          <ac:chgData name="Kajal Rajusth" userId="11b61780-b247-4085-a29c-8a573c97e7f5" providerId="ADAL" clId="{1B17BDC0-7E97-4C1E-99EA-4D26E4DF89DD}" dt="2025-03-24T08:17:26.337" v="46" actId="1076"/>
          <ac:grpSpMkLst>
            <pc:docMk/>
            <pc:sldMk cId="88661140" sldId="4122"/>
            <ac:grpSpMk id="27" creationId="{B5D938CD-655D-5554-7A42-AF2102D263D0}"/>
          </ac:grpSpMkLst>
        </pc:grpChg>
        <pc:grpChg chg="add mod">
          <ac:chgData name="Kajal Rajusth" userId="11b61780-b247-4085-a29c-8a573c97e7f5" providerId="ADAL" clId="{1B17BDC0-7E97-4C1E-99EA-4D26E4DF89DD}" dt="2025-03-24T08:18:04.421" v="93" actId="1036"/>
          <ac:grpSpMkLst>
            <pc:docMk/>
            <pc:sldMk cId="88661140" sldId="4122"/>
            <ac:grpSpMk id="30" creationId="{9C11C3A6-7A71-33BE-74EC-36E6D0731A61}"/>
          </ac:grpSpMkLst>
        </pc:grpChg>
        <pc:grpChg chg="add mod">
          <ac:chgData name="Kajal Rajusth" userId="11b61780-b247-4085-a29c-8a573c97e7f5" providerId="ADAL" clId="{1B17BDC0-7E97-4C1E-99EA-4D26E4DF89DD}" dt="2025-03-24T08:18:40.122" v="135" actId="1037"/>
          <ac:grpSpMkLst>
            <pc:docMk/>
            <pc:sldMk cId="88661140" sldId="4122"/>
            <ac:grpSpMk id="31" creationId="{A8CBA491-E52D-E2B1-57EA-4744A7040EA4}"/>
          </ac:grpSpMkLst>
        </pc:grpChg>
        <pc:grpChg chg="add mod">
          <ac:chgData name="Kajal Rajusth" userId="11b61780-b247-4085-a29c-8a573c97e7f5" providerId="ADAL" clId="{1B17BDC0-7E97-4C1E-99EA-4D26E4DF89DD}" dt="2025-03-24T08:19:54.956" v="188" actId="1076"/>
          <ac:grpSpMkLst>
            <pc:docMk/>
            <pc:sldMk cId="88661140" sldId="4122"/>
            <ac:grpSpMk id="1025" creationId="{1E3B6060-415B-C468-61A8-CFE9659963D0}"/>
          </ac:grpSpMkLst>
        </pc:grpChg>
        <pc:grpChg chg="add mod">
          <ac:chgData name="Kajal Rajusth" userId="11b61780-b247-4085-a29c-8a573c97e7f5" providerId="ADAL" clId="{1B17BDC0-7E97-4C1E-99EA-4D26E4DF89DD}" dt="2025-03-24T08:20:16.318" v="193" actId="1076"/>
          <ac:grpSpMkLst>
            <pc:docMk/>
            <pc:sldMk cId="88661140" sldId="4122"/>
            <ac:grpSpMk id="1029" creationId="{7A3B2986-8656-F7C1-F177-4BB27CEC5EEF}"/>
          </ac:grpSpMkLst>
        </pc:grpChg>
        <pc:grpChg chg="add mod">
          <ac:chgData name="Kajal Rajusth" userId="11b61780-b247-4085-a29c-8a573c97e7f5" providerId="ADAL" clId="{1B17BDC0-7E97-4C1E-99EA-4D26E4DF89DD}" dt="2025-03-24T08:21:08.768" v="205" actId="1076"/>
          <ac:grpSpMkLst>
            <pc:docMk/>
            <pc:sldMk cId="88661140" sldId="4122"/>
            <ac:grpSpMk id="1030" creationId="{E438E375-2149-0636-F2E1-1B7B0732EA89}"/>
          </ac:grpSpMkLst>
        </pc:grpChg>
        <pc:grpChg chg="add mod">
          <ac:chgData name="Kajal Rajusth" userId="11b61780-b247-4085-a29c-8a573c97e7f5" providerId="ADAL" clId="{1B17BDC0-7E97-4C1E-99EA-4D26E4DF89DD}" dt="2025-03-24T08:21:58.147" v="217" actId="1076"/>
          <ac:grpSpMkLst>
            <pc:docMk/>
            <pc:sldMk cId="88661140" sldId="4122"/>
            <ac:grpSpMk id="1031" creationId="{7A13E7EE-7B2C-5B18-9C51-EAD709E12FD6}"/>
          </ac:grpSpMkLst>
        </pc:grpChg>
        <pc:picChg chg="mod">
          <ac:chgData name="Kajal Rajusth" userId="11b61780-b247-4085-a29c-8a573c97e7f5" providerId="ADAL" clId="{1B17BDC0-7E97-4C1E-99EA-4D26E4DF89DD}" dt="2025-03-24T08:17:26.337" v="46" actId="1076"/>
          <ac:picMkLst>
            <pc:docMk/>
            <pc:sldMk cId="88661140" sldId="4122"/>
            <ac:picMk id="1026" creationId="{47E29060-4744-40F2-5DBA-282D541C8D6D}"/>
          </ac:picMkLst>
        </pc:picChg>
        <pc:picChg chg="mod">
          <ac:chgData name="Kajal Rajusth" userId="11b61780-b247-4085-a29c-8a573c97e7f5" providerId="ADAL" clId="{1B17BDC0-7E97-4C1E-99EA-4D26E4DF89DD}" dt="2025-03-24T08:18:04.421" v="93" actId="1036"/>
          <ac:picMkLst>
            <pc:docMk/>
            <pc:sldMk cId="88661140" sldId="4122"/>
            <ac:picMk id="1028" creationId="{7D8B3203-C5FE-7198-37D2-08D643577F47}"/>
          </ac:picMkLst>
        </pc:picChg>
        <pc:picChg chg="mod">
          <ac:chgData name="Kajal Rajusth" userId="11b61780-b247-4085-a29c-8a573c97e7f5" providerId="ADAL" clId="{1B17BDC0-7E97-4C1E-99EA-4D26E4DF89DD}" dt="2025-03-24T08:18:40.122" v="135" actId="1037"/>
          <ac:picMkLst>
            <pc:docMk/>
            <pc:sldMk cId="88661140" sldId="4122"/>
            <ac:picMk id="1036" creationId="{933554A7-6629-EAE3-371A-6ECD9582B528}"/>
          </ac:picMkLst>
        </pc:picChg>
        <pc:picChg chg="mod">
          <ac:chgData name="Kajal Rajusth" userId="11b61780-b247-4085-a29c-8a573c97e7f5" providerId="ADAL" clId="{1B17BDC0-7E97-4C1E-99EA-4D26E4DF89DD}" dt="2025-03-24T08:19:07.220" v="179" actId="1035"/>
          <ac:picMkLst>
            <pc:docMk/>
            <pc:sldMk cId="88661140" sldId="4122"/>
            <ac:picMk id="1038" creationId="{C10A849C-4FD3-B3D8-6A54-A19FBEE0CF9D}"/>
          </ac:picMkLst>
        </pc:picChg>
        <pc:picChg chg="add mod">
          <ac:chgData name="Kajal Rajusth" userId="11b61780-b247-4085-a29c-8a573c97e7f5" providerId="ADAL" clId="{1B17BDC0-7E97-4C1E-99EA-4D26E4DF89DD}" dt="2025-03-24T08:26:39.520" v="221" actId="1076"/>
          <ac:picMkLst>
            <pc:docMk/>
            <pc:sldMk cId="88661140" sldId="4122"/>
            <ac:picMk id="1039" creationId="{4D137CEE-2D9C-E15D-6CF2-A3F280805CC7}"/>
          </ac:picMkLst>
        </pc:picChg>
        <pc:picChg chg="mod">
          <ac:chgData name="Kajal Rajusth" userId="11b61780-b247-4085-a29c-8a573c97e7f5" providerId="ADAL" clId="{1B17BDC0-7E97-4C1E-99EA-4D26E4DF89DD}" dt="2025-03-24T08:19:54.956" v="188" actId="1076"/>
          <ac:picMkLst>
            <pc:docMk/>
            <pc:sldMk cId="88661140" sldId="4122"/>
            <ac:picMk id="1040" creationId="{CC52CBF2-02C8-E105-654E-14E985446DD1}"/>
          </ac:picMkLst>
        </pc:picChg>
        <pc:picChg chg="mod">
          <ac:chgData name="Kajal Rajusth" userId="11b61780-b247-4085-a29c-8a573c97e7f5" providerId="ADAL" clId="{1B17BDC0-7E97-4C1E-99EA-4D26E4DF89DD}" dt="2025-03-24T08:20:16.318" v="193" actId="1076"/>
          <ac:picMkLst>
            <pc:docMk/>
            <pc:sldMk cId="88661140" sldId="4122"/>
            <ac:picMk id="1043" creationId="{B27029C0-84FE-CDAC-0F61-0047AC6A31BF}"/>
          </ac:picMkLst>
        </pc:picChg>
        <pc:picChg chg="add mod">
          <ac:chgData name="Kajal Rajusth" userId="11b61780-b247-4085-a29c-8a573c97e7f5" providerId="ADAL" clId="{1B17BDC0-7E97-4C1E-99EA-4D26E4DF89DD}" dt="2025-03-24T08:28:36.827" v="291" actId="1036"/>
          <ac:picMkLst>
            <pc:docMk/>
            <pc:sldMk cId="88661140" sldId="4122"/>
            <ac:picMk id="1044" creationId="{BF9DA1A2-4ED2-9FE0-1B80-EFE3866C9155}"/>
          </ac:picMkLst>
        </pc:picChg>
        <pc:picChg chg="mod">
          <ac:chgData name="Kajal Rajusth" userId="11b61780-b247-4085-a29c-8a573c97e7f5" providerId="ADAL" clId="{1B17BDC0-7E97-4C1E-99EA-4D26E4DF89DD}" dt="2025-03-24T08:20:40.446" v="198" actId="1076"/>
          <ac:picMkLst>
            <pc:docMk/>
            <pc:sldMk cId="88661140" sldId="4122"/>
            <ac:picMk id="1047" creationId="{DA26F9AD-87D1-7FB8-2CDB-8AE9C8E453E6}"/>
          </ac:picMkLst>
        </pc:picChg>
        <pc:picChg chg="add mod">
          <ac:chgData name="Kajal Rajusth" userId="11b61780-b247-4085-a29c-8a573c97e7f5" providerId="ADAL" clId="{1B17BDC0-7E97-4C1E-99EA-4D26E4DF89DD}" dt="2025-03-24T09:18:16.794" v="357" actId="1076"/>
          <ac:picMkLst>
            <pc:docMk/>
            <pc:sldMk cId="88661140" sldId="4122"/>
            <ac:picMk id="1050" creationId="{44D78C1B-2F56-9C99-C86C-ACA0FE3AAB7D}"/>
          </ac:picMkLst>
        </pc:picChg>
        <pc:picChg chg="mod">
          <ac:chgData name="Kajal Rajusth" userId="11b61780-b247-4085-a29c-8a573c97e7f5" providerId="ADAL" clId="{1B17BDC0-7E97-4C1E-99EA-4D26E4DF89DD}" dt="2025-03-24T08:21:08.768" v="205" actId="1076"/>
          <ac:picMkLst>
            <pc:docMk/>
            <pc:sldMk cId="88661140" sldId="4122"/>
            <ac:picMk id="1051" creationId="{168BA73B-A110-5843-6C00-4A232F4005BE}"/>
          </ac:picMkLst>
        </pc:picChg>
        <pc:picChg chg="mod">
          <ac:chgData name="Kajal Rajusth" userId="11b61780-b247-4085-a29c-8a573c97e7f5" providerId="ADAL" clId="{1B17BDC0-7E97-4C1E-99EA-4D26E4DF89DD}" dt="2025-03-24T08:21:58.147" v="217" actId="1076"/>
          <ac:picMkLst>
            <pc:docMk/>
            <pc:sldMk cId="88661140" sldId="4122"/>
            <ac:picMk id="1055" creationId="{94C5A28A-F6E1-52B8-D16F-D9811F573521}"/>
          </ac:picMkLst>
        </pc:picChg>
      </pc:sldChg>
      <pc:sldChg chg="modSp mod">
        <pc:chgData name="Kajal Rajusth" userId="11b61780-b247-4085-a29c-8a573c97e7f5" providerId="ADAL" clId="{1B17BDC0-7E97-4C1E-99EA-4D26E4DF89DD}" dt="2025-03-24T09:16:54.828" v="318" actId="20577"/>
        <pc:sldMkLst>
          <pc:docMk/>
          <pc:sldMk cId="3443425539" sldId="4144"/>
        </pc:sldMkLst>
        <pc:spChg chg="mod">
          <ac:chgData name="Kajal Rajusth" userId="11b61780-b247-4085-a29c-8a573c97e7f5" providerId="ADAL" clId="{1B17BDC0-7E97-4C1E-99EA-4D26E4DF89DD}" dt="2025-03-24T09:16:54.828" v="318" actId="20577"/>
          <ac:spMkLst>
            <pc:docMk/>
            <pc:sldMk cId="3443425539" sldId="4144"/>
            <ac:spMk id="27" creationId="{0EE1EB32-40BE-1C75-89D0-EB065F0E3F9E}"/>
          </ac:spMkLst>
        </pc:spChg>
      </pc:sldChg>
      <pc:sldChg chg="del">
        <pc:chgData name="Kajal Rajusth" userId="11b61780-b247-4085-a29c-8a573c97e7f5" providerId="ADAL" clId="{1B17BDC0-7E97-4C1E-99EA-4D26E4DF89DD}" dt="2025-03-23T08:13:01.853" v="0" actId="47"/>
        <pc:sldMkLst>
          <pc:docMk/>
          <pc:sldMk cId="290205388" sldId="4148"/>
        </pc:sldMkLst>
      </pc:sldChg>
      <pc:sldChg chg="modSp mod">
        <pc:chgData name="Kajal Rajusth" userId="11b61780-b247-4085-a29c-8a573c97e7f5" providerId="ADAL" clId="{1B17BDC0-7E97-4C1E-99EA-4D26E4DF89DD}" dt="2025-03-24T08:30:18.410" v="311" actId="113"/>
        <pc:sldMkLst>
          <pc:docMk/>
          <pc:sldMk cId="1098912445" sldId="2141411886"/>
        </pc:sldMkLst>
        <pc:spChg chg="mod">
          <ac:chgData name="Kajal Rajusth" userId="11b61780-b247-4085-a29c-8a573c97e7f5" providerId="ADAL" clId="{1B17BDC0-7E97-4C1E-99EA-4D26E4DF89DD}" dt="2025-03-24T08:30:18.410" v="311" actId="113"/>
          <ac:spMkLst>
            <pc:docMk/>
            <pc:sldMk cId="1098912445" sldId="2141411886"/>
            <ac:spMk id="57" creationId="{0EE1391C-2510-EFB2-82A5-5FC567D45BAC}"/>
          </ac:spMkLst>
        </pc:spChg>
      </pc:sldChg>
      <pc:sldChg chg="modSp mod">
        <pc:chgData name="Kajal Rajusth" userId="11b61780-b247-4085-a29c-8a573c97e7f5" providerId="ADAL" clId="{1B17BDC0-7E97-4C1E-99EA-4D26E4DF89DD}" dt="2025-03-24T08:30:10.840" v="310" actId="113"/>
        <pc:sldMkLst>
          <pc:docMk/>
          <pc:sldMk cId="2031562703" sldId="2141411887"/>
        </pc:sldMkLst>
        <pc:spChg chg="mod">
          <ac:chgData name="Kajal Rajusth" userId="11b61780-b247-4085-a29c-8a573c97e7f5" providerId="ADAL" clId="{1B17BDC0-7E97-4C1E-99EA-4D26E4DF89DD}" dt="2025-03-24T08:30:10.840" v="310" actId="113"/>
          <ac:spMkLst>
            <pc:docMk/>
            <pc:sldMk cId="2031562703" sldId="2141411887"/>
            <ac:spMk id="57" creationId="{C7E19B17-52EB-4AAB-36AB-BB9305A2CC03}"/>
          </ac:spMkLst>
        </pc:spChg>
      </pc:sldChg>
      <pc:sldChg chg="modSp mod">
        <pc:chgData name="Kajal Rajusth" userId="11b61780-b247-4085-a29c-8a573c97e7f5" providerId="ADAL" clId="{1B17BDC0-7E97-4C1E-99EA-4D26E4DF89DD}" dt="2025-03-24T09:16:07.529" v="317" actId="20577"/>
        <pc:sldMkLst>
          <pc:docMk/>
          <pc:sldMk cId="4089024588" sldId="2141411891"/>
        </pc:sldMkLst>
        <pc:graphicFrameChg chg="mod modGraphic">
          <ac:chgData name="Kajal Rajusth" userId="11b61780-b247-4085-a29c-8a573c97e7f5" providerId="ADAL" clId="{1B17BDC0-7E97-4C1E-99EA-4D26E4DF89DD}" dt="2025-03-24T09:16:07.529" v="317" actId="20577"/>
          <ac:graphicFrameMkLst>
            <pc:docMk/>
            <pc:sldMk cId="4089024588" sldId="2141411891"/>
            <ac:graphicFrameMk id="2" creationId="{C1CC76E0-3C5A-4696-E78B-5CB0EEEF3441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Ready7 result (Sept 2026)</c:v>
                </c:pt>
              </c:strCache>
            </c:strRef>
          </c:tx>
          <c:spPr>
            <a:solidFill>
              <a:srgbClr val="4F2D7F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AI Governance</c:v>
                </c:pt>
                <c:pt idx="1">
                  <c:v>AI Risk &amp; Security</c:v>
                </c:pt>
                <c:pt idx="2">
                  <c:v>Training &amp; Awareness</c:v>
                </c:pt>
                <c:pt idx="3">
                  <c:v>Strategy &amp; Value</c:v>
                </c:pt>
                <c:pt idx="4">
                  <c:v>Data &amp; Technology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63</c:v>
                </c:pt>
                <c:pt idx="2">
                  <c:v>69</c:v>
                </c:pt>
                <c:pt idx="3">
                  <c:v>50</c:v>
                </c:pt>
                <c:pt idx="4">
                  <c:v>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FA8-4C56-AE10-66AE797AD1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(end-2027, proposed)</c:v>
                </c:pt>
              </c:strCache>
            </c:strRef>
          </c:tx>
          <c:spPr>
            <a:solidFill>
              <a:srgbClr val="D9CCEB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AI Governance</c:v>
                </c:pt>
                <c:pt idx="1">
                  <c:v>AI Risk &amp; Security</c:v>
                </c:pt>
                <c:pt idx="2">
                  <c:v>Training &amp; Awareness</c:v>
                </c:pt>
                <c:pt idx="3">
                  <c:v>Strategy &amp; Value</c:v>
                </c:pt>
                <c:pt idx="4">
                  <c:v>Data &amp; Technology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78</c:v>
                </c:pt>
                <c:pt idx="2">
                  <c:v>80</c:v>
                </c:pt>
                <c:pt idx="3">
                  <c:v>75</c:v>
                </c:pt>
                <c:pt idx="4">
                  <c:v>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FA8-4C56-AE10-66AE797AD1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5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Entries</c:v>
                </c:pt>
              </c:strCache>
            </c:strRef>
          </c:tx>
          <c:spPr>
            <a:solidFill>
              <a:srgbClr val="7B5BA6"/>
            </a:solidFill>
          </c:spPr>
          <c:invertIfNegative val="1"/>
          <c:dPt>
            <c:idx val="1"/>
            <c:invertIfNegative val="1"/>
            <c:bubble3D val="0"/>
            <c:spPr>
              <a:solidFill>
                <a:srgbClr val="4F2D7F"/>
              </a:solidFill>
            </c:spPr>
            <c:extLst>
              <c:ext xmlns:c16="http://schemas.microsoft.com/office/drawing/2014/chart" uri="{C3380CC4-5D6E-409C-BE32-E72D297353CC}">
                <c16:uniqueId val="{00000001-FDE8-4AF9-8452-72E1E3CBD37D}"/>
              </c:ext>
            </c:extLst>
          </c:dPt>
          <c:dPt>
            <c:idx val="2"/>
            <c:invertIfNegative val="1"/>
            <c:bubble3D val="0"/>
            <c:spPr>
              <a:solidFill>
                <a:srgbClr val="4F2D7F"/>
              </a:solidFill>
            </c:spPr>
            <c:extLst>
              <c:ext xmlns:c16="http://schemas.microsoft.com/office/drawing/2014/chart" uri="{C3380CC4-5D6E-409C-BE32-E72D297353CC}">
                <c16:uniqueId val="{00000003-FDE8-4AF9-8452-72E1E3CBD37D}"/>
              </c:ext>
            </c:extLst>
          </c:dPt>
          <c:dPt>
            <c:idx val="3"/>
            <c:invertIfNegative val="1"/>
            <c:bubble3D val="0"/>
            <c:spPr>
              <a:solidFill>
                <a:srgbClr val="4F2D7F"/>
              </a:solidFill>
            </c:spPr>
            <c:extLst>
              <c:ext xmlns:c16="http://schemas.microsoft.com/office/drawing/2014/chart" uri="{C3380CC4-5D6E-409C-BE32-E72D297353CC}">
                <c16:uniqueId val="{00000005-FDE8-4AF9-8452-72E1E3CBD37D}"/>
              </c:ext>
            </c:extLst>
          </c:dPt>
          <c:dPt>
            <c:idx val="4"/>
            <c:invertIfNegative val="1"/>
            <c:bubble3D val="0"/>
            <c:spPr>
              <a:solidFill>
                <a:srgbClr val="4F2D7F"/>
              </a:solidFill>
            </c:spPr>
            <c:extLst>
              <c:ext xmlns:c16="http://schemas.microsoft.com/office/drawing/2014/chart" uri="{C3380CC4-5D6E-409C-BE32-E72D297353CC}">
                <c16:uniqueId val="{00000007-FDE8-4AF9-8452-72E1E3CBD37D}"/>
              </c:ext>
            </c:extLst>
          </c:dPt>
          <c:dPt>
            <c:idx val="5"/>
            <c:invertIfNegative val="1"/>
            <c:bubble3D val="0"/>
            <c:spPr>
              <a:solidFill>
                <a:srgbClr val="4F2D7F"/>
              </a:solidFill>
            </c:spPr>
            <c:extLst>
              <c:ext xmlns:c16="http://schemas.microsoft.com/office/drawing/2014/chart" uri="{C3380CC4-5D6E-409C-BE32-E72D297353CC}">
                <c16:uniqueId val="{00000009-FDE8-4AF9-8452-72E1E3CBD37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Cross-industry</c:v>
                </c:pt>
                <c:pt idx="1">
                  <c:v>Banking &amp; payments</c:v>
                </c:pt>
                <c:pt idx="2">
                  <c:v>Insurance</c:v>
                </c:pt>
                <c:pt idx="3">
                  <c:v>Capital markets &amp; wealth</c:v>
                </c:pt>
                <c:pt idx="4">
                  <c:v>Healthcare</c:v>
                </c:pt>
                <c:pt idx="5">
                  <c:v>Telecommunications</c:v>
                </c:pt>
                <c:pt idx="6">
                  <c:v>Government &amp; public sector</c:v>
                </c:pt>
                <c:pt idx="7">
                  <c:v>Retail &amp; e-commerce</c:v>
                </c:pt>
                <c:pt idx="8">
                  <c:v>Hospitality &amp; tourism</c:v>
                </c:pt>
                <c:pt idx="9">
                  <c:v>Manufacturing &amp; industrial</c:v>
                </c:pt>
                <c:pt idx="10">
                  <c:v>Oil, gas, energy &amp; utilities</c:v>
                </c:pt>
                <c:pt idx="11">
                  <c:v>Logistics, aviation &amp; transport</c:v>
                </c:pt>
                <c:pt idx="12">
                  <c:v>Real estate &amp; construction</c:v>
                </c:pt>
                <c:pt idx="13">
                  <c:v>Education</c:v>
                </c:pt>
                <c:pt idx="14">
                  <c:v>Professional services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60</c:v>
                </c:pt>
                <c:pt idx="1">
                  <c:v>23</c:v>
                </c:pt>
                <c:pt idx="2">
                  <c:v>17</c:v>
                </c:pt>
                <c:pt idx="3">
                  <c:v>8</c:v>
                </c:pt>
                <c:pt idx="4">
                  <c:v>20</c:v>
                </c:pt>
                <c:pt idx="5">
                  <c:v>17</c:v>
                </c:pt>
                <c:pt idx="6">
                  <c:v>15</c:v>
                </c:pt>
                <c:pt idx="7">
                  <c:v>11</c:v>
                </c:pt>
                <c:pt idx="8">
                  <c:v>10</c:v>
                </c:pt>
                <c:pt idx="9">
                  <c:v>11</c:v>
                </c:pt>
                <c:pt idx="10">
                  <c:v>10</c:v>
                </c:pt>
                <c:pt idx="11">
                  <c:v>9</c:v>
                </c:pt>
                <c:pt idx="12">
                  <c:v>7</c:v>
                </c:pt>
                <c:pt idx="13">
                  <c:v>7</c:v>
                </c:pt>
                <c:pt idx="14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FDE8-4AF9-8452-72E1E3CBD3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27188-497D-437C-932E-97F69D192DB6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12745-5D95-43BD-9877-2FE92F47C9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0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56B9-845E-7A88-025F-099F0F241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BDE4A-D3E0-AF93-7B25-03B99FB98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7C77-850E-38E8-B4CD-4FC7EA46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90982C-235D-4EA5-AE87-046AD1389D69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50235-3575-171E-2702-5D15CD30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198521-E121-B0F1-93F1-14C19F39B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8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26F6-5E6E-F089-9193-30519EB6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C0760-89A9-632F-3968-AAD5A659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B41C8-BD3D-5396-C710-8B38AF93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4D280C-0766-4ED7-ACE2-68754F865695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2037-7D84-F129-7C2B-E7B61376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EF8F31-F72F-1182-DF7A-00777D8D1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2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BBB6-295B-DAC7-A751-BC4EFECF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D4D88-E361-3C60-3077-AB4FD5CD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A7F5-B263-A2FA-C3BD-5BE9432B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F550B-A169-4646-918F-D607F3F514CD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BF64B-EF46-3E7A-CB8F-38568DA9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FFD448-3CB0-FE0D-2049-8D5A1A88C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0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B62F-B3E2-68C2-5A99-E3A69DBF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89FCD-3F44-66E5-9090-0E4E1E80B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1CBC2-7997-4324-1CBB-F109ADF7B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16F64-F80B-8607-E5C1-0B68E982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2B2C64-D2E4-4E27-A52B-90AF564ADE20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B5CC3-4BE3-BE63-9E5E-13F7570F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C6004E2-6BFA-034C-AA70-62B9AB175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3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C9BD-212D-9339-CBEC-8BC5009A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6D4C8-9063-A98E-E5E2-B0EA850E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67C35-8F1A-1F8E-5207-22D1BFEB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6D12-9909-4736-C00B-7E6D45A8A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4E93D-3FF5-A8BF-A9BE-A1C13E217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32733-1BD6-4877-C948-C6E01256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B8A8DD-7E6A-40F7-B3CB-4EBF63BE0D4C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FA493-C18B-C3C1-E68D-D4D45BBA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B654420-AEA7-26E3-954E-18177596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8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3723-0002-C813-E2AA-A0633DAA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76802-633C-FDDA-A963-3AB8E566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45BA-EEDC-4AA2-85CB-EB1286D9B940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4DB26-5E30-FA20-CBF3-3244647E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B25A-3BBD-7BE7-0A77-6E8EBDC49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9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52692-A395-BC7D-B93B-96633C3F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F3096-14CE-4C84-89F5-3D1CA827AEB9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15173-A594-8045-EFCB-8FAC2439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EBE67BD-C9BB-C2B6-FF94-3ADDE0772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7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1C8-896E-8C59-9785-AD1277D3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010C-E6BA-D1AD-9254-F990E0E53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ED7E5-A0ED-BF67-3151-2BBDD7ACF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6C7B6-53D6-5AA2-AD1D-30F678B0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32F23E-0B7F-49FD-B87D-F370D274B5C9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DBD6E-3F23-3647-7A59-5CE2856B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11A306-656A-CFD4-E4D4-FD1113609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4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8233-87FC-C91E-27A1-DAC98FBB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724AF-1231-0CFE-FE3E-BFFDEC4EB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BE4D8-2FFA-9F21-62EE-13F7F2E32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9268E-96FA-5219-685C-FEC9A261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06B6A-3845-4565-8CC4-83F0376DA02A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B52A5-F654-7120-FA7A-F6745D68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21EB0B4-7495-4D36-D038-794B1E7B9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5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5403-38D1-CB03-7E0B-F67772D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CDEDF-46D6-A007-C5CB-A14FF9BA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1C71C-9AA6-C906-7E24-D3EDE847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17163-C962-4378-979E-DB1DC2C1AE02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1BAA6-672F-8D83-68C4-F3DB3550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CDCCBD-E791-3BF6-1093-9E9F90548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9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2C0A4-80FF-3293-9EDC-35501F67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0306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8302-3C0F-4F9A-9214-5A7BE85B0C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1202-5136-03B2-07B7-E86FF19CB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35BC4-786C-C819-15A3-854C9FE1F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6470A-302E-0840-F398-98754880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60661C-3181-4DEF-9C51-29D6300198A4}" type="datetime1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4D245-0A0B-F489-505C-40E46B74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110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A9F22-5312-CC44-3455-12CC5D605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40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9132D6-0004-C34B-A570-7AECE00271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4072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31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518865" y="1238584"/>
            <a:ext cx="5722000" cy="39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518833" y="5131817"/>
            <a:ext cx="5722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1FB7996-49B2-A4E7-8E11-2A7BE5A5F1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A9F26E-0017-E26C-95DA-5533BA5C1429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FE8B507-B8E2-99F2-24F7-8AA03B379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5D4866-3EE4-287F-F272-4DB3A4C25C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36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7445513" y="3872667"/>
            <a:ext cx="2268400" cy="5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6772400" y="4306033"/>
            <a:ext cx="3614800" cy="9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2478180" y="3872667"/>
            <a:ext cx="2268400" cy="5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805067" y="4306033"/>
            <a:ext cx="3614800" cy="9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9601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AE6FADCA-D9FD-1646-C0CC-303C063433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4E6CCE-C446-16CB-97E2-462D19F6B345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10786B5-453C-0FA5-9677-05356E193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E5D839D-F77C-FD04-7BB7-9F6B85F599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59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601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6F913C3-CE7A-96FE-33B5-49AAF4E516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D130C8-59D4-EED9-3F3D-74B1A2680D0F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3384B5D-4F7B-C868-E9EF-EC3D41C2C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DFD696D-90DC-3AD4-3871-5C55A8E38F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68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316217" y="1912800"/>
            <a:ext cx="4490400" cy="30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706971" y="1912800"/>
            <a:ext cx="2622800" cy="30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37131775-8EBA-B69D-2AC2-7A0FB0B4C6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A5E143-1213-F6F3-AB15-5A1DD234F095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1DEFA47-FCC1-AA07-3926-5BAE17654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1500E7-41E8-9423-05EA-8A045A201D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36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229667" y="1891600"/>
            <a:ext cx="5732800" cy="30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A1BDA0B-1D2E-3DF0-896F-610756DA93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57234D-A54D-317C-8581-CA65F6C6C50A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3F04E4-944C-6F3A-8E99-256F673F6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017CAAB-B847-776D-A5C2-E2F6D162BA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14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97100" y="1295800"/>
            <a:ext cx="5050400" cy="42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6399933" y="2605600"/>
            <a:ext cx="25868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6465560" y="1334833"/>
            <a:ext cx="2702400" cy="24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68EA74F6-B83C-D311-BCE3-750BB2687C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2207A-7B5F-1BFA-7821-B8F9EA07F77F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DC3DAA7-247C-6FFA-4BA7-0AB364E8A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F5A25B0-0C48-9CC9-7442-33F0E2DAD7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41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960133" y="2275800"/>
            <a:ext cx="3679600" cy="23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AA1B853-BC18-5FDD-202D-D287DE41E8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02174-71A2-CA36-E193-A7C2FDD1EF2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7C863A7-7109-0586-0D52-E92192D5F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570CC8C-E128-BABA-749A-C448344BAD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24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867C89C1-24CE-A0AD-46DE-4E2BF16A76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tx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FBC81E-90AC-7BFA-751D-FFA60FB2EB4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35B8C41-4330-F0BB-F15B-ED7E55B48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FF20C79-5DD5-86A4-8F75-EB3F7F1291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29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95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2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2096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013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507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6260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094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9238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84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309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737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theme" Target="../theme/theme2.xml"/><Relationship Id="rId10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45590-711B-5322-A074-ECC2635D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4107C-3C70-B4C9-9FB4-B203AF11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611AC22-8682-185B-E81E-3998E43C5A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FFFAFE-857A-C1D6-F091-5383AB21C99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0A9FA7B8-5519-3C4F-1621-808E4A61E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8F926F69-F90C-748E-F591-DB24EE0832C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111023" y="6530231"/>
            <a:ext cx="668633" cy="1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7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9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96E5D4B2-0499-F419-3205-0C0C06078C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8EC0-7D0B-15AE-45D3-35E8FF6969D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3D58C54-BD57-2D29-6112-314BCAEB2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BA5884-F404-5E37-FB3A-17A5A2EBEE6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718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4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1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Picture 2068" descr="A computer chip with lights&#10;&#10;Description automatically generated">
            <a:extLst>
              <a:ext uri="{FF2B5EF4-FFF2-40B4-BE49-F238E27FC236}">
                <a16:creationId xmlns:a16="http://schemas.microsoft.com/office/drawing/2014/main" id="{73D32A07-7D4C-B962-C8B4-54F17572F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3" t="9922" r="10349" b="10698"/>
          <a:stretch/>
        </p:blipFill>
        <p:spPr>
          <a:xfrm>
            <a:off x="-1" y="0"/>
            <a:ext cx="12202417" cy="6858000"/>
          </a:xfrm>
          <a:prstGeom prst="rect">
            <a:avLst/>
          </a:prstGeom>
        </p:spPr>
      </p:pic>
      <p:sp>
        <p:nvSpPr>
          <p:cNvPr id="2070" name="Rectangle 2069">
            <a:extLst>
              <a:ext uri="{FF2B5EF4-FFF2-40B4-BE49-F238E27FC236}">
                <a16:creationId xmlns:a16="http://schemas.microsoft.com/office/drawing/2014/main" id="{816D609C-CB6E-8EC9-5E35-E854B7F01BF4}"/>
              </a:ext>
            </a:extLst>
          </p:cNvPr>
          <p:cNvSpPr/>
          <p:nvPr/>
        </p:nvSpPr>
        <p:spPr>
          <a:xfrm>
            <a:off x="0" y="0"/>
            <a:ext cx="12202417" cy="6858000"/>
          </a:xfrm>
          <a:prstGeom prst="rect">
            <a:avLst/>
          </a:prstGeom>
          <a:solidFill>
            <a:srgbClr val="4F2D7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DE1AF3C9-24AC-CDC7-AA18-4157E2EE443E}"/>
              </a:ext>
            </a:extLst>
          </p:cNvPr>
          <p:cNvGrpSpPr/>
          <p:nvPr/>
        </p:nvGrpSpPr>
        <p:grpSpPr>
          <a:xfrm>
            <a:off x="413591" y="1222666"/>
            <a:ext cx="4542222" cy="3707589"/>
            <a:chOff x="572837" y="1447134"/>
            <a:chExt cx="4542222" cy="3707589"/>
          </a:xfrm>
          <a:solidFill>
            <a:srgbClr val="4F2D7F">
              <a:alpha val="81176"/>
            </a:srgbClr>
          </a:solidFill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1FDBC604-962A-DB8C-83E7-13242E4B72FC}"/>
                </a:ext>
              </a:extLst>
            </p:cNvPr>
            <p:cNvSpPr/>
            <p:nvPr/>
          </p:nvSpPr>
          <p:spPr>
            <a:xfrm>
              <a:off x="572837" y="1447134"/>
              <a:ext cx="4542222" cy="3707589"/>
            </a:xfrm>
            <a:custGeom>
              <a:avLst/>
              <a:gdLst/>
              <a:ahLst/>
              <a:cxnLst/>
              <a:rect l="l" t="t" r="r" b="b"/>
              <a:pathLst>
                <a:path w="16256000" h="13268961">
                  <a:moveTo>
                    <a:pt x="873506" y="0"/>
                  </a:moveTo>
                  <a:cubicBezTo>
                    <a:pt x="391033" y="635"/>
                    <a:pt x="0" y="364490"/>
                    <a:pt x="0" y="812927"/>
                  </a:cubicBezTo>
                  <a:lnTo>
                    <a:pt x="0" y="12451461"/>
                  </a:lnTo>
                  <a:cubicBezTo>
                    <a:pt x="0" y="12900533"/>
                    <a:pt x="391668" y="13264387"/>
                    <a:pt x="874776" y="13264387"/>
                  </a:cubicBezTo>
                  <a:lnTo>
                    <a:pt x="11544554" y="13268961"/>
                  </a:lnTo>
                  <a:lnTo>
                    <a:pt x="11544554" y="13260705"/>
                  </a:lnTo>
                  <a:lnTo>
                    <a:pt x="11634089" y="13264387"/>
                  </a:lnTo>
                  <a:cubicBezTo>
                    <a:pt x="14027150" y="13264387"/>
                    <a:pt x="15995396" y="11723751"/>
                    <a:pt x="16232124" y="9749409"/>
                  </a:cubicBezTo>
                  <a:lnTo>
                    <a:pt x="16248887" y="9468866"/>
                  </a:lnTo>
                  <a:lnTo>
                    <a:pt x="16256000" y="813054"/>
                  </a:lnTo>
                  <a:cubicBezTo>
                    <a:pt x="16256000" y="364490"/>
                    <a:pt x="15864967" y="635"/>
                    <a:pt x="15382494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endParaRPr lang="en-US" sz="1828" dirty="0"/>
            </a:p>
          </p:txBody>
        </p:sp>
        <p:grpSp>
          <p:nvGrpSpPr>
            <p:cNvPr id="41" name="Group 17">
              <a:extLst>
                <a:ext uri="{FF2B5EF4-FFF2-40B4-BE49-F238E27FC236}">
                  <a16:creationId xmlns:a16="http://schemas.microsoft.com/office/drawing/2014/main" id="{918557DA-1B6C-504B-34FF-5FEB34EFC423}"/>
                </a:ext>
              </a:extLst>
            </p:cNvPr>
            <p:cNvGrpSpPr/>
            <p:nvPr/>
          </p:nvGrpSpPr>
          <p:grpSpPr>
            <a:xfrm>
              <a:off x="1630821" y="4171781"/>
              <a:ext cx="916104" cy="678800"/>
              <a:chOff x="0" y="0"/>
              <a:chExt cx="1202680" cy="891143"/>
            </a:xfrm>
            <a:grpFill/>
          </p:grpSpPr>
          <p:sp>
            <p:nvSpPr>
              <p:cNvPr id="42" name="Freeform 18">
                <a:extLst>
                  <a:ext uri="{FF2B5EF4-FFF2-40B4-BE49-F238E27FC236}">
                    <a16:creationId xmlns:a16="http://schemas.microsoft.com/office/drawing/2014/main" id="{E34E5AFC-4359-ECB4-99E3-C705004B28A7}"/>
                  </a:ext>
                </a:extLst>
              </p:cNvPr>
              <p:cNvSpPr/>
              <p:nvPr/>
            </p:nvSpPr>
            <p:spPr>
              <a:xfrm>
                <a:off x="312183" y="0"/>
                <a:ext cx="578313" cy="578313"/>
              </a:xfrm>
              <a:custGeom>
                <a:avLst/>
                <a:gdLst/>
                <a:ahLst/>
                <a:cxnLst/>
                <a:rect l="l" t="t" r="r" b="b"/>
                <a:pathLst>
                  <a:path w="578313" h="578313">
                    <a:moveTo>
                      <a:pt x="0" y="0"/>
                    </a:moveTo>
                    <a:lnTo>
                      <a:pt x="578314" y="0"/>
                    </a:lnTo>
                    <a:lnTo>
                      <a:pt x="578314" y="578313"/>
                    </a:lnTo>
                    <a:lnTo>
                      <a:pt x="0" y="57831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43" name="TextBox 19">
                <a:extLst>
                  <a:ext uri="{FF2B5EF4-FFF2-40B4-BE49-F238E27FC236}">
                    <a16:creationId xmlns:a16="http://schemas.microsoft.com/office/drawing/2014/main" id="{0143F694-D9B7-1696-3A82-00CE04B83808}"/>
                  </a:ext>
                </a:extLst>
              </p:cNvPr>
              <p:cNvSpPr txBox="1"/>
              <p:nvPr/>
            </p:nvSpPr>
            <p:spPr>
              <a:xfrm>
                <a:off x="0" y="628934"/>
                <a:ext cx="1202680" cy="26220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56"/>
                  </a:lnSpc>
                </a:pPr>
                <a:r>
                  <a:rPr lang="en-US" sz="1111" dirty="0">
                    <a:solidFill>
                      <a:srgbClr val="FFFFFF"/>
                    </a:solidFill>
                    <a:latin typeface="GT Walsheim Pro Regular" panose="02000503040000020003" pitchFamily="50" charset="0"/>
                  </a:rPr>
                  <a:t>Collaborative</a:t>
                </a:r>
              </a:p>
            </p:txBody>
          </p:sp>
        </p:grpSp>
        <p:grpSp>
          <p:nvGrpSpPr>
            <p:cNvPr id="44" name="Group 20">
              <a:extLst>
                <a:ext uri="{FF2B5EF4-FFF2-40B4-BE49-F238E27FC236}">
                  <a16:creationId xmlns:a16="http://schemas.microsoft.com/office/drawing/2014/main" id="{FEDC9E50-2530-C25D-071D-4DCA5685716A}"/>
                </a:ext>
              </a:extLst>
            </p:cNvPr>
            <p:cNvGrpSpPr/>
            <p:nvPr/>
          </p:nvGrpSpPr>
          <p:grpSpPr>
            <a:xfrm>
              <a:off x="2591399" y="4176613"/>
              <a:ext cx="916104" cy="683562"/>
              <a:chOff x="17785" y="9225"/>
              <a:chExt cx="1202680" cy="897396"/>
            </a:xfrm>
            <a:grpFill/>
          </p:grpSpPr>
          <p:grpSp>
            <p:nvGrpSpPr>
              <p:cNvPr id="45" name="Group 21">
                <a:extLst>
                  <a:ext uri="{FF2B5EF4-FFF2-40B4-BE49-F238E27FC236}">
                    <a16:creationId xmlns:a16="http://schemas.microsoft.com/office/drawing/2014/main" id="{780494CB-0263-611D-BE38-71BECA51F6B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39323" y="9225"/>
                <a:ext cx="575358" cy="575340"/>
                <a:chOff x="63496" y="63496"/>
                <a:chExt cx="3960117" cy="3959990"/>
              </a:xfrm>
              <a:grpFill/>
            </p:grpSpPr>
            <p:sp>
              <p:nvSpPr>
                <p:cNvPr id="47" name="Freeform 22">
                  <a:extLst>
                    <a:ext uri="{FF2B5EF4-FFF2-40B4-BE49-F238E27FC236}">
                      <a16:creationId xmlns:a16="http://schemas.microsoft.com/office/drawing/2014/main" id="{3A95F4C9-50B9-26D0-078C-055A07467B17}"/>
                    </a:ext>
                  </a:extLst>
                </p:cNvPr>
                <p:cNvSpPr/>
                <p:nvPr/>
              </p:nvSpPr>
              <p:spPr>
                <a:xfrm>
                  <a:off x="63496" y="63496"/>
                  <a:ext cx="3960117" cy="3959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0114" h="3959987">
                      <a:moveTo>
                        <a:pt x="1980057" y="0"/>
                      </a:moveTo>
                      <a:cubicBezTo>
                        <a:pt x="886460" y="0"/>
                        <a:pt x="0" y="886460"/>
                        <a:pt x="0" y="1980057"/>
                      </a:cubicBezTo>
                      <a:cubicBezTo>
                        <a:pt x="0" y="3073654"/>
                        <a:pt x="886460" y="3959987"/>
                        <a:pt x="1980057" y="3959987"/>
                      </a:cubicBezTo>
                      <a:cubicBezTo>
                        <a:pt x="3073654" y="3959987"/>
                        <a:pt x="3960114" y="3073527"/>
                        <a:pt x="3960114" y="1980057"/>
                      </a:cubicBezTo>
                      <a:cubicBezTo>
                        <a:pt x="3960114" y="886587"/>
                        <a:pt x="3073527" y="0"/>
                        <a:pt x="1980057" y="0"/>
                      </a:cubicBezTo>
                      <a:moveTo>
                        <a:pt x="1980057" y="127000"/>
                      </a:moveTo>
                      <a:cubicBezTo>
                        <a:pt x="2474976" y="127000"/>
                        <a:pt x="2940304" y="319786"/>
                        <a:pt x="3290316" y="669671"/>
                      </a:cubicBezTo>
                      <a:cubicBezTo>
                        <a:pt x="3640328" y="1019556"/>
                        <a:pt x="3832987" y="1485011"/>
                        <a:pt x="3832987" y="1979930"/>
                      </a:cubicBezTo>
                      <a:cubicBezTo>
                        <a:pt x="3832987" y="2474849"/>
                        <a:pt x="3640201" y="2940177"/>
                        <a:pt x="3290316" y="3290189"/>
                      </a:cubicBezTo>
                      <a:cubicBezTo>
                        <a:pt x="2940431" y="3640201"/>
                        <a:pt x="2474976" y="3832987"/>
                        <a:pt x="1980057" y="3832987"/>
                      </a:cubicBezTo>
                      <a:cubicBezTo>
                        <a:pt x="1485138" y="3832987"/>
                        <a:pt x="1019810" y="3640201"/>
                        <a:pt x="669798" y="3290189"/>
                      </a:cubicBezTo>
                      <a:cubicBezTo>
                        <a:pt x="319786" y="2940177"/>
                        <a:pt x="127000" y="2474976"/>
                        <a:pt x="127000" y="1980057"/>
                      </a:cubicBezTo>
                      <a:cubicBezTo>
                        <a:pt x="127000" y="1485138"/>
                        <a:pt x="319786" y="1019683"/>
                        <a:pt x="669798" y="669671"/>
                      </a:cubicBezTo>
                      <a:cubicBezTo>
                        <a:pt x="1019810" y="319659"/>
                        <a:pt x="1485011" y="127000"/>
                        <a:pt x="1980057" y="127000"/>
                      </a:cubicBezTo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48" name="Freeform 23">
                  <a:extLst>
                    <a:ext uri="{FF2B5EF4-FFF2-40B4-BE49-F238E27FC236}">
                      <a16:creationId xmlns:a16="http://schemas.microsoft.com/office/drawing/2014/main" id="{B32D3C51-9F00-3261-6041-F3495AD05D55}"/>
                    </a:ext>
                  </a:extLst>
                </p:cNvPr>
                <p:cNvSpPr/>
                <p:nvPr/>
              </p:nvSpPr>
              <p:spPr>
                <a:xfrm>
                  <a:off x="1374648" y="1043940"/>
                  <a:ext cx="1337056" cy="133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056" h="1337056">
                      <a:moveTo>
                        <a:pt x="1337056" y="668528"/>
                      </a:moveTo>
                      <a:cubicBezTo>
                        <a:pt x="1337056" y="1037717"/>
                        <a:pt x="1037717" y="1337056"/>
                        <a:pt x="668528" y="1337056"/>
                      </a:cubicBezTo>
                      <a:cubicBezTo>
                        <a:pt x="299339" y="1337056"/>
                        <a:pt x="0" y="1037717"/>
                        <a:pt x="0" y="668528"/>
                      </a:cubicBezTo>
                      <a:lnTo>
                        <a:pt x="63500" y="668528"/>
                      </a:lnTo>
                      <a:lnTo>
                        <a:pt x="0" y="668528"/>
                      </a:lnTo>
                      <a:cubicBezTo>
                        <a:pt x="0" y="299339"/>
                        <a:pt x="299339" y="0"/>
                        <a:pt x="668528" y="0"/>
                      </a:cubicBezTo>
                      <a:lnTo>
                        <a:pt x="668528" y="63500"/>
                      </a:lnTo>
                      <a:lnTo>
                        <a:pt x="668528" y="0"/>
                      </a:lnTo>
                      <a:cubicBezTo>
                        <a:pt x="1037717" y="0"/>
                        <a:pt x="1337056" y="299339"/>
                        <a:pt x="1337056" y="668528"/>
                      </a:cubicBezTo>
                      <a:lnTo>
                        <a:pt x="1273556" y="668528"/>
                      </a:lnTo>
                      <a:lnTo>
                        <a:pt x="1337056" y="668528"/>
                      </a:lnTo>
                      <a:moveTo>
                        <a:pt x="1210056" y="668528"/>
                      </a:moveTo>
                      <a:cubicBezTo>
                        <a:pt x="1210056" y="369443"/>
                        <a:pt x="967613" y="127000"/>
                        <a:pt x="668528" y="127000"/>
                      </a:cubicBezTo>
                      <a:cubicBezTo>
                        <a:pt x="369443" y="127000"/>
                        <a:pt x="127000" y="369443"/>
                        <a:pt x="127000" y="668528"/>
                      </a:cubicBezTo>
                      <a:cubicBezTo>
                        <a:pt x="127000" y="967613"/>
                        <a:pt x="369443" y="1210056"/>
                        <a:pt x="668528" y="1210056"/>
                      </a:cubicBezTo>
                      <a:cubicBezTo>
                        <a:pt x="967613" y="1210056"/>
                        <a:pt x="1210056" y="967613"/>
                        <a:pt x="1210056" y="66852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49" name="Freeform 24">
                  <a:extLst>
                    <a:ext uri="{FF2B5EF4-FFF2-40B4-BE49-F238E27FC236}">
                      <a16:creationId xmlns:a16="http://schemas.microsoft.com/office/drawing/2014/main" id="{0056D7FD-4921-D2F2-EF51-CE13FBD6B8A9}"/>
                    </a:ext>
                  </a:extLst>
                </p:cNvPr>
                <p:cNvSpPr/>
                <p:nvPr/>
              </p:nvSpPr>
              <p:spPr>
                <a:xfrm>
                  <a:off x="1839214" y="1310386"/>
                  <a:ext cx="408432" cy="80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32" h="804291">
                      <a:moveTo>
                        <a:pt x="262890" y="96520"/>
                      </a:moveTo>
                      <a:lnTo>
                        <a:pt x="125349" y="426466"/>
                      </a:lnTo>
                      <a:lnTo>
                        <a:pt x="66675" y="402082"/>
                      </a:lnTo>
                      <a:lnTo>
                        <a:pt x="66675" y="338582"/>
                      </a:lnTo>
                      <a:lnTo>
                        <a:pt x="341630" y="338582"/>
                      </a:lnTo>
                      <a:cubicBezTo>
                        <a:pt x="362839" y="338582"/>
                        <a:pt x="382651" y="349250"/>
                        <a:pt x="394462" y="366903"/>
                      </a:cubicBezTo>
                      <a:cubicBezTo>
                        <a:pt x="406273" y="384556"/>
                        <a:pt x="408432" y="406908"/>
                        <a:pt x="400304" y="426593"/>
                      </a:cubicBezTo>
                      <a:lnTo>
                        <a:pt x="262763" y="756666"/>
                      </a:lnTo>
                      <a:cubicBezTo>
                        <a:pt x="249301" y="789051"/>
                        <a:pt x="212090" y="804291"/>
                        <a:pt x="179705" y="790829"/>
                      </a:cubicBezTo>
                      <a:cubicBezTo>
                        <a:pt x="147320" y="777367"/>
                        <a:pt x="132080" y="740156"/>
                        <a:pt x="145542" y="707771"/>
                      </a:cubicBezTo>
                      <a:lnTo>
                        <a:pt x="283083" y="377698"/>
                      </a:lnTo>
                      <a:lnTo>
                        <a:pt x="341757" y="402082"/>
                      </a:lnTo>
                      <a:lnTo>
                        <a:pt x="341757" y="465582"/>
                      </a:lnTo>
                      <a:lnTo>
                        <a:pt x="66802" y="465582"/>
                      </a:lnTo>
                      <a:cubicBezTo>
                        <a:pt x="45593" y="465582"/>
                        <a:pt x="25781" y="454914"/>
                        <a:pt x="13970" y="437261"/>
                      </a:cubicBezTo>
                      <a:cubicBezTo>
                        <a:pt x="2159" y="419608"/>
                        <a:pt x="0" y="397256"/>
                        <a:pt x="8128" y="377571"/>
                      </a:cubicBezTo>
                      <a:lnTo>
                        <a:pt x="145669" y="47625"/>
                      </a:lnTo>
                      <a:cubicBezTo>
                        <a:pt x="159131" y="15240"/>
                        <a:pt x="196342" y="0"/>
                        <a:pt x="228727" y="13462"/>
                      </a:cubicBezTo>
                      <a:cubicBezTo>
                        <a:pt x="261112" y="26924"/>
                        <a:pt x="276352" y="64135"/>
                        <a:pt x="262890" y="9652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50" name="Freeform 25">
                  <a:extLst>
                    <a:ext uri="{FF2B5EF4-FFF2-40B4-BE49-F238E27FC236}">
                      <a16:creationId xmlns:a16="http://schemas.microsoft.com/office/drawing/2014/main" id="{A4C8DCCA-39DE-1429-50E8-B7E2C9974D63}"/>
                    </a:ext>
                  </a:extLst>
                </p:cNvPr>
                <p:cNvSpPr/>
                <p:nvPr/>
              </p:nvSpPr>
              <p:spPr>
                <a:xfrm>
                  <a:off x="1058291" y="731139"/>
                  <a:ext cx="2276094" cy="2576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6094" h="2576322">
                      <a:moveTo>
                        <a:pt x="288798" y="2391029"/>
                      </a:moveTo>
                      <a:lnTo>
                        <a:pt x="288798" y="1689481"/>
                      </a:lnTo>
                      <a:lnTo>
                        <a:pt x="352298" y="1689481"/>
                      </a:lnTo>
                      <a:lnTo>
                        <a:pt x="307340" y="1734312"/>
                      </a:lnTo>
                      <a:cubicBezTo>
                        <a:pt x="126492" y="1553083"/>
                        <a:pt x="0" y="1283462"/>
                        <a:pt x="0" y="1005459"/>
                      </a:cubicBezTo>
                      <a:lnTo>
                        <a:pt x="63500" y="1005459"/>
                      </a:lnTo>
                      <a:lnTo>
                        <a:pt x="0" y="1005459"/>
                      </a:lnTo>
                      <a:cubicBezTo>
                        <a:pt x="0" y="451231"/>
                        <a:pt x="438912" y="0"/>
                        <a:pt x="995045" y="0"/>
                      </a:cubicBezTo>
                      <a:lnTo>
                        <a:pt x="995045" y="63500"/>
                      </a:lnTo>
                      <a:lnTo>
                        <a:pt x="995045" y="0"/>
                      </a:lnTo>
                      <a:cubicBezTo>
                        <a:pt x="1549400" y="0"/>
                        <a:pt x="2010664" y="449326"/>
                        <a:pt x="2010664" y="1005459"/>
                      </a:cubicBezTo>
                      <a:lnTo>
                        <a:pt x="1947164" y="1005459"/>
                      </a:lnTo>
                      <a:lnTo>
                        <a:pt x="2010664" y="1005459"/>
                      </a:lnTo>
                      <a:cubicBezTo>
                        <a:pt x="2010664" y="1009777"/>
                        <a:pt x="2010664" y="1013968"/>
                        <a:pt x="2010791" y="1018667"/>
                      </a:cubicBezTo>
                      <a:lnTo>
                        <a:pt x="2010918" y="1027938"/>
                      </a:lnTo>
                      <a:lnTo>
                        <a:pt x="2010918" y="1032891"/>
                      </a:lnTo>
                      <a:lnTo>
                        <a:pt x="2010791" y="1043432"/>
                      </a:lnTo>
                      <a:lnTo>
                        <a:pt x="1947164" y="1046734"/>
                      </a:lnTo>
                      <a:lnTo>
                        <a:pt x="2004060" y="1018540"/>
                      </a:lnTo>
                      <a:lnTo>
                        <a:pt x="2266315" y="1547876"/>
                      </a:lnTo>
                      <a:cubicBezTo>
                        <a:pt x="2276094" y="1567561"/>
                        <a:pt x="2274951" y="1590929"/>
                        <a:pt x="2263394" y="1609598"/>
                      </a:cubicBezTo>
                      <a:cubicBezTo>
                        <a:pt x="2251837" y="1628267"/>
                        <a:pt x="2231390" y="1639570"/>
                        <a:pt x="2209419" y="1639570"/>
                      </a:cubicBezTo>
                      <a:lnTo>
                        <a:pt x="1906143" y="1639570"/>
                      </a:lnTo>
                      <a:lnTo>
                        <a:pt x="1906143" y="1576070"/>
                      </a:lnTo>
                      <a:lnTo>
                        <a:pt x="1969643" y="1576070"/>
                      </a:lnTo>
                      <a:lnTo>
                        <a:pt x="1969643" y="1868297"/>
                      </a:lnTo>
                      <a:lnTo>
                        <a:pt x="1906143" y="1868297"/>
                      </a:lnTo>
                      <a:lnTo>
                        <a:pt x="1969643" y="1868297"/>
                      </a:lnTo>
                      <a:cubicBezTo>
                        <a:pt x="1969643" y="2044954"/>
                        <a:pt x="1849882" y="2158619"/>
                        <a:pt x="1675765" y="2158619"/>
                      </a:cubicBezTo>
                      <a:lnTo>
                        <a:pt x="1335405" y="2158619"/>
                      </a:lnTo>
                      <a:lnTo>
                        <a:pt x="1335405" y="2095119"/>
                      </a:lnTo>
                      <a:lnTo>
                        <a:pt x="1398905" y="2095119"/>
                      </a:lnTo>
                      <a:lnTo>
                        <a:pt x="1398905" y="2512822"/>
                      </a:lnTo>
                      <a:cubicBezTo>
                        <a:pt x="1398905" y="2547874"/>
                        <a:pt x="1370457" y="2576322"/>
                        <a:pt x="1335405" y="2576322"/>
                      </a:cubicBezTo>
                      <a:cubicBezTo>
                        <a:pt x="1300353" y="2576322"/>
                        <a:pt x="1271905" y="2547874"/>
                        <a:pt x="1271905" y="2512822"/>
                      </a:cubicBezTo>
                      <a:lnTo>
                        <a:pt x="1271905" y="2094992"/>
                      </a:lnTo>
                      <a:cubicBezTo>
                        <a:pt x="1271905" y="2059940"/>
                        <a:pt x="1300353" y="2031492"/>
                        <a:pt x="1335405" y="2031492"/>
                      </a:cubicBezTo>
                      <a:lnTo>
                        <a:pt x="1675765" y="2031492"/>
                      </a:lnTo>
                      <a:cubicBezTo>
                        <a:pt x="1782318" y="2031492"/>
                        <a:pt x="1842643" y="1972056"/>
                        <a:pt x="1842643" y="1868170"/>
                      </a:cubicBezTo>
                      <a:lnTo>
                        <a:pt x="1842643" y="1575943"/>
                      </a:lnTo>
                      <a:cubicBezTo>
                        <a:pt x="1842643" y="1540891"/>
                        <a:pt x="1871091" y="1512443"/>
                        <a:pt x="1906143" y="1512443"/>
                      </a:cubicBezTo>
                      <a:lnTo>
                        <a:pt x="2209546" y="1512443"/>
                      </a:lnTo>
                      <a:lnTo>
                        <a:pt x="2209546" y="1575943"/>
                      </a:lnTo>
                      <a:lnTo>
                        <a:pt x="2152650" y="1604137"/>
                      </a:lnTo>
                      <a:lnTo>
                        <a:pt x="1890395" y="1074801"/>
                      </a:lnTo>
                      <a:cubicBezTo>
                        <a:pt x="1885696" y="1065276"/>
                        <a:pt x="1883410" y="1054735"/>
                        <a:pt x="1883791" y="1044194"/>
                      </a:cubicBezTo>
                      <a:lnTo>
                        <a:pt x="1884045" y="1036828"/>
                      </a:lnTo>
                      <a:lnTo>
                        <a:pt x="1884045" y="1032891"/>
                      </a:lnTo>
                      <a:lnTo>
                        <a:pt x="1884045" y="1024890"/>
                      </a:lnTo>
                      <a:lnTo>
                        <a:pt x="1883918" y="1010793"/>
                      </a:lnTo>
                      <a:lnTo>
                        <a:pt x="1883918" y="1005459"/>
                      </a:lnTo>
                      <a:cubicBezTo>
                        <a:pt x="1883918" y="521335"/>
                        <a:pt x="1481328" y="127000"/>
                        <a:pt x="995299" y="127000"/>
                      </a:cubicBezTo>
                      <a:cubicBezTo>
                        <a:pt x="511048" y="127000"/>
                        <a:pt x="127254" y="519430"/>
                        <a:pt x="127254" y="1005459"/>
                      </a:cubicBezTo>
                      <a:cubicBezTo>
                        <a:pt x="127254" y="1246759"/>
                        <a:pt x="238125" y="1484884"/>
                        <a:pt x="397510" y="1644650"/>
                      </a:cubicBezTo>
                      <a:cubicBezTo>
                        <a:pt x="409448" y="1656588"/>
                        <a:pt x="416052" y="1672717"/>
                        <a:pt x="416052" y="1689481"/>
                      </a:cubicBezTo>
                      <a:lnTo>
                        <a:pt x="416052" y="2391156"/>
                      </a:lnTo>
                      <a:cubicBezTo>
                        <a:pt x="416052" y="2426208"/>
                        <a:pt x="387604" y="2454656"/>
                        <a:pt x="352552" y="2454656"/>
                      </a:cubicBezTo>
                      <a:cubicBezTo>
                        <a:pt x="317500" y="2454656"/>
                        <a:pt x="289052" y="2426208"/>
                        <a:pt x="289052" y="239115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51" name="Freeform 26">
                  <a:extLst>
                    <a:ext uri="{FF2B5EF4-FFF2-40B4-BE49-F238E27FC236}">
                      <a16:creationId xmlns:a16="http://schemas.microsoft.com/office/drawing/2014/main" id="{06F28DCE-70C7-890A-CADC-9475A90E9EE1}"/>
                    </a:ext>
                  </a:extLst>
                </p:cNvPr>
                <p:cNvSpPr/>
                <p:nvPr/>
              </p:nvSpPr>
              <p:spPr>
                <a:xfrm>
                  <a:off x="1378458" y="3067558"/>
                  <a:ext cx="1067435" cy="28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435" h="289687">
                      <a:moveTo>
                        <a:pt x="1067435" y="226822"/>
                      </a:moveTo>
                      <a:lnTo>
                        <a:pt x="1033145" y="237363"/>
                      </a:lnTo>
                      <a:cubicBezTo>
                        <a:pt x="916178" y="271399"/>
                        <a:pt x="792480" y="289687"/>
                        <a:pt x="664718" y="289687"/>
                      </a:cubicBezTo>
                      <a:cubicBezTo>
                        <a:pt x="422275" y="289687"/>
                        <a:pt x="195072" y="224028"/>
                        <a:pt x="0" y="109474"/>
                      </a:cubicBezTo>
                      <a:lnTo>
                        <a:pt x="64262" y="0"/>
                      </a:lnTo>
                      <a:cubicBezTo>
                        <a:pt x="240411" y="103378"/>
                        <a:pt x="445516" y="162687"/>
                        <a:pt x="664718" y="162687"/>
                      </a:cubicBezTo>
                      <a:cubicBezTo>
                        <a:pt x="780415" y="162687"/>
                        <a:pt x="892048" y="146177"/>
                        <a:pt x="997585" y="115443"/>
                      </a:cubicBezTo>
                      <a:lnTo>
                        <a:pt x="1015365" y="176403"/>
                      </a:lnTo>
                      <a:lnTo>
                        <a:pt x="997585" y="115443"/>
                      </a:lnTo>
                      <a:cubicBezTo>
                        <a:pt x="1007999" y="112395"/>
                        <a:pt x="1018286" y="109220"/>
                        <a:pt x="1028573" y="10591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</p:grpSp>
          <p:sp>
            <p:nvSpPr>
              <p:cNvPr id="46" name="TextBox 27">
                <a:extLst>
                  <a:ext uri="{FF2B5EF4-FFF2-40B4-BE49-F238E27FC236}">
                    <a16:creationId xmlns:a16="http://schemas.microsoft.com/office/drawing/2014/main" id="{904B4456-BA89-9444-9E9C-D89851A6D8AE}"/>
                  </a:ext>
                </a:extLst>
              </p:cNvPr>
              <p:cNvSpPr txBox="1"/>
              <p:nvPr/>
            </p:nvSpPr>
            <p:spPr>
              <a:xfrm>
                <a:off x="17785" y="644412"/>
                <a:ext cx="1202680" cy="26220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56"/>
                  </a:lnSpc>
                </a:pPr>
                <a:r>
                  <a:rPr lang="en-US" sz="1111" dirty="0">
                    <a:solidFill>
                      <a:srgbClr val="FFFFFF"/>
                    </a:solidFill>
                    <a:latin typeface="GT Walsheim Pro Regular" panose="02000503040000020003" pitchFamily="50" charset="0"/>
                  </a:rPr>
                  <a:t>Innovative</a:t>
                </a:r>
              </a:p>
            </p:txBody>
          </p:sp>
        </p:grpSp>
        <p:grpSp>
          <p:nvGrpSpPr>
            <p:cNvPr id="52" name="Group 39">
              <a:extLst>
                <a:ext uri="{FF2B5EF4-FFF2-40B4-BE49-F238E27FC236}">
                  <a16:creationId xmlns:a16="http://schemas.microsoft.com/office/drawing/2014/main" id="{621FAD1B-3D86-BAAD-78F2-8B40577F53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1133" y="4171781"/>
              <a:ext cx="448436" cy="448436"/>
              <a:chOff x="0" y="0"/>
              <a:chExt cx="4087000" cy="4087000"/>
            </a:xfrm>
            <a:grpFill/>
          </p:grpSpPr>
          <p:sp>
            <p:nvSpPr>
              <p:cNvPr id="53" name="Freeform 40">
                <a:extLst>
                  <a:ext uri="{FF2B5EF4-FFF2-40B4-BE49-F238E27FC236}">
                    <a16:creationId xmlns:a16="http://schemas.microsoft.com/office/drawing/2014/main" id="{6424DA76-3A63-3955-FC85-4EDAE87984FA}"/>
                  </a:ext>
                </a:extLst>
              </p:cNvPr>
              <p:cNvSpPr/>
              <p:nvPr/>
            </p:nvSpPr>
            <p:spPr>
              <a:xfrm>
                <a:off x="63500" y="63500"/>
                <a:ext cx="3960114" cy="3959987"/>
              </a:xfrm>
              <a:custGeom>
                <a:avLst/>
                <a:gdLst/>
                <a:ahLst/>
                <a:cxnLst/>
                <a:rect l="l" t="t" r="r" b="b"/>
                <a:pathLst>
                  <a:path w="3960114" h="3959987">
                    <a:moveTo>
                      <a:pt x="1980057" y="0"/>
                    </a:moveTo>
                    <a:cubicBezTo>
                      <a:pt x="886460" y="0"/>
                      <a:pt x="0" y="886460"/>
                      <a:pt x="0" y="1980057"/>
                    </a:cubicBezTo>
                    <a:cubicBezTo>
                      <a:pt x="0" y="3073654"/>
                      <a:pt x="886460" y="3959987"/>
                      <a:pt x="1980057" y="3959987"/>
                    </a:cubicBezTo>
                    <a:cubicBezTo>
                      <a:pt x="3073654" y="3959987"/>
                      <a:pt x="3960114" y="3073527"/>
                      <a:pt x="3960114" y="1980057"/>
                    </a:cubicBezTo>
                    <a:cubicBezTo>
                      <a:pt x="3960114" y="886587"/>
                      <a:pt x="3073527" y="0"/>
                      <a:pt x="1980057" y="0"/>
                    </a:cubicBezTo>
                    <a:moveTo>
                      <a:pt x="1980057" y="127000"/>
                    </a:moveTo>
                    <a:cubicBezTo>
                      <a:pt x="2474976" y="127000"/>
                      <a:pt x="2940304" y="319786"/>
                      <a:pt x="3290316" y="669671"/>
                    </a:cubicBezTo>
                    <a:cubicBezTo>
                      <a:pt x="3640328" y="1019556"/>
                      <a:pt x="3832987" y="1485011"/>
                      <a:pt x="3832987" y="1979930"/>
                    </a:cubicBezTo>
                    <a:cubicBezTo>
                      <a:pt x="3832987" y="2474849"/>
                      <a:pt x="3640201" y="2940177"/>
                      <a:pt x="3290316" y="3290189"/>
                    </a:cubicBezTo>
                    <a:cubicBezTo>
                      <a:pt x="2940431" y="3640201"/>
                      <a:pt x="2474976" y="3832987"/>
                      <a:pt x="1980057" y="3832987"/>
                    </a:cubicBezTo>
                    <a:cubicBezTo>
                      <a:pt x="1485138" y="3832987"/>
                      <a:pt x="1019810" y="3640201"/>
                      <a:pt x="669798" y="3290189"/>
                    </a:cubicBezTo>
                    <a:cubicBezTo>
                      <a:pt x="319786" y="2940177"/>
                      <a:pt x="127000" y="2474976"/>
                      <a:pt x="127000" y="1980057"/>
                    </a:cubicBezTo>
                    <a:cubicBezTo>
                      <a:pt x="127000" y="1485138"/>
                      <a:pt x="319786" y="1019683"/>
                      <a:pt x="669798" y="669671"/>
                    </a:cubicBezTo>
                    <a:cubicBezTo>
                      <a:pt x="1019810" y="319659"/>
                      <a:pt x="1485011" y="127000"/>
                      <a:pt x="1980057" y="127000"/>
                    </a:cubicBezTo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4" name="Freeform 41">
                <a:extLst>
                  <a:ext uri="{FF2B5EF4-FFF2-40B4-BE49-F238E27FC236}">
                    <a16:creationId xmlns:a16="http://schemas.microsoft.com/office/drawing/2014/main" id="{94012937-42CE-4D46-B873-78ECC5872900}"/>
                  </a:ext>
                </a:extLst>
              </p:cNvPr>
              <p:cNvSpPr/>
              <p:nvPr/>
            </p:nvSpPr>
            <p:spPr>
              <a:xfrm>
                <a:off x="728726" y="728726"/>
                <a:ext cx="2629535" cy="2629535"/>
              </a:xfrm>
              <a:custGeom>
                <a:avLst/>
                <a:gdLst/>
                <a:ahLst/>
                <a:cxnLst/>
                <a:rect l="l" t="t" r="r" b="b"/>
                <a:pathLst>
                  <a:path w="2629535" h="2629535">
                    <a:moveTo>
                      <a:pt x="2502535" y="1314831"/>
                    </a:moveTo>
                    <a:cubicBezTo>
                      <a:pt x="2502535" y="658876"/>
                      <a:pt x="1970786" y="127127"/>
                      <a:pt x="1314831" y="127127"/>
                    </a:cubicBezTo>
                    <a:cubicBezTo>
                      <a:pt x="658876" y="127127"/>
                      <a:pt x="127127" y="658876"/>
                      <a:pt x="127127" y="1314831"/>
                    </a:cubicBezTo>
                    <a:lnTo>
                      <a:pt x="63627" y="1314831"/>
                    </a:lnTo>
                    <a:lnTo>
                      <a:pt x="127127" y="1314831"/>
                    </a:lnTo>
                    <a:cubicBezTo>
                      <a:pt x="127127" y="1970786"/>
                      <a:pt x="658876" y="2502535"/>
                      <a:pt x="1314831" y="2502535"/>
                    </a:cubicBezTo>
                    <a:lnTo>
                      <a:pt x="1314831" y="2566035"/>
                    </a:lnTo>
                    <a:lnTo>
                      <a:pt x="1314831" y="2502535"/>
                    </a:lnTo>
                    <a:cubicBezTo>
                      <a:pt x="1970786" y="2502535"/>
                      <a:pt x="2502535" y="1970786"/>
                      <a:pt x="2502535" y="1314831"/>
                    </a:cubicBezTo>
                    <a:lnTo>
                      <a:pt x="2566035" y="1314831"/>
                    </a:lnTo>
                    <a:lnTo>
                      <a:pt x="2502535" y="1314831"/>
                    </a:lnTo>
                    <a:moveTo>
                      <a:pt x="2629535" y="1314831"/>
                    </a:moveTo>
                    <a:cubicBezTo>
                      <a:pt x="2629535" y="2040890"/>
                      <a:pt x="2040890" y="2629535"/>
                      <a:pt x="1314831" y="2629535"/>
                    </a:cubicBezTo>
                    <a:cubicBezTo>
                      <a:pt x="588772" y="2629535"/>
                      <a:pt x="0" y="2040890"/>
                      <a:pt x="0" y="1314831"/>
                    </a:cubicBezTo>
                    <a:cubicBezTo>
                      <a:pt x="0" y="588772"/>
                      <a:pt x="588645" y="0"/>
                      <a:pt x="1314831" y="0"/>
                    </a:cubicBezTo>
                    <a:cubicBezTo>
                      <a:pt x="2041017" y="0"/>
                      <a:pt x="2629535" y="588645"/>
                      <a:pt x="2629535" y="131470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5" name="Freeform 42">
                <a:extLst>
                  <a:ext uri="{FF2B5EF4-FFF2-40B4-BE49-F238E27FC236}">
                    <a16:creationId xmlns:a16="http://schemas.microsoft.com/office/drawing/2014/main" id="{59B638D0-D41D-F2AE-66EF-C3A06BF6B9C7}"/>
                  </a:ext>
                </a:extLst>
              </p:cNvPr>
              <p:cNvSpPr/>
              <p:nvPr/>
            </p:nvSpPr>
            <p:spPr>
              <a:xfrm>
                <a:off x="990092" y="990092"/>
                <a:ext cx="2106930" cy="2106930"/>
              </a:xfrm>
              <a:custGeom>
                <a:avLst/>
                <a:gdLst/>
                <a:ahLst/>
                <a:cxnLst/>
                <a:rect l="l" t="t" r="r" b="b"/>
                <a:pathLst>
                  <a:path w="2106930" h="2106930">
                    <a:moveTo>
                      <a:pt x="1979930" y="1053465"/>
                    </a:moveTo>
                    <a:cubicBezTo>
                      <a:pt x="1979930" y="541782"/>
                      <a:pt x="1565148" y="127000"/>
                      <a:pt x="1053465" y="127000"/>
                    </a:cubicBezTo>
                    <a:cubicBezTo>
                      <a:pt x="541782" y="127000"/>
                      <a:pt x="127000" y="541782"/>
                      <a:pt x="127000" y="1053465"/>
                    </a:cubicBezTo>
                    <a:lnTo>
                      <a:pt x="63500" y="1053465"/>
                    </a:lnTo>
                    <a:lnTo>
                      <a:pt x="127000" y="1053465"/>
                    </a:lnTo>
                    <a:cubicBezTo>
                      <a:pt x="127000" y="1565148"/>
                      <a:pt x="541782" y="1979930"/>
                      <a:pt x="1053465" y="1979930"/>
                    </a:cubicBezTo>
                    <a:lnTo>
                      <a:pt x="1053465" y="2043430"/>
                    </a:lnTo>
                    <a:lnTo>
                      <a:pt x="1053465" y="1979930"/>
                    </a:lnTo>
                    <a:cubicBezTo>
                      <a:pt x="1565148" y="1979930"/>
                      <a:pt x="1979930" y="1565148"/>
                      <a:pt x="1979930" y="1053465"/>
                    </a:cubicBezTo>
                    <a:lnTo>
                      <a:pt x="2043430" y="1053465"/>
                    </a:lnTo>
                    <a:lnTo>
                      <a:pt x="1979930" y="1053465"/>
                    </a:lnTo>
                    <a:moveTo>
                      <a:pt x="2106930" y="1053465"/>
                    </a:moveTo>
                    <a:cubicBezTo>
                      <a:pt x="2106930" y="1635252"/>
                      <a:pt x="1635252" y="2106930"/>
                      <a:pt x="1053465" y="2106930"/>
                    </a:cubicBezTo>
                    <a:cubicBezTo>
                      <a:pt x="471678" y="2106930"/>
                      <a:pt x="0" y="1635252"/>
                      <a:pt x="0" y="1053465"/>
                    </a:cubicBezTo>
                    <a:cubicBezTo>
                      <a:pt x="0" y="471678"/>
                      <a:pt x="471678" y="0"/>
                      <a:pt x="1053465" y="0"/>
                    </a:cubicBezTo>
                    <a:cubicBezTo>
                      <a:pt x="1635252" y="0"/>
                      <a:pt x="2106930" y="471678"/>
                      <a:pt x="2106930" y="10534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6" name="Freeform 43">
                <a:extLst>
                  <a:ext uri="{FF2B5EF4-FFF2-40B4-BE49-F238E27FC236}">
                    <a16:creationId xmlns:a16="http://schemas.microsoft.com/office/drawing/2014/main" id="{ABE78DE1-87BF-EE3C-2CCD-5266DCC7FD2D}"/>
                  </a:ext>
                </a:extLst>
              </p:cNvPr>
              <p:cNvSpPr/>
              <p:nvPr/>
            </p:nvSpPr>
            <p:spPr>
              <a:xfrm>
                <a:off x="2215261" y="1495806"/>
                <a:ext cx="375920" cy="862076"/>
              </a:xfrm>
              <a:custGeom>
                <a:avLst/>
                <a:gdLst/>
                <a:ahLst/>
                <a:cxnLst/>
                <a:rect l="l" t="t" r="r" b="b"/>
                <a:pathLst>
                  <a:path w="375920" h="862076">
                    <a:moveTo>
                      <a:pt x="365125" y="90932"/>
                    </a:moveTo>
                    <a:lnTo>
                      <a:pt x="131699" y="810387"/>
                    </a:lnTo>
                    <a:cubicBezTo>
                      <a:pt x="120904" y="843788"/>
                      <a:pt x="85090" y="862076"/>
                      <a:pt x="51689" y="851154"/>
                    </a:cubicBezTo>
                    <a:cubicBezTo>
                      <a:pt x="18288" y="840232"/>
                      <a:pt x="0" y="804545"/>
                      <a:pt x="10922" y="771144"/>
                    </a:cubicBezTo>
                    <a:lnTo>
                      <a:pt x="244221" y="51689"/>
                    </a:lnTo>
                    <a:cubicBezTo>
                      <a:pt x="255016" y="18288"/>
                      <a:pt x="290830" y="0"/>
                      <a:pt x="324231" y="10922"/>
                    </a:cubicBezTo>
                    <a:cubicBezTo>
                      <a:pt x="357632" y="21844"/>
                      <a:pt x="375920" y="57531"/>
                      <a:pt x="364998" y="9093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8" name="Freeform 44">
                <a:extLst>
                  <a:ext uri="{FF2B5EF4-FFF2-40B4-BE49-F238E27FC236}">
                    <a16:creationId xmlns:a16="http://schemas.microsoft.com/office/drawing/2014/main" id="{40647CA3-66C5-FC67-4783-535993D6C623}"/>
                  </a:ext>
                </a:extLst>
              </p:cNvPr>
              <p:cNvSpPr/>
              <p:nvPr/>
            </p:nvSpPr>
            <p:spPr>
              <a:xfrm>
                <a:off x="1729232" y="1495933"/>
                <a:ext cx="861822" cy="375666"/>
              </a:xfrm>
              <a:custGeom>
                <a:avLst/>
                <a:gdLst/>
                <a:ahLst/>
                <a:cxnLst/>
                <a:rect l="l" t="t" r="r" b="b"/>
                <a:pathLst>
                  <a:path w="861822" h="375666">
                    <a:moveTo>
                      <a:pt x="810260" y="131572"/>
                    </a:moveTo>
                    <a:lnTo>
                      <a:pt x="90805" y="364871"/>
                    </a:lnTo>
                    <a:cubicBezTo>
                      <a:pt x="57404" y="375666"/>
                      <a:pt x="21590" y="357378"/>
                      <a:pt x="10795" y="324104"/>
                    </a:cubicBezTo>
                    <a:cubicBezTo>
                      <a:pt x="0" y="290830"/>
                      <a:pt x="18288" y="254889"/>
                      <a:pt x="51562" y="244094"/>
                    </a:cubicBezTo>
                    <a:lnTo>
                      <a:pt x="771017" y="10795"/>
                    </a:lnTo>
                    <a:cubicBezTo>
                      <a:pt x="804418" y="0"/>
                      <a:pt x="840232" y="18288"/>
                      <a:pt x="851027" y="51562"/>
                    </a:cubicBezTo>
                    <a:cubicBezTo>
                      <a:pt x="861822" y="84836"/>
                      <a:pt x="843534" y="120777"/>
                      <a:pt x="810260" y="13157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0" name="Freeform 45">
                <a:extLst>
                  <a:ext uri="{FF2B5EF4-FFF2-40B4-BE49-F238E27FC236}">
                    <a16:creationId xmlns:a16="http://schemas.microsoft.com/office/drawing/2014/main" id="{55E03204-C328-226F-C9DF-78199D851E7C}"/>
                  </a:ext>
                </a:extLst>
              </p:cNvPr>
              <p:cNvSpPr/>
              <p:nvPr/>
            </p:nvSpPr>
            <p:spPr>
              <a:xfrm>
                <a:off x="1495806" y="1729232"/>
                <a:ext cx="375920" cy="862076"/>
              </a:xfrm>
              <a:custGeom>
                <a:avLst/>
                <a:gdLst/>
                <a:ahLst/>
                <a:cxnLst/>
                <a:rect l="l" t="t" r="r" b="b"/>
                <a:pathLst>
                  <a:path w="375920" h="862076">
                    <a:moveTo>
                      <a:pt x="10922" y="771144"/>
                    </a:moveTo>
                    <a:lnTo>
                      <a:pt x="244221" y="51689"/>
                    </a:lnTo>
                    <a:cubicBezTo>
                      <a:pt x="255016" y="18288"/>
                      <a:pt x="290830" y="0"/>
                      <a:pt x="324231" y="10922"/>
                    </a:cubicBezTo>
                    <a:cubicBezTo>
                      <a:pt x="357632" y="21844"/>
                      <a:pt x="375920" y="57531"/>
                      <a:pt x="364998" y="90932"/>
                    </a:cubicBezTo>
                    <a:lnTo>
                      <a:pt x="131699" y="810387"/>
                    </a:lnTo>
                    <a:cubicBezTo>
                      <a:pt x="120904" y="843788"/>
                      <a:pt x="85090" y="862076"/>
                      <a:pt x="51689" y="851154"/>
                    </a:cubicBezTo>
                    <a:cubicBezTo>
                      <a:pt x="18288" y="840232"/>
                      <a:pt x="0" y="804545"/>
                      <a:pt x="10922" y="7711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F3194EC3-F93E-BFF9-0E23-AECF3FA62839}"/>
                  </a:ext>
                </a:extLst>
              </p:cNvPr>
              <p:cNvSpPr/>
              <p:nvPr/>
            </p:nvSpPr>
            <p:spPr>
              <a:xfrm>
                <a:off x="1495933" y="2215388"/>
                <a:ext cx="861822" cy="375666"/>
              </a:xfrm>
              <a:custGeom>
                <a:avLst/>
                <a:gdLst/>
                <a:ahLst/>
                <a:cxnLst/>
                <a:rect l="l" t="t" r="r" b="b"/>
                <a:pathLst>
                  <a:path w="861822" h="375666">
                    <a:moveTo>
                      <a:pt x="51562" y="244094"/>
                    </a:moveTo>
                    <a:lnTo>
                      <a:pt x="771017" y="10795"/>
                    </a:lnTo>
                    <a:cubicBezTo>
                      <a:pt x="804418" y="0"/>
                      <a:pt x="840232" y="18288"/>
                      <a:pt x="851027" y="51562"/>
                    </a:cubicBezTo>
                    <a:cubicBezTo>
                      <a:pt x="861822" y="84836"/>
                      <a:pt x="843534" y="120777"/>
                      <a:pt x="810260" y="131572"/>
                    </a:cubicBezTo>
                    <a:lnTo>
                      <a:pt x="90805" y="364871"/>
                    </a:lnTo>
                    <a:cubicBezTo>
                      <a:pt x="57404" y="375666"/>
                      <a:pt x="21590" y="357378"/>
                      <a:pt x="10795" y="324104"/>
                    </a:cubicBezTo>
                    <a:cubicBezTo>
                      <a:pt x="0" y="290830"/>
                      <a:pt x="18288" y="254889"/>
                      <a:pt x="51562" y="24409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2" name="Freeform 47">
                <a:extLst>
                  <a:ext uri="{FF2B5EF4-FFF2-40B4-BE49-F238E27FC236}">
                    <a16:creationId xmlns:a16="http://schemas.microsoft.com/office/drawing/2014/main" id="{05C61F4B-5F71-E159-5BA2-5EBAFBCF8394}"/>
                  </a:ext>
                </a:extLst>
              </p:cNvPr>
              <p:cNvSpPr/>
              <p:nvPr/>
            </p:nvSpPr>
            <p:spPr>
              <a:xfrm>
                <a:off x="1980057" y="989965"/>
                <a:ext cx="127000" cy="291973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91973">
                    <a:moveTo>
                      <a:pt x="127000" y="63500"/>
                    </a:moveTo>
                    <a:lnTo>
                      <a:pt x="127000" y="228473"/>
                    </a:lnTo>
                    <a:cubicBezTo>
                      <a:pt x="127000" y="263525"/>
                      <a:pt x="98552" y="291973"/>
                      <a:pt x="63500" y="291973"/>
                    </a:cubicBezTo>
                    <a:cubicBezTo>
                      <a:pt x="28448" y="291973"/>
                      <a:pt x="0" y="263525"/>
                      <a:pt x="0" y="228473"/>
                    </a:cubicBezTo>
                    <a:lnTo>
                      <a:pt x="0" y="63500"/>
                    </a:lnTo>
                    <a:cubicBezTo>
                      <a:pt x="0" y="28448"/>
                      <a:pt x="28448" y="0"/>
                      <a:pt x="63500" y="0"/>
                    </a:cubicBezTo>
                    <a:cubicBezTo>
                      <a:pt x="98552" y="0"/>
                      <a:pt x="127000" y="28448"/>
                      <a:pt x="127000" y="635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3" name="Freeform 48">
                <a:extLst>
                  <a:ext uri="{FF2B5EF4-FFF2-40B4-BE49-F238E27FC236}">
                    <a16:creationId xmlns:a16="http://schemas.microsoft.com/office/drawing/2014/main" id="{3C6635C4-78F0-0D35-7F39-3067701240E8}"/>
                  </a:ext>
                </a:extLst>
              </p:cNvPr>
              <p:cNvSpPr/>
              <p:nvPr/>
            </p:nvSpPr>
            <p:spPr>
              <a:xfrm>
                <a:off x="1980057" y="2805049"/>
                <a:ext cx="127000" cy="291973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91973">
                    <a:moveTo>
                      <a:pt x="127000" y="63500"/>
                    </a:moveTo>
                    <a:lnTo>
                      <a:pt x="127000" y="228473"/>
                    </a:lnTo>
                    <a:cubicBezTo>
                      <a:pt x="127000" y="263525"/>
                      <a:pt x="98552" y="291973"/>
                      <a:pt x="63500" y="291973"/>
                    </a:cubicBezTo>
                    <a:cubicBezTo>
                      <a:pt x="28448" y="291973"/>
                      <a:pt x="0" y="263525"/>
                      <a:pt x="0" y="228473"/>
                    </a:cubicBezTo>
                    <a:lnTo>
                      <a:pt x="0" y="63500"/>
                    </a:lnTo>
                    <a:cubicBezTo>
                      <a:pt x="0" y="28448"/>
                      <a:pt x="28448" y="0"/>
                      <a:pt x="63500" y="0"/>
                    </a:cubicBezTo>
                    <a:cubicBezTo>
                      <a:pt x="98552" y="0"/>
                      <a:pt x="127000" y="28448"/>
                      <a:pt x="127000" y="635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4" name="Freeform 49">
                <a:extLst>
                  <a:ext uri="{FF2B5EF4-FFF2-40B4-BE49-F238E27FC236}">
                    <a16:creationId xmlns:a16="http://schemas.microsoft.com/office/drawing/2014/main" id="{4DAD1E1B-A694-39AF-5271-8B87E047A1B8}"/>
                  </a:ext>
                </a:extLst>
              </p:cNvPr>
              <p:cNvSpPr/>
              <p:nvPr/>
            </p:nvSpPr>
            <p:spPr>
              <a:xfrm>
                <a:off x="1089025" y="1089025"/>
                <a:ext cx="324231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231" h="324104">
                    <a:moveTo>
                      <a:pt x="114681" y="24765"/>
                    </a:moveTo>
                    <a:lnTo>
                      <a:pt x="299466" y="209550"/>
                    </a:lnTo>
                    <a:cubicBezTo>
                      <a:pt x="324231" y="234315"/>
                      <a:pt x="324231" y="274574"/>
                      <a:pt x="299466" y="299339"/>
                    </a:cubicBezTo>
                    <a:cubicBezTo>
                      <a:pt x="274701" y="324104"/>
                      <a:pt x="234442" y="324104"/>
                      <a:pt x="209677" y="299339"/>
                    </a:cubicBezTo>
                    <a:lnTo>
                      <a:pt x="24765" y="114554"/>
                    </a:lnTo>
                    <a:cubicBezTo>
                      <a:pt x="0" y="89789"/>
                      <a:pt x="0" y="49530"/>
                      <a:pt x="24765" y="24765"/>
                    </a:cubicBezTo>
                    <a:cubicBezTo>
                      <a:pt x="49530" y="0"/>
                      <a:pt x="89789" y="0"/>
                      <a:pt x="114554" y="247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5" name="Freeform 50">
                <a:extLst>
                  <a:ext uri="{FF2B5EF4-FFF2-40B4-BE49-F238E27FC236}">
                    <a16:creationId xmlns:a16="http://schemas.microsoft.com/office/drawing/2014/main" id="{1054A9F7-960E-FD42-D42C-4DCF0F7EE204}"/>
                  </a:ext>
                </a:extLst>
              </p:cNvPr>
              <p:cNvSpPr/>
              <p:nvPr/>
            </p:nvSpPr>
            <p:spPr>
              <a:xfrm>
                <a:off x="2673858" y="2673858"/>
                <a:ext cx="324104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104" h="324104">
                    <a:moveTo>
                      <a:pt x="114554" y="24765"/>
                    </a:moveTo>
                    <a:lnTo>
                      <a:pt x="299339" y="209550"/>
                    </a:lnTo>
                    <a:cubicBezTo>
                      <a:pt x="324104" y="234315"/>
                      <a:pt x="324104" y="274574"/>
                      <a:pt x="299339" y="299339"/>
                    </a:cubicBezTo>
                    <a:cubicBezTo>
                      <a:pt x="274574" y="324104"/>
                      <a:pt x="234315" y="324104"/>
                      <a:pt x="209550" y="299339"/>
                    </a:cubicBezTo>
                    <a:lnTo>
                      <a:pt x="24765" y="114554"/>
                    </a:lnTo>
                    <a:cubicBezTo>
                      <a:pt x="0" y="89789"/>
                      <a:pt x="0" y="49530"/>
                      <a:pt x="24765" y="24765"/>
                    </a:cubicBezTo>
                    <a:cubicBezTo>
                      <a:pt x="49530" y="0"/>
                      <a:pt x="89789" y="0"/>
                      <a:pt x="114554" y="247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6" name="Freeform 51">
                <a:extLst>
                  <a:ext uri="{FF2B5EF4-FFF2-40B4-BE49-F238E27FC236}">
                    <a16:creationId xmlns:a16="http://schemas.microsoft.com/office/drawing/2014/main" id="{9F5552C9-91C5-FF5B-F6AF-ADAA59E5B531}"/>
                  </a:ext>
                </a:extLst>
              </p:cNvPr>
              <p:cNvSpPr/>
              <p:nvPr/>
            </p:nvSpPr>
            <p:spPr>
              <a:xfrm>
                <a:off x="989965" y="1980057"/>
                <a:ext cx="2921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27000">
                    <a:moveTo>
                      <a:pt x="63500" y="0"/>
                    </a:moveTo>
                    <a:lnTo>
                      <a:pt x="228600" y="0"/>
                    </a:lnTo>
                    <a:cubicBezTo>
                      <a:pt x="263652" y="0"/>
                      <a:pt x="292100" y="28448"/>
                      <a:pt x="292100" y="63500"/>
                    </a:cubicBezTo>
                    <a:cubicBezTo>
                      <a:pt x="292100" y="98552"/>
                      <a:pt x="263652" y="127000"/>
                      <a:pt x="228600" y="127000"/>
                    </a:cubicBezTo>
                    <a:lnTo>
                      <a:pt x="63500" y="127000"/>
                    </a:lnTo>
                    <a:cubicBezTo>
                      <a:pt x="28448" y="127000"/>
                      <a:pt x="0" y="98552"/>
                      <a:pt x="0" y="63500"/>
                    </a:cubicBezTo>
                    <a:cubicBezTo>
                      <a:pt x="0" y="28448"/>
                      <a:pt x="28448" y="0"/>
                      <a:pt x="635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7" name="Freeform 52">
                <a:extLst>
                  <a:ext uri="{FF2B5EF4-FFF2-40B4-BE49-F238E27FC236}">
                    <a16:creationId xmlns:a16="http://schemas.microsoft.com/office/drawing/2014/main" id="{CF2DCDF7-EAD4-7429-8AD7-2BAE434A4C80}"/>
                  </a:ext>
                </a:extLst>
              </p:cNvPr>
              <p:cNvSpPr/>
              <p:nvPr/>
            </p:nvSpPr>
            <p:spPr>
              <a:xfrm>
                <a:off x="2805049" y="1980057"/>
                <a:ext cx="291973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91973" h="127000">
                    <a:moveTo>
                      <a:pt x="63500" y="0"/>
                    </a:moveTo>
                    <a:lnTo>
                      <a:pt x="228473" y="0"/>
                    </a:lnTo>
                    <a:cubicBezTo>
                      <a:pt x="263525" y="0"/>
                      <a:pt x="291973" y="28448"/>
                      <a:pt x="291973" y="63500"/>
                    </a:cubicBezTo>
                    <a:cubicBezTo>
                      <a:pt x="291973" y="98552"/>
                      <a:pt x="263525" y="127000"/>
                      <a:pt x="228473" y="127000"/>
                    </a:cubicBezTo>
                    <a:lnTo>
                      <a:pt x="63500" y="127000"/>
                    </a:lnTo>
                    <a:cubicBezTo>
                      <a:pt x="28448" y="127000"/>
                      <a:pt x="0" y="98552"/>
                      <a:pt x="0" y="63500"/>
                    </a:cubicBezTo>
                    <a:cubicBezTo>
                      <a:pt x="0" y="28448"/>
                      <a:pt x="28448" y="0"/>
                      <a:pt x="635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8" name="Freeform 53">
                <a:extLst>
                  <a:ext uri="{FF2B5EF4-FFF2-40B4-BE49-F238E27FC236}">
                    <a16:creationId xmlns:a16="http://schemas.microsoft.com/office/drawing/2014/main" id="{6BFD94AB-23E9-54E4-1594-2D7F8A6CE213}"/>
                  </a:ext>
                </a:extLst>
              </p:cNvPr>
              <p:cNvSpPr/>
              <p:nvPr/>
            </p:nvSpPr>
            <p:spPr>
              <a:xfrm>
                <a:off x="1089152" y="2673858"/>
                <a:ext cx="323977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3977" h="324104">
                    <a:moveTo>
                      <a:pt x="24638" y="209550"/>
                    </a:moveTo>
                    <a:lnTo>
                      <a:pt x="209423" y="24765"/>
                    </a:lnTo>
                    <a:cubicBezTo>
                      <a:pt x="234188" y="0"/>
                      <a:pt x="274447" y="0"/>
                      <a:pt x="299212" y="24765"/>
                    </a:cubicBezTo>
                    <a:cubicBezTo>
                      <a:pt x="323977" y="49530"/>
                      <a:pt x="323977" y="89789"/>
                      <a:pt x="299212" y="114554"/>
                    </a:cubicBezTo>
                    <a:lnTo>
                      <a:pt x="114554" y="299339"/>
                    </a:lnTo>
                    <a:cubicBezTo>
                      <a:pt x="89789" y="324104"/>
                      <a:pt x="49530" y="324104"/>
                      <a:pt x="24765" y="299339"/>
                    </a:cubicBezTo>
                    <a:cubicBezTo>
                      <a:pt x="0" y="274574"/>
                      <a:pt x="0" y="234315"/>
                      <a:pt x="24765" y="209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9" name="Freeform 54">
                <a:extLst>
                  <a:ext uri="{FF2B5EF4-FFF2-40B4-BE49-F238E27FC236}">
                    <a16:creationId xmlns:a16="http://schemas.microsoft.com/office/drawing/2014/main" id="{ED434BC7-738B-8EDA-EA2A-8D2F4A9B16AC}"/>
                  </a:ext>
                </a:extLst>
              </p:cNvPr>
              <p:cNvSpPr/>
              <p:nvPr/>
            </p:nvSpPr>
            <p:spPr>
              <a:xfrm>
                <a:off x="2673858" y="1089025"/>
                <a:ext cx="324104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104" h="324104">
                    <a:moveTo>
                      <a:pt x="24765" y="209550"/>
                    </a:moveTo>
                    <a:lnTo>
                      <a:pt x="209550" y="24765"/>
                    </a:lnTo>
                    <a:cubicBezTo>
                      <a:pt x="234315" y="0"/>
                      <a:pt x="274574" y="0"/>
                      <a:pt x="299339" y="24765"/>
                    </a:cubicBezTo>
                    <a:cubicBezTo>
                      <a:pt x="324104" y="49530"/>
                      <a:pt x="324104" y="89789"/>
                      <a:pt x="299339" y="114554"/>
                    </a:cubicBezTo>
                    <a:lnTo>
                      <a:pt x="114554" y="299339"/>
                    </a:lnTo>
                    <a:cubicBezTo>
                      <a:pt x="89789" y="324104"/>
                      <a:pt x="49530" y="324104"/>
                      <a:pt x="24765" y="299339"/>
                    </a:cubicBezTo>
                    <a:cubicBezTo>
                      <a:pt x="0" y="274574"/>
                      <a:pt x="0" y="234315"/>
                      <a:pt x="24765" y="209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</p:grpSp>
        <p:sp>
          <p:nvSpPr>
            <p:cNvPr id="70" name="TextBox 55">
              <a:extLst>
                <a:ext uri="{FF2B5EF4-FFF2-40B4-BE49-F238E27FC236}">
                  <a16:creationId xmlns:a16="http://schemas.microsoft.com/office/drawing/2014/main" id="{C301BC60-D0EE-BB0F-D986-27C142A518B4}"/>
                </a:ext>
              </a:extLst>
            </p:cNvPr>
            <p:cNvSpPr txBox="1"/>
            <p:nvPr/>
          </p:nvSpPr>
          <p:spPr>
            <a:xfrm>
              <a:off x="903399" y="1850922"/>
              <a:ext cx="3693036" cy="957826"/>
            </a:xfrm>
            <a:prstGeom prst="rect">
              <a:avLst/>
            </a:prstGeom>
            <a:no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821"/>
                </a:lnSpc>
              </a:pPr>
              <a:r>
                <a:rPr lang="en-US" sz="2729" dirty="0">
                  <a:solidFill>
                    <a:srgbClr val="FFFFFF"/>
                  </a:solidFill>
                  <a:latin typeface="GT Walsheim Pro Bold" panose="02000503040000020003" pitchFamily="50" charset="0"/>
                </a:rPr>
                <a:t>AI Strategy &amp;</a:t>
              </a:r>
            </a:p>
            <a:p>
              <a:pPr>
                <a:lnSpc>
                  <a:spcPts val="3821"/>
                </a:lnSpc>
              </a:pPr>
              <a:r>
                <a:rPr lang="en-US" sz="2729" dirty="0">
                  <a:solidFill>
                    <a:srgbClr val="FFFFFF"/>
                  </a:solidFill>
                  <a:latin typeface="GT Walsheim Pro Bold" panose="02000503040000020003" pitchFamily="50" charset="0"/>
                </a:rPr>
                <a:t>Roadmap</a:t>
              </a:r>
            </a:p>
          </p:txBody>
        </p:sp>
        <p:sp>
          <p:nvSpPr>
            <p:cNvPr id="71" name="TextBox 56">
              <a:extLst>
                <a:ext uri="{FF2B5EF4-FFF2-40B4-BE49-F238E27FC236}">
                  <a16:creationId xmlns:a16="http://schemas.microsoft.com/office/drawing/2014/main" id="{CA5CE202-4ED5-A349-1A04-4DE8CE3D90F9}"/>
                </a:ext>
              </a:extLst>
            </p:cNvPr>
            <p:cNvSpPr txBox="1"/>
            <p:nvPr/>
          </p:nvSpPr>
          <p:spPr>
            <a:xfrm>
              <a:off x="903399" y="3153322"/>
              <a:ext cx="3840259" cy="691531"/>
            </a:xfrm>
            <a:prstGeom prst="rect">
              <a:avLst/>
            </a:prstGeom>
            <a:no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26"/>
                </a:lnSpc>
              </a:pPr>
              <a:r>
                <a:rPr lang="en-US" sz="1947" dirty="0">
                  <a:solidFill>
                    <a:srgbClr val="FFFFFF"/>
                  </a:solidFill>
                  <a:latin typeface="GT Walsheim Pro Regular" panose="02000503040000020003" pitchFamily="50" charset="0"/>
                </a:rPr>
                <a:t>Proposal  |  October 2026</a:t>
              </a:r>
            </a:p>
          </p:txBody>
        </p:sp>
        <p:sp>
          <p:nvSpPr>
            <p:cNvPr id="72" name="TextBox 57">
              <a:extLst>
                <a:ext uri="{FF2B5EF4-FFF2-40B4-BE49-F238E27FC236}">
                  <a16:creationId xmlns:a16="http://schemas.microsoft.com/office/drawing/2014/main" id="{CEB98C11-C7C3-B0B0-BA55-37DD93B5C49A}"/>
                </a:ext>
              </a:extLst>
            </p:cNvPr>
            <p:cNvSpPr txBox="1"/>
            <p:nvPr/>
          </p:nvSpPr>
          <p:spPr>
            <a:xfrm>
              <a:off x="868693" y="4646014"/>
              <a:ext cx="621524" cy="19973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sz="1111" dirty="0">
                  <a:solidFill>
                    <a:srgbClr val="FFFFFF"/>
                  </a:solidFill>
                  <a:latin typeface="GT Walsheim Pro Regular" panose="02000503040000020003" pitchFamily="50" charset="0"/>
                </a:rPr>
                <a:t>Adaptive</a:t>
              </a:r>
            </a:p>
          </p:txBody>
        </p:sp>
      </p:grpSp>
      <p:pic>
        <p:nvPicPr>
          <p:cNvPr id="2092" name="Picture 2091" descr="A white line drawing of a head with dots and lines in a black circle&#10;&#10;Description automatically generated">
            <a:extLst>
              <a:ext uri="{FF2B5EF4-FFF2-40B4-BE49-F238E27FC236}">
                <a16:creationId xmlns:a16="http://schemas.microsoft.com/office/drawing/2014/main" id="{941A6AFE-F817-05EC-A97E-219EF5AA1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328" y="3955846"/>
            <a:ext cx="484633" cy="484633"/>
          </a:xfrm>
          <a:prstGeom prst="rect">
            <a:avLst/>
          </a:prstGeom>
        </p:spPr>
      </p:pic>
      <p:pic>
        <p:nvPicPr>
          <p:cNvPr id="2096" name="Picture 2095" descr="A white line on a black background&#10;&#10;Description automatically generated">
            <a:extLst>
              <a:ext uri="{FF2B5EF4-FFF2-40B4-BE49-F238E27FC236}">
                <a16:creationId xmlns:a16="http://schemas.microsoft.com/office/drawing/2014/main" id="{292375E3-A834-8FA9-B80A-2842137AA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80" y="3945451"/>
            <a:ext cx="484632" cy="484632"/>
          </a:xfrm>
          <a:prstGeom prst="rect">
            <a:avLst/>
          </a:prstGeom>
        </p:spPr>
      </p:pic>
      <p:pic>
        <p:nvPicPr>
          <p:cNvPr id="2100" name="Picture 2099" descr="A light bulb with a lightning bolt in a circle&#10;&#10;Description automatically generated">
            <a:extLst>
              <a:ext uri="{FF2B5EF4-FFF2-40B4-BE49-F238E27FC236}">
                <a16:creationId xmlns:a16="http://schemas.microsoft.com/office/drawing/2014/main" id="{F8CFC82A-1B69-DE01-D642-63CFAC5CB4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5" y="3945450"/>
            <a:ext cx="484633" cy="484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33" descr="Abstract background of data">
            <a:extLst>
              <a:ext uri="{FF2B5EF4-FFF2-40B4-BE49-F238E27FC236}">
                <a16:creationId xmlns:a16="http://schemas.microsoft.com/office/drawing/2014/main" id="{881463A5-889B-024C-847C-15EF14B396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5" r="26485"/>
          <a:stretch/>
        </p:blipFill>
        <p:spPr>
          <a:xfrm>
            <a:off x="-95693" y="-9301"/>
            <a:ext cx="5741776" cy="6867301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CE8E20-ACA3-3A44-B5A3-DBF3E541B2B9}"/>
              </a:ext>
            </a:extLst>
          </p:cNvPr>
          <p:cNvSpPr txBox="1"/>
          <p:nvPr/>
        </p:nvSpPr>
        <p:spPr>
          <a:xfrm>
            <a:off x="6756411" y="306186"/>
            <a:ext cx="15712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D75AB539-68A9-3C4B-B57C-4B023BAA9F3A}"/>
              </a:ext>
            </a:extLst>
          </p:cNvPr>
          <p:cNvSpPr/>
          <p:nvPr/>
        </p:nvSpPr>
        <p:spPr>
          <a:xfrm>
            <a:off x="5098612" y="1493772"/>
            <a:ext cx="1037967" cy="103796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BFCE72D1-9595-B548-9B7A-3AB6307C5326}"/>
              </a:ext>
            </a:extLst>
          </p:cNvPr>
          <p:cNvSpPr/>
          <p:nvPr/>
        </p:nvSpPr>
        <p:spPr>
          <a:xfrm>
            <a:off x="5098612" y="2804011"/>
            <a:ext cx="1037967" cy="1037967"/>
          </a:xfrm>
          <a:prstGeom prst="diamond">
            <a:avLst/>
          </a:prstGeom>
          <a:solidFill>
            <a:srgbClr val="00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A05D8C9-5455-EA48-8E04-21E0F5A2CAF0}"/>
              </a:ext>
            </a:extLst>
          </p:cNvPr>
          <p:cNvSpPr/>
          <p:nvPr/>
        </p:nvSpPr>
        <p:spPr>
          <a:xfrm>
            <a:off x="5098612" y="4114250"/>
            <a:ext cx="1037967" cy="1037967"/>
          </a:xfrm>
          <a:prstGeom prst="diamond">
            <a:avLst/>
          </a:prstGeom>
          <a:solidFill>
            <a:srgbClr val="3100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171435-CE3B-DA48-ABAF-76E18E9E7D13}"/>
              </a:ext>
            </a:extLst>
          </p:cNvPr>
          <p:cNvSpPr txBox="1"/>
          <p:nvPr/>
        </p:nvSpPr>
        <p:spPr>
          <a:xfrm>
            <a:off x="5453127" y="1735756"/>
            <a:ext cx="328937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EDFA74-273E-6741-9B19-FEDEFBFA1B5C}"/>
              </a:ext>
            </a:extLst>
          </p:cNvPr>
          <p:cNvSpPr txBox="1"/>
          <p:nvPr/>
        </p:nvSpPr>
        <p:spPr>
          <a:xfrm>
            <a:off x="5415457" y="3045995"/>
            <a:ext cx="404278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2AAC7-9301-134C-88BB-2FEEB9D9B9C1}"/>
              </a:ext>
            </a:extLst>
          </p:cNvPr>
          <p:cNvSpPr txBox="1"/>
          <p:nvPr/>
        </p:nvSpPr>
        <p:spPr>
          <a:xfrm>
            <a:off x="5409045" y="4356234"/>
            <a:ext cx="417102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3F1FF-923D-A791-47FE-61E77B802F18}"/>
              </a:ext>
            </a:extLst>
          </p:cNvPr>
          <p:cNvSpPr txBox="1"/>
          <p:nvPr/>
        </p:nvSpPr>
        <p:spPr>
          <a:xfrm>
            <a:off x="6795700" y="1846875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Context &amp; Our Starting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DBEC2-CBCC-F409-11AC-ADE57824FD7B}"/>
              </a:ext>
            </a:extLst>
          </p:cNvPr>
          <p:cNvSpPr txBox="1"/>
          <p:nvPr/>
        </p:nvSpPr>
        <p:spPr>
          <a:xfrm>
            <a:off x="6795700" y="3160226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Approach &amp; Methodology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97EA22-06BC-34A7-422A-24B28BA4308A}"/>
              </a:ext>
            </a:extLst>
          </p:cNvPr>
          <p:cNvSpPr txBox="1"/>
          <p:nvPr/>
        </p:nvSpPr>
        <p:spPr>
          <a:xfrm>
            <a:off x="6795700" y="4441010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Engagement Plan &amp;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The Questions Every Leadership Team Is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An AI strategy is only useful if it says precisely where AI creates value in this organisation - and where it does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80000"/>
            <a:ext cx="3654362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4396" y="1480000"/>
            <a:ext cx="3654362" cy="9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396" y="1680000"/>
            <a:ext cx="3454362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Where exactly does AI fit?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96" y="2230000"/>
            <a:ext cx="3454362" cy="11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Which processes, functions and decisions would genuinely benefit - beyond generic 'use ChatGPT' advice?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758" y="1480000"/>
            <a:ext cx="3654362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8758" y="1480000"/>
            <a:ext cx="3654362" cy="9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8758" y="1680000"/>
            <a:ext cx="3454362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Do we have the data?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58" y="2230000"/>
            <a:ext cx="3454362" cy="11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Is our data digital, joined-up, reliable and deep enough for AI - or do we need foundations first?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3120" y="1480000"/>
            <a:ext cx="3654362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3120" y="1480000"/>
            <a:ext cx="3654362" cy="9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3120" y="1680000"/>
            <a:ext cx="3454362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Is automation enough?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3120" y="2230000"/>
            <a:ext cx="3454362" cy="11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For many organisations - especially smaller ones - workflow automation, RPA and dashboards deliver most of the value at lower cost and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4396" y="3530000"/>
            <a:ext cx="3654362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4396" y="3530000"/>
            <a:ext cx="3654362" cy="9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396" y="3730000"/>
            <a:ext cx="3454362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Build, buy or partner?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396" y="4280000"/>
            <a:ext cx="3454362" cy="11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What can we realistically run with our scale, budget and technology team?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758" y="3530000"/>
            <a:ext cx="3654362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28758" y="3530000"/>
            <a:ext cx="3654362" cy="9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28758" y="3730000"/>
            <a:ext cx="3454362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What are the risks?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8758" y="4280000"/>
            <a:ext cx="3454362" cy="11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Which uses affect customers, employees or regulators (PDPL, CBB, NHRA, TRA, EU AI Act) and what controls are required?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3120" y="3530000"/>
            <a:ext cx="3654362" cy="1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3120" y="3530000"/>
            <a:ext cx="3654362" cy="90000"/>
          </a:xfrm>
          <a:prstGeom prst="rect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3120" y="3730000"/>
            <a:ext cx="3454362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What do we do first?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3120" y="4280000"/>
            <a:ext cx="3454362" cy="11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Arial"/>
              </a:rPr>
              <a:t>A prioritised roadmap with quick wins, measurable KPIs and clear ownership.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396" y="5680000"/>
            <a:ext cx="11263086" cy="52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Our approach answers these with evidence: </a:t>
            </a:r>
            <a:r>
              <a:rPr sz="1200" b="0">
                <a:solidFill>
                  <a:srgbClr val="FFFFFF"/>
                </a:solidFill>
                <a:latin typeface="Arial"/>
              </a:rPr>
              <a:t>an AI position screen, a 240-entry AI use-case library, a process-by-process AI fit diagnostic and a risk-tiered roadmap - delivered within 5 working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Where the Value Is - Sector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AI and automation potential is highest where volumes, data and regulation meet: financial services, healthcare and telecom lead - and our library goes deepest there.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230000"/>
          <a:ext cx="11263084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Sector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Value at stake by 2030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Potential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Where the value is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Library entries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Banking &amp; payments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$2.1T | 10.0%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Onboarding &amp; KYC, financial-crime alert triage, fraud, credit, customer service, regulatory reporting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Insurance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$2.1T | 10.0% (financial services)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Claims intake &amp; settlement, claims fraud, underwriting intake, policy servicing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Capital markets &amp; wealth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$2.1T | 10.0% (financial services)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Reconciliations, surveillance, research, client reporting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Healthcare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$5.1T | 20.7%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Revenue cycle, scheduling, documentation, coding, imaging and early warning (regulated)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Telecommunications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$305B | 12.4% (technology, communications &amp; entertainment)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Network operations (AIOps), churn, care automation, fraud, revenue assurance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Government &amp; public sector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Not sized separately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Citizen services, application processing, translation, records, inspections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Retail &amp; e-commerce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$2.0T | 14.8%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Demand forecasting, pricing, personalisation, content, service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Hospitality &amp; tourism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$2.0T | 14.8% (retail &amp; consumer)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Revenue management, guest messaging, reputation, F&amp;B waste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Manufacturing &amp; industrial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$4.0T | 11.9%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Predictive maintenance, quality inspection, scheduling, energy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Oil, gas, energy &amp; utilities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$1.7T | 12.0%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Asset integrity, inspection, load forecasting, leak detection, ESG reporting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Logistics, aviation &amp; transport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$569B | 10.3%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Routing, warehouse optimisation, customs documents, fleet maintenance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Real estate &amp; construction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Not sized separately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Lease abstraction, tenant service, rent collection, progress monitoring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Education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Not sized separately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Student service, content, timetabling - assessment and admissions are high-risk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Arial"/>
                        </a:rPr>
                        <a:t>Professional services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Not sized separately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Audit analytics, drafting, tax research, DD review, practice operations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4396" y="5760000"/>
            <a:ext cx="11263086" cy="4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Plus 60 cross-industry entries (finance, HR, customer service, procurement, risk, IT ...). Source (value at stake, GDP uplift by 2030): QuantumBlack &amp; PwC analysis (Predictions for 2030); insurance and capital markets share the financial-services figure.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Our Starting Point - GT Bahrain AI Ready7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GT Bahrain's AI Ready7 results (Sept 2026), consolidated into the five GT readiness domains, against our proposed end-2027 targets.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4396" y="1430000"/>
          <a:ext cx="6532589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82247" y="1430000"/>
          <a:ext cx="4505234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7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Ready7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AI Governance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AI Risk &amp; Security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Training &amp; Awareness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Strategy &amp; Value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+25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Data &amp; Technology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Overall readiness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61.4%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&gt;= 75%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82247" y="4030000"/>
            <a:ext cx="4505235" cy="17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222222"/>
                </a:solidFill>
                <a:latin typeface="Arial"/>
              </a:rPr>
              <a:t>What it means: </a:t>
            </a:r>
            <a:r>
              <a:rPr sz="1050" b="0">
                <a:solidFill>
                  <a:srgbClr val="222222"/>
                </a:solidFill>
                <a:latin typeface="Arial"/>
              </a:rPr>
              <a:t>GT Bahrain is 'Informed' (61.4%) - strongest in Training &amp; Awareness (69%), weakest in Strategy &amp; Value (50%). Knowing where AI fits and governing it is our own priority too.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222222"/>
                </a:solidFill>
                <a:latin typeface="Arial"/>
              </a:rPr>
              <a:t>Readiness vs fit: </a:t>
            </a:r>
            <a:r>
              <a:rPr sz="1050" b="0">
                <a:solidFill>
                  <a:srgbClr val="222222"/>
                </a:solidFill>
                <a:latin typeface="Arial"/>
              </a:rPr>
              <a:t>Ready7 tells us HOW READY an organisation is; the Opportunity Discovery method tells us WHERE AI FITS. A complete strategy needs both.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396" y="5780000"/>
            <a:ext cx="11263086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Source: GT Bahrain AI Ready7 Result Report (Sept 2026). Domain = average of its Ready7 pillars: Data &amp; Technology = Architecture &amp; Technology + Data &amp; Quality; AI Risk &amp; Security = Protect AI Systems + Protection from AI Threats. Maturity: &lt;50% Partial | 50-70% Informed | 70-90% Repeatable | 90%+ Adaptive.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C7AD44-C87D-49F0-8292-A94679109843}"/>
              </a:ext>
            </a:extLst>
          </p:cNvPr>
          <p:cNvSpPr/>
          <p:nvPr/>
        </p:nvSpPr>
        <p:spPr>
          <a:xfrm>
            <a:off x="0" y="-1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18288000" h="12390120">
                <a:moveTo>
                  <a:pt x="0" y="0"/>
                </a:moveTo>
                <a:lnTo>
                  <a:pt x="18288000" y="0"/>
                </a:lnTo>
                <a:lnTo>
                  <a:pt x="18288000" y="12390120"/>
                </a:lnTo>
                <a:lnTo>
                  <a:pt x="0" y="12390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508D9-0E0F-F987-DECA-55A7FA5DE6B8}"/>
              </a:ext>
            </a:extLst>
          </p:cNvPr>
          <p:cNvSpPr/>
          <p:nvPr/>
        </p:nvSpPr>
        <p:spPr>
          <a:xfrm>
            <a:off x="0" y="-2"/>
            <a:ext cx="12191998" cy="7139483"/>
          </a:xfrm>
          <a:prstGeom prst="rect">
            <a:avLst/>
          </a:prstGeom>
          <a:solidFill>
            <a:srgbClr val="4F2D7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2897C-39BA-0A66-797A-BEB0C83AAE45}"/>
              </a:ext>
            </a:extLst>
          </p:cNvPr>
          <p:cNvSpPr/>
          <p:nvPr/>
        </p:nvSpPr>
        <p:spPr>
          <a:xfrm>
            <a:off x="0" y="-2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0" t="-226076" r="-109432" b="-2221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44EC82-137F-8FD9-DA67-38F5137810B6}"/>
              </a:ext>
            </a:extLst>
          </p:cNvPr>
          <p:cNvSpPr/>
          <p:nvPr/>
        </p:nvSpPr>
        <p:spPr>
          <a:xfrm>
            <a:off x="-2" y="0"/>
            <a:ext cx="12192002" cy="713948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1" t="-226073" r="-109430" b="-2221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221826-FB15-5DA1-6707-F4C163C6CFDB}"/>
              </a:ext>
            </a:extLst>
          </p:cNvPr>
          <p:cNvSpPr/>
          <p:nvPr/>
        </p:nvSpPr>
        <p:spPr>
          <a:xfrm>
            <a:off x="-1" y="-93230"/>
            <a:ext cx="12192002" cy="732594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4" t="-219047" r="-109427" b="-2152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11A8A3-B4EE-EB7E-9F2C-93D45BFD6D32}"/>
              </a:ext>
            </a:extLst>
          </p:cNvPr>
          <p:cNvSpPr/>
          <p:nvPr/>
        </p:nvSpPr>
        <p:spPr>
          <a:xfrm>
            <a:off x="-1" y="-2"/>
            <a:ext cx="12192001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2" t="-223154" r="-109429" b="-2179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233354-9791-7BF2-2983-D614F879A572}"/>
              </a:ext>
            </a:extLst>
          </p:cNvPr>
          <p:cNvSpPr/>
          <p:nvPr/>
        </p:nvSpPr>
        <p:spPr>
          <a:xfrm>
            <a:off x="-1" y="-2"/>
            <a:ext cx="12192000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3" t="-223159" r="-109428" b="-2179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39F0D-B44A-F824-E008-8560A6309DBA}"/>
              </a:ext>
            </a:extLst>
          </p:cNvPr>
          <p:cNvSpPr txBox="1"/>
          <p:nvPr/>
        </p:nvSpPr>
        <p:spPr>
          <a:xfrm>
            <a:off x="1004473" y="3157343"/>
            <a:ext cx="583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&amp;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EA642-D069-958E-A24D-5CB99B0F44AA}"/>
              </a:ext>
            </a:extLst>
          </p:cNvPr>
          <p:cNvCxnSpPr>
            <a:cxnSpLocks/>
          </p:cNvCxnSpPr>
          <p:nvPr/>
        </p:nvCxnSpPr>
        <p:spPr>
          <a:xfrm>
            <a:off x="8286904" y="6464483"/>
            <a:ext cx="3523342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B6A2FC1-11AA-1477-5B10-756FBF7DC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337" y="6552802"/>
            <a:ext cx="1121909" cy="216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E14C6E-C1B2-BAC8-41CB-FE011227B300}"/>
              </a:ext>
            </a:extLst>
          </p:cNvPr>
          <p:cNvSpPr txBox="1"/>
          <p:nvPr/>
        </p:nvSpPr>
        <p:spPr>
          <a:xfrm>
            <a:off x="8277097" y="6554237"/>
            <a:ext cx="21226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© 2026 Grant Thornton Bahrain.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Our Methodology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Five phases, report within 5 working days. Phase 3 - AI Opportunity Discovery - is what makes the strategy specific to the organisation.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396" y="1430000"/>
            <a:ext cx="2300617" cy="650000"/>
          </a:xfrm>
          <a:prstGeom prst="homePlate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1  Mobilise</a:t>
            </a:r>
          </a:p>
        </p:txBody>
      </p:sp>
      <p:sp>
        <p:nvSpPr>
          <p:cNvPr id="11" name="Chevron 10"/>
          <p:cNvSpPr/>
          <p:nvPr/>
        </p:nvSpPr>
        <p:spPr>
          <a:xfrm>
            <a:off x="2765013" y="1430000"/>
            <a:ext cx="2300617" cy="650000"/>
          </a:xfrm>
          <a:prstGeom prst="chevron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2  Situational analysis</a:t>
            </a:r>
          </a:p>
        </p:txBody>
      </p:sp>
      <p:sp>
        <p:nvSpPr>
          <p:cNvPr id="12" name="Chevron 11"/>
          <p:cNvSpPr/>
          <p:nvPr/>
        </p:nvSpPr>
        <p:spPr>
          <a:xfrm>
            <a:off x="5005630" y="1430000"/>
            <a:ext cx="2300617" cy="650000"/>
          </a:xfrm>
          <a:prstGeom prst="chevron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3  AI opportunity discovery</a:t>
            </a:r>
          </a:p>
        </p:txBody>
      </p:sp>
      <p:sp>
        <p:nvSpPr>
          <p:cNvPr id="13" name="Chevron 12"/>
          <p:cNvSpPr/>
          <p:nvPr/>
        </p:nvSpPr>
        <p:spPr>
          <a:xfrm>
            <a:off x="7246247" y="1430000"/>
            <a:ext cx="2300617" cy="650000"/>
          </a:xfrm>
          <a:prstGeom prst="chevron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4  Strategy formulation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9486864" y="1430000"/>
            <a:ext cx="2300617" cy="650000"/>
          </a:xfrm>
          <a:prstGeom prst="chevron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5  Roadmap &amp;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396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4396" y="2260000"/>
            <a:ext cx="2120617" cy="30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Scope, sponsor, stakeholders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Pre-work: sector, process list and documents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Kick-off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396" y="5380000"/>
            <a:ext cx="2180617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Day 0-1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5013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25013" y="2260000"/>
            <a:ext cx="2120617" cy="30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External scan (regulation, market, sector, technology)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Internal scan: strategy, systems, data, current AI use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Leadership interviews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SWOT -&gt; strategic options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5013" y="5380000"/>
            <a:ext cx="2180617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Day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5630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65630" y="2260000"/>
            <a:ext cx="2120617" cy="30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position screen (data x scale)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Function workshops with the use-case library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fit diagnostic per process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Value, feasibility &amp; risk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5630" y="5380000"/>
            <a:ext cx="2180617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Day 1-3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6247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06247" y="2260000"/>
            <a:ext cx="2120617" cy="30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vision &amp; ambition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Objectives &amp; KPIs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Priority portfolio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Build / buy / partner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Risk appetite &amp; guardrails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Operating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6247" y="5380000"/>
            <a:ext cx="2180617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Day 3-4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6864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46864" y="2260000"/>
            <a:ext cx="2120617" cy="30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H1 / H2 / H3 roadmap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Enablers: data, platforms, people, governance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Use-case canvases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Report &amp; presentation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16864" y="5380000"/>
            <a:ext cx="2180617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Day 4-5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Principles Behind 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What makes a GT AI strategy different from a technology wish-list.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650000" cy="105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4396" y="1430000"/>
            <a:ext cx="4906543" cy="10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74396" y="1520000"/>
            <a:ext cx="4736543" cy="3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F2D7F"/>
                </a:solidFill>
                <a:latin typeface="Arial"/>
              </a:rPr>
              <a:t>Problem first, not technology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4396" y="1900000"/>
            <a:ext cx="4736543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We start from processes, pain points and decisions - then choose the technology.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0939" y="1430000"/>
            <a:ext cx="650000" cy="105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0939" y="1430000"/>
            <a:ext cx="4906543" cy="10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80939" y="1520000"/>
            <a:ext cx="4736543" cy="3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F2D7F"/>
                </a:solidFill>
                <a:latin typeface="Arial"/>
              </a:rPr>
              <a:t>Automation before AI - where it is enough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0939" y="1900000"/>
            <a:ext cx="4736543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If rules, workflow or a dashboard solve it, we say so. AI is recommended only where it adds value that automation cannot.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396" y="2600000"/>
            <a:ext cx="650000" cy="105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4396" y="2600000"/>
            <a:ext cx="4906543" cy="10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74396" y="2690000"/>
            <a:ext cx="4736543" cy="3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F2D7F"/>
                </a:solidFill>
                <a:latin typeface="Arial"/>
              </a:rPr>
              <a:t>Data decides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4396" y="3070000"/>
            <a:ext cx="4736543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Every AI recommendation passes a data gate: is the data digital, available, reliable and (for prediction) labelled?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0939" y="2600000"/>
            <a:ext cx="650000" cy="105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80939" y="2600000"/>
            <a:ext cx="4906543" cy="10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80939" y="2690000"/>
            <a:ext cx="4736543" cy="3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F2D7F"/>
                </a:solidFill>
                <a:latin typeface="Arial"/>
              </a:rPr>
              <a:t>Right-sized to the organisation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0939" y="3070000"/>
            <a:ext cx="4736543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A solution ceiling based on scale, budget and technology capacity: an SME and a bank get different answers.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396" y="3770000"/>
            <a:ext cx="650000" cy="105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4396" y="3770000"/>
            <a:ext cx="4906543" cy="10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74396" y="3860000"/>
            <a:ext cx="4736543" cy="3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F2D7F"/>
                </a:solidFill>
                <a:latin typeface="Arial"/>
              </a:rPr>
              <a:t>Proportionate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4396" y="4240000"/>
            <a:ext cx="4736543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Each opportunity is risk-tiered (NSW AIAF, EU AI Act Annex III, PDPL, sector regulators) and carries minimum controls before go-live.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0939" y="3770000"/>
            <a:ext cx="650000" cy="1050000"/>
          </a:xfrm>
          <a:prstGeom prst="rect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80939" y="3770000"/>
            <a:ext cx="4906543" cy="10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80939" y="3860000"/>
            <a:ext cx="4736543" cy="3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F2D7F"/>
                </a:solidFill>
                <a:latin typeface="Arial"/>
              </a:rPr>
              <a:t>Standards-based and vendor-agnostic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0939" y="4240000"/>
            <a:ext cx="4736543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ISO/IEC 42001, 22989, 5259, 42005, NIST AI RMF, OECD, APQC - and no vendor commissions.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Phases 1-2: Mobilise and Situational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Understand the organisation, its sector and its starting point before discussing solutions.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3654362" cy="4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850000"/>
            <a:ext cx="3654362" cy="3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96" y="1950000"/>
            <a:ext cx="3514362" cy="38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Kick-off with sponsor; confirm scope, objectives and success criteria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Review strategy, IT landscape, data assets and current AI use (incl. shadow AI)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Leadership interviews (strategy, operations, IT, risk)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External scan: Bahrain Vision 2030, iGA AI Policy, PDPL, sector regulator (CBB, NHRA, TRA ...), EU AI Act reach, peer AI use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SWOT -&gt; strategic options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758" y="1430000"/>
            <a:ext cx="3654362" cy="42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PRE-WORK &amp;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758" y="1850000"/>
            <a:ext cx="3654362" cy="3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758" y="1950000"/>
            <a:ext cx="3514362" cy="38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Client pre-work before Day 1: sector, organisation chart, top processes and pain points, key documents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Sector profile and value-at-stake data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PESTLE and SWOT / TOWS templates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AI use inventory template (incl. embedded AI in SaaS)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Optional baseline: GT AI Readiness &amp; Risk Assessment (20 questions, 5 domains)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3120" y="1430000"/>
            <a:ext cx="3654362" cy="42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3120" y="1850000"/>
            <a:ext cx="3654362" cy="3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3120" y="1950000"/>
            <a:ext cx="3514362" cy="38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Situational analysis and SWOT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Strategic options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Current AI use inventory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Readiness baseline (if selected)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Phase 3: The GT AI Opportunity Discovery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 structured, facilitated method that answers 'where exactly does AI fit?' - process by process - and tells the organisation where automation is enough.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2172617" cy="7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  Position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130000"/>
            <a:ext cx="2172617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Is the organisation positioned for AI? 12 questions on DATA (digitisation, history, quality, documents, integration, outcomes) and SCALE &amp; CAPACITY (size, volumes, IT, budget, digital channels, change capacity).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5080000"/>
            <a:ext cx="2172617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Archetype + solution ceiling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7013" y="1430000"/>
            <a:ext cx="2172617" cy="7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  Discover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7013" y="2130000"/>
            <a:ext cx="2172617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Function-by-function workshops using the GT AI Use-Case Library: 240 entries - 60 cross-industry plus 180 for 14 sectors, filtered to the client's sector.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7013" y="5080000"/>
            <a:ext cx="2172617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Process &amp; pain-point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9630" y="1430000"/>
            <a:ext cx="2172617" cy="7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  Diagnose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9630" y="2130000"/>
            <a:ext cx="2172617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For every process: task nature -&gt; solution family (10 families, 5 levels), data gate, organisational fit and risk tier - plus the library's GT recommendation.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9630" y="5080000"/>
            <a:ext cx="2172617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Verdict + recommendation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42247" y="1430000"/>
            <a:ext cx="2172617" cy="7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  Prioritise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42247" y="2130000"/>
            <a:ext cx="2172617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Value (volume, effort, importance, customer impact) x feasibility (data, standardisation, simplicity, fit), risk-adjusted.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247" y="5080000"/>
            <a:ext cx="2172617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Ranked opportunities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4864" y="1430000"/>
            <a:ext cx="2172617" cy="7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  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4864" y="2130000"/>
            <a:ext cx="2172617" cy="2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Opportunity report, H1 / H2 / H3 roadmap lanes with the enabling foundations, and a one-page canvas per priority use case.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14864" y="5080000"/>
            <a:ext cx="2172617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4F2D7F"/>
                </a:solidFill>
                <a:latin typeface="Arial"/>
              </a:rPr>
              <a:t>Report, roadmap, canvases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396" y="5730000"/>
            <a:ext cx="11263086" cy="52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 a readiness test: </a:t>
            </a:r>
            <a:r>
              <a:rPr sz="1100" b="0">
                <a:solidFill>
                  <a:srgbClr val="FFFFFF"/>
                </a:solidFill>
                <a:latin typeface="Arial"/>
              </a:rPr>
              <a:t>the toolkit locates opportunities and the right type of solution. Governance maturity is measured separately by the GT AI Readiness &amp; Risk Assessment.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Step 1: Organisational AI Position - Is Automation Enough?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Two scores place the organisation in one of four archetypes. Each archetype sets a ceiling on the complexity of solution it can realistically adopt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4396" y="1730000"/>
            <a:ext cx="2350000" cy="1650000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C. Buy and configure AI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Good data, limited scale / capacity: adopt and configure proven AI products rather than build.</a:t>
            </a:r>
          </a:p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Ceiling: level 4 - Configured AI on own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4396" y="1730000"/>
            <a:ext cx="2350000" cy="1650000"/>
          </a:xfrm>
          <a:prstGeom prst="rect">
            <a:avLst/>
          </a:prstGeom>
          <a:solidFill>
            <a:srgbClr val="A9D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D. Build and scale AI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Data and scale support custom AI: build a portfolio, including advanced analytics and governed agentic AI.</a:t>
            </a:r>
          </a:p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Ceiling: level 5 - Custom AI / agentic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4396" y="3440000"/>
            <a:ext cx="2350000" cy="1650000"/>
          </a:xfrm>
          <a:prstGeom prst="rect">
            <a:avLst/>
          </a:prstGeom>
          <a:solidFill>
            <a:srgbClr val="9BC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A. Automation is enough - for now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Digitise and automate first; use AI that is already built into everyday tools.</a:t>
            </a:r>
          </a:p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Ceiling: level 3 - Off-the-shelf / embedded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4396" y="3440000"/>
            <a:ext cx="2350000" cy="165000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B. Data foundations first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Scale is there but the data is not: fix data foundations while automating and adopting off-the-shelf AI.</a:t>
            </a:r>
          </a:p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Ceiling: level 3 - Off-the-shelf / embedded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396" y="2030000"/>
            <a:ext cx="1150000" cy="16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DATA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396" y="3740000"/>
            <a:ext cx="1150000" cy="16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DATA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4396" y="5180000"/>
            <a:ext cx="235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SCALE &amp; CAPACITY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4396" y="5180000"/>
            <a:ext cx="235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SCALE &amp; CAPACITY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4396" y="1430000"/>
            <a:ext cx="5063086" cy="3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12 position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396" y="1860000"/>
            <a:ext cx="5063086" cy="20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222222"/>
                </a:solidFill>
                <a:latin typeface="Arial"/>
              </a:rPr>
              <a:t>Data position: </a:t>
            </a:r>
            <a:r>
              <a:rPr sz="1050" b="0">
                <a:solidFill>
                  <a:srgbClr val="222222"/>
                </a:solidFill>
                <a:latin typeface="Arial"/>
              </a:rPr>
              <a:t>how processes run (paper -&gt; integrated systems); depth of digital history; data quality &amp; ownership; where documents live; integration; recorded outcomes ('labels').</a:t>
            </a:r>
          </a:p>
          <a:p>
            <a:pPr algn="l">
              <a:spcAft>
                <a:spcPts val="800"/>
              </a:spcAft>
            </a:pPr>
            <a:r>
              <a:rPr sz="1050" b="1">
                <a:solidFill>
                  <a:srgbClr val="222222"/>
                </a:solidFill>
                <a:latin typeface="Arial"/>
              </a:rPr>
              <a:t>Scale &amp; capacity: </a:t>
            </a:r>
            <a:r>
              <a:rPr sz="1050" b="0">
                <a:solidFill>
                  <a:srgbClr val="222222"/>
                </a:solidFill>
                <a:latin typeface="Arial"/>
              </a:rPr>
              <a:t>employees; transaction volumes; in-house technology skills; budget; digital interactions; capacity for change.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4396" y="3830000"/>
            <a:ext cx="5063086" cy="38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Solution levels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396" y="4230000"/>
            <a:ext cx="5063086" cy="17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1. Digitise / redesign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2. Automate (no AI)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3. Off-the-shelf / embedded AI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4. Configured AI on own data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222"/>
                </a:solidFill>
                <a:latin typeface="Arial"/>
              </a:rPr>
              <a:t>5. Custom AI / agentic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396" y="5930000"/>
            <a:ext cx="11263086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Basis: OECD Framework for the Classification of AI Systems (Economic Context; Data &amp; Input), ISO/IEC 42001 cl. 4.1-4.2, NIST AI RMF MAP 1.3-1.6.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Step 2: The GT AI Use-Case Library - 240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Recommendations come from a curated, standards-based library - not from a blank page. Deepest coverage where automation potential is highest.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4396" y="1330000"/>
          <a:ext cx="4730496" cy="46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480153" y="1330000"/>
            <a:ext cx="6307329" cy="3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Every entry carries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0153" y="1740000"/>
            <a:ext cx="6307329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Sector &amp; function: </a:t>
            </a:r>
            <a:r>
              <a:rPr sz="950" b="0">
                <a:solidFill>
                  <a:srgbClr val="222222"/>
                </a:solidFill>
                <a:latin typeface="Arial"/>
              </a:rPr>
              <a:t>APQC Process Classification Framework level-1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0153" y="2030000"/>
            <a:ext cx="6307329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Process &amp; typical pain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0153" y="2320000"/>
            <a:ext cx="6307329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Task nature -&gt; solution family: </a:t>
            </a:r>
            <a:r>
              <a:rPr sz="950" b="0">
                <a:solidFill>
                  <a:srgbClr val="222222"/>
                </a:solidFill>
                <a:latin typeface="Arial"/>
              </a:rPr>
              <a:t>ISO/IEC 22989 / OECD-based, 10 families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0153" y="2610000"/>
            <a:ext cx="6307329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GT recommendation: </a:t>
            </a:r>
            <a:r>
              <a:rPr sz="950" b="0">
                <a:solidFill>
                  <a:srgbClr val="222222"/>
                </a:solidFill>
                <a:latin typeface="Arial"/>
              </a:rPr>
              <a:t>what to implement and how - specific to the use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0153" y="2900000"/>
            <a:ext cx="6307329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Data needed &amp; KPIs: </a:t>
            </a:r>
            <a:r>
              <a:rPr sz="950" b="0">
                <a:solidFill>
                  <a:srgbClr val="222222"/>
                </a:solidFill>
                <a:latin typeface="Arial"/>
              </a:rPr>
              <a:t>what the data gate checks; how value is measured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0153" y="3190000"/>
            <a:ext cx="6307329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Regulatory &amp; risk notes: </a:t>
            </a:r>
            <a:r>
              <a:rPr sz="950" b="0">
                <a:solidFill>
                  <a:srgbClr val="222222"/>
                </a:solidFill>
                <a:latin typeface="Arial"/>
              </a:rPr>
              <a:t>CBB, NHRA, TRA, NBR, PDPL, EU AI Act, model-risk, sector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0153" y="3480000"/>
            <a:ext cx="6307329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22222"/>
                </a:solidFill>
                <a:latin typeface="Arial"/>
              </a:rPr>
              <a:t>Minimum risk tier: </a:t>
            </a:r>
            <a:r>
              <a:rPr sz="950" b="0">
                <a:solidFill>
                  <a:srgbClr val="222222"/>
                </a:solidFill>
                <a:latin typeface="Arial"/>
              </a:rPr>
              <a:t>EU AI Act Annex III high-risk uses (credit, life &amp; health insurance, employment, education, public assistance, emergency triage) floored at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0153" y="3940000"/>
            <a:ext cx="6307329" cy="3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Example entry  BNK-05  |  Banking &amp; payments  |  Retail credit decisioning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0153" y="4260000"/>
            <a:ext cx="6307329" cy="1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22222"/>
                </a:solidFill>
                <a:latin typeface="Arial"/>
              </a:rPr>
              <a:t>Recommendation: </a:t>
            </a:r>
            <a:r>
              <a:rPr sz="850" b="0">
                <a:solidFill>
                  <a:srgbClr val="222222"/>
                </a:solidFill>
                <a:latin typeface="Arial"/>
              </a:rPr>
              <a:t>Explainable scorecard / ML credit model with policy rules, reason codes and human review of declines; bias and stability testing.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222222"/>
                </a:solidFill>
                <a:latin typeface="Arial"/>
              </a:rPr>
              <a:t>Data: </a:t>
            </a:r>
            <a:r>
              <a:rPr sz="850" b="0">
                <a:solidFill>
                  <a:srgbClr val="222222"/>
                </a:solidFill>
                <a:latin typeface="Arial"/>
              </a:rPr>
              <a:t>Application data, bureau data, repayment history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222222"/>
                </a:solidFill>
                <a:latin typeface="Arial"/>
              </a:rPr>
              <a:t>KPIs: </a:t>
            </a:r>
            <a:r>
              <a:rPr sz="850" b="0">
                <a:solidFill>
                  <a:srgbClr val="222222"/>
                </a:solidFill>
                <a:latin typeface="Arial"/>
              </a:rPr>
              <a:t>Decision time; default rate; approval rate by segment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222222"/>
                </a:solidFill>
                <a:latin typeface="Arial"/>
              </a:rPr>
              <a:t>Notes: </a:t>
            </a:r>
            <a:r>
              <a:rPr sz="850" b="0">
                <a:solidFill>
                  <a:srgbClr val="222222"/>
                </a:solidFill>
                <a:latin typeface="Arial"/>
              </a:rPr>
              <a:t>HIGH-RISK: EU AI Act Annex III 5(b) creditworthiness of natural persons; CBB credit-risk rules; fair-lending; model validation.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222222"/>
                </a:solidFill>
                <a:latin typeface="Arial"/>
              </a:rPr>
              <a:t>Minimum risk tier: </a:t>
            </a:r>
            <a:r>
              <a:rPr sz="850" b="0">
                <a:solidFill>
                  <a:srgbClr val="222222"/>
                </a:solidFill>
                <a:latin typeface="Arial"/>
              </a:rPr>
              <a:t>High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Step 3: Diagnose - From Task to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The nature of the work - not the hype - determines the solution. Each process gets one of five verdicts and the library's recommendation.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380000"/>
          <a:ext cx="6983110" cy="3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63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Nature of the task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Solution family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AI?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Min. data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Move or re-key data between systems following fixed rules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Workflow automation / RPA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Check or approve items against fixed criteria (rules, thresholds, checklists)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Rules engine / workflow automation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Produce reports, dashboards or reconciliations from existing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BI, dashboards &amp; reconciliation automation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Digital history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Extract information from documents, forms or emails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Intelligent document processing (IDP)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Light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Draft, summarise, translate or review 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Generative AI assistant (off-the-shelf)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Answer questions from internal knowledge, policies or past work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GenAI knowledge assistant (RAG on own content)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Converse with customers, citizens or staff (chat, voice, WhatsApp)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Conversational AI / virtual agent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Recognise or inspect images, video or speech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Computer vision / speech AI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Forecast, score, classify or detect anomalies from historical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Predictive analytics / machine learning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Digital history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Coordinate multi-step work across systems that needs judgement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Agentic AI (supervised agents)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22222"/>
                          </a:solidFill>
                          <a:latin typeface="Arial"/>
                        </a:rPr>
                        <a:t>Digital history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57509" y="1380000"/>
            <a:ext cx="4129973" cy="36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Verdict logic (in order)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7509" y="1810000"/>
            <a:ext cx="1982387" cy="5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4F2D7F"/>
                </a:solidFill>
                <a:latin typeface="Arial"/>
              </a:rPr>
              <a:t>Process varies by person?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22495" y="1810000"/>
            <a:ext cx="2064986" cy="560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222222"/>
                </a:solidFill>
                <a:latin typeface="Arial"/>
              </a:rPr>
              <a:t>Redesign / standardise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57509" y="2450000"/>
            <a:ext cx="1982387" cy="5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4F2D7F"/>
                </a:solidFill>
                <a:latin typeface="Arial"/>
              </a:rPr>
              <a:t>Family needs no AI?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2495" y="2450000"/>
            <a:ext cx="2064986" cy="560000"/>
          </a:xfrm>
          <a:prstGeom prst="rect">
            <a:avLst/>
          </a:prstGeom>
          <a:solidFill>
            <a:srgbClr val="9BC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222222"/>
                </a:solidFill>
                <a:latin typeface="Arial"/>
              </a:rPr>
              <a:t>Automate - AI not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57509" y="3090000"/>
            <a:ext cx="1982387" cy="5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4F2D7F"/>
                </a:solidFill>
                <a:latin typeface="Arial"/>
              </a:rPr>
              <a:t>Data below the family's minimum?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2495" y="3090000"/>
            <a:ext cx="2064986" cy="56000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222222"/>
                </a:solidFill>
                <a:latin typeface="Arial"/>
              </a:rPr>
              <a:t>AI later - close data gap 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57509" y="3730000"/>
            <a:ext cx="1982387" cy="5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4F2D7F"/>
                </a:solidFill>
                <a:latin typeface="Arial"/>
              </a:rPr>
              <a:t>Level above the organisation's ceiling?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2495" y="3730000"/>
            <a:ext cx="2064986" cy="56000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222222"/>
                </a:solidFill>
                <a:latin typeface="Arial"/>
              </a:rPr>
              <a:t>Stretch - partner or later stage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57509" y="4370000"/>
            <a:ext cx="1982387" cy="56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4F2D7F"/>
                </a:solidFill>
                <a:latin typeface="Arial"/>
              </a:rPr>
              <a:t>Otherwise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22495" y="4370000"/>
            <a:ext cx="2064986" cy="560000"/>
          </a:xfrm>
          <a:prstGeom prst="rect">
            <a:avLst/>
          </a:prstGeom>
          <a:solidFill>
            <a:srgbClr val="A9D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950" b="1">
                <a:solidFill>
                  <a:srgbClr val="222222"/>
                </a:solidFill>
                <a:latin typeface="Arial"/>
              </a:rPr>
              <a:t>AI fit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7509" y="5080000"/>
            <a:ext cx="4129973" cy="9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Inputs per process: volume, effort (hours / month), standardisation, data availability, strategic importance, customer / quality impact, effect on individuals' rights, personal data, intended autonomy. Basis: ISO/IEC 22989, 23053, OECD AI classification, ISO/IEC 5259, ISO/IEC 42001 Annex A.7.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Step 4: Prioritise - Value, Feasibility and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Transparent scoring that leadership can challenge - and that separates quick wins from strategic bets.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3654362" cy="4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VALUE (1-5)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850000"/>
            <a:ext cx="3654362" cy="18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396" y="1950000"/>
            <a:ext cx="3494362" cy="17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30%  Volume of the process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25%  Effort today (staff hours / month)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25%  Strategic importance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20%  Customer / quality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758" y="1430000"/>
            <a:ext cx="3654362" cy="42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FEASIBILITY (1-5)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758" y="1850000"/>
            <a:ext cx="3654362" cy="18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758" y="1950000"/>
            <a:ext cx="3494362" cy="17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30%  Data fit (vs. family minimum)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25%  Process standardisation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25%  Solution simplicity (level 1-5)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20%  Organisational fit (vs. ceiling)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3120" y="1430000"/>
            <a:ext cx="3654362" cy="42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INHERENT RISK 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3120" y="1850000"/>
            <a:ext cx="3654362" cy="18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3120" y="1950000"/>
            <a:ext cx="3494362" cy="17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+2  Affects individuals' rights or access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+1  Personal or confidential data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+0-2  Autonomy (assist / approve / automated)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+1-2  Impact of errors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Never below the library minimum 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396" y="3880000"/>
            <a:ext cx="1800000" cy="7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Strategic bets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High value, harder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4396" y="3880000"/>
            <a:ext cx="1800000" cy="700000"/>
          </a:xfrm>
          <a:prstGeom prst="rect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Quick wins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High value, feasible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4396" y="4630000"/>
            <a:ext cx="1800000" cy="70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Deprioritise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Low value, harder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4396" y="4630000"/>
            <a:ext cx="1800000" cy="7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Fill-ins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Low value, feasible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4396" y="3880000"/>
            <a:ext cx="7413086" cy="1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Priority </a:t>
            </a:r>
            <a:r>
              <a:rPr sz="1100" b="0">
                <a:solidFill>
                  <a:srgbClr val="222222"/>
                </a:solidFill>
                <a:latin typeface="Arial"/>
              </a:rPr>
              <a:t>= value x feasibility, reduced for High risk (-15%) and where redesign is needed first (-20%).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Horizons: </a:t>
            </a:r>
            <a:r>
              <a:rPr sz="1100" b="0">
                <a:solidFill>
                  <a:srgbClr val="222222"/>
                </a:solidFill>
                <a:latin typeface="Arial"/>
              </a:rPr>
              <a:t>H1 (0-6 months) quick wins and automation;  H2 (6-12 months) strategic bets, stretch items, redesigned processes and every High-risk or agentic use case (after impact assessment and controls);  H3 (12-24 months) items waiting on data foundations.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Minimum controls by tier </a:t>
            </a:r>
            <a:r>
              <a:rPr sz="1100" b="0">
                <a:solidFill>
                  <a:srgbClr val="222222"/>
                </a:solidFill>
                <a:latin typeface="Arial"/>
              </a:rPr>
              <a:t>(GT AI Risk Assessment Framework, ISO/IEC 42005, PDPL) on every canvas.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396" y="5930000"/>
            <a:ext cx="11263086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Basis: NIST AI RMF MAP 3.1-3.2, ISO/IEC 42001 cl. 6.2, NSW AI Assessment Framework, EU AI Act Annex III, ISACA Securing AI Agents (2026).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Illustrative Output - Bahrain Retail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Worked example included with the toolkit (illustrative inputs): 25 processes selected from the banking and cross-industry library entries.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330000"/>
            <a:ext cx="2725771" cy="115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4396" y="1390000"/>
            <a:ext cx="2605771" cy="52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Build &amp; scale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396" y="1930000"/>
            <a:ext cx="2605771" cy="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AI position (archetype D)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Data 61%  |  Scale &amp; capacity 78%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0167" y="1330000"/>
            <a:ext cx="2725771" cy="1150000"/>
          </a:xfrm>
          <a:prstGeom prst="rect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30167" y="1390000"/>
            <a:ext cx="2605771" cy="52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0167" y="1930000"/>
            <a:ext cx="2605771" cy="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of processes: AI fit now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(IDP, ML alert triage, virtual agents)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5938" y="1330000"/>
            <a:ext cx="2725771" cy="1150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5938" y="1390000"/>
            <a:ext cx="2605771" cy="52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5938" y="1930000"/>
            <a:ext cx="2605771" cy="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automation is enough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(payment repairs, CBB returns)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9" y="1330000"/>
            <a:ext cx="2725771" cy="115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1709" y="1390000"/>
            <a:ext cx="2605771" cy="52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1709" y="1930000"/>
            <a:ext cx="2605771" cy="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need data or process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foundations first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24396" y="2600000"/>
          <a:ext cx="7433633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0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Process / use case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Solution family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Payment exceptions &amp; repairs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Rules engine / workflow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Automate - AI not needed</a:t>
                      </a:r>
                    </a:p>
                  </a:txBody>
                  <a:tcPr marL="54864" marR="54864" marT="27432" marB="27432" anchor="ctr"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Sanctions &amp; PEP screening alert review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Predictive ML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AI fit now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Retail customer onboarding (eKYC)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Intelligent document processing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AI fit now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Banking virtual assistant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Conversational AI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AI fit now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Retail credit decisioning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Predictive ML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AI fit now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Trade-finance document checking (LCs)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Intelligent document processing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AI fit now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IT service desk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Conversational 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AI fit now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Card &amp; payment fraud detection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Predictive ML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AI fit now</a:t>
                      </a:r>
                    </a:p>
                  </a:txBody>
                  <a:tcPr marL="54864" marR="54864" marT="27432" marB="27432" anchor="ctr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183294" y="2600000"/>
            <a:ext cx="3604188" cy="32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222222"/>
                </a:solidFill>
                <a:latin typeface="Arial"/>
              </a:rPr>
              <a:t>What the client learns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Highest-ranked item needs no AI at all - rules-based payment repair.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Credit decisioning and eKYC fit, but are High-risk (EU AI Act Annex III / biometrics): scheduled for H2 after impact assessment and controls.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Collections, card disputes and IFRS 9 staging fail the data gate: capture outcomes first.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Complaints handling varies by team: standardise before automating.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What the Client Receives from Phase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Illustrative pages from the retail-bank worked example.</a:t>
            </a:r>
          </a:p>
        </p:txBody>
      </p:sp>
      <p:pic>
        <p:nvPicPr>
          <p:cNvPr id="10" name="Picture 9" descr="tk_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96" y="1380000"/>
            <a:ext cx="3180473" cy="4500000"/>
          </a:xfrm>
          <a:prstGeom prst="rect">
            <a:avLst/>
          </a:prstGeom>
          <a:ln w="9525">
            <a:solidFill>
              <a:srgbClr val="D9CCEB"/>
            </a:solidFill>
          </a:ln>
        </p:spPr>
      </p:pic>
      <p:pic>
        <p:nvPicPr>
          <p:cNvPr id="11" name="Picture 10" descr="tk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396" y="1380000"/>
            <a:ext cx="3180473" cy="4500000"/>
          </a:xfrm>
          <a:prstGeom prst="rect">
            <a:avLst/>
          </a:prstGeom>
          <a:ln w="9525">
            <a:solidFill>
              <a:srgbClr val="D9CCEB"/>
            </a:solidFill>
          </a:ln>
        </p:spPr>
      </p:pic>
      <p:pic>
        <p:nvPicPr>
          <p:cNvPr id="12" name="Picture 11" descr="tk_canv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396" y="1380000"/>
            <a:ext cx="3180473" cy="4500000"/>
          </a:xfrm>
          <a:prstGeom prst="rect">
            <a:avLst/>
          </a:prstGeom>
          <a:ln w="9525">
            <a:solidFill>
              <a:srgbClr val="D9CC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24396" y="5930000"/>
            <a:ext cx="32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4F2D7F"/>
                </a:solidFill>
                <a:latin typeface="Arial"/>
              </a:rPr>
              <a:t>Organisational AI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4396" y="5930000"/>
            <a:ext cx="32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4F2D7F"/>
                </a:solidFill>
                <a:latin typeface="Arial"/>
              </a:rPr>
              <a:t>AI opportunity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4396" y="5930000"/>
            <a:ext cx="32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4F2D7F"/>
                </a:solidFill>
                <a:latin typeface="Arial"/>
              </a:rPr>
              <a:t>Use-case canvas (one per priority)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396" y="1380000"/>
            <a:ext cx="1363086" cy="4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222222"/>
                </a:solidFill>
                <a:latin typeface="Arial"/>
              </a:rPr>
              <a:t>Also delivered: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Top-10 opportunities with GT recommendations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Full AI fit diagnostic (up to 50 processes)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Roadmap lanes with enabling foundations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Sector lens and regulators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Standards appendix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Phase 4: AI Strategy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The opportunity evidence becomes a strategy leadership can approve, fund and govern.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2725771" cy="45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Vision &amp; ambition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8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Where AI will - and will not - be used; ambition consistent with the AI position archetype.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0167" y="1430000"/>
            <a:ext cx="2725771" cy="45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Objectives &amp; KPIs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0167" y="18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3-5 measurable objectives (ISO/IEC 42001 cl. 6.2) using the library KPIs: hours released, cycle time, quality, customer outcomes.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5938" y="1430000"/>
            <a:ext cx="2725771" cy="45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Priority portfolio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5938" y="18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The ranked opportunities grouped into themes; automation programme and AI programme distinguished.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709" y="1430000"/>
            <a:ext cx="2725771" cy="45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Build / buy / partner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9" y="18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Decided per family against the solution ceiling; vendor-selection criteria (security, data residency, no training on client data).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396" y="3530000"/>
            <a:ext cx="2725771" cy="45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Risk appetite &amp; guardrails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396" y="39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AI risk appetite statement, acceptable-use policy, approval by risk tier, human oversight.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0167" y="3530000"/>
            <a:ext cx="2725771" cy="45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Operating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0167" y="39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Executive sponsor, AI owner / CoE, decision rights, intake and stage-gates; links to existing risk and IT governance.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5938" y="3530000"/>
            <a:ext cx="2725771" cy="45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People &amp;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5938" y="39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AI literacy for all users, role-based skills, change and communications plan.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1709" y="3530000"/>
            <a:ext cx="2725771" cy="45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Data &amp; platforms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61709" y="3980000"/>
            <a:ext cx="2725771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t"/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Data foundations required by H2 / H3 opportunities; platform choices (automation, GenAI, data).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Phase 5: Roadmap and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 sequenced plan the organisation can execute - with the foundations each opportunity depends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2600000" cy="6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H1  Now  (0-6 months)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396" y="1430000"/>
            <a:ext cx="8663086" cy="6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Quick wins and fill-ins: automation programme, off-the-shelf GenAI under policy, first configured AI pilots.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190000"/>
            <a:ext cx="2600000" cy="68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H2  Next  (6-12 months)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4396" y="2190000"/>
            <a:ext cx="8663086" cy="6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Strategic bets, stretch items with partners, redesigned processes, High-risk and agentic use cases once controls are in place.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2950000"/>
            <a:ext cx="2600000" cy="68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H3  Later  (12-24 months)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4396" y="2950000"/>
            <a:ext cx="8663086" cy="6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AI use cases unlocked by data foundations; scaling of proven pilots.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3780000"/>
            <a:ext cx="11263086" cy="38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ENABLERS ACROSS ALL HORIZONS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396" y="4240000"/>
            <a:ext cx="2172617" cy="12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Governance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AI policy, AI register, tier-based risk assessment and controls (GT AI Risk Assessment Framework)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7013" y="4240000"/>
            <a:ext cx="2172617" cy="12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Data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owners, quality, integration, capture of outcomes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9630" y="4240000"/>
            <a:ext cx="2172617" cy="12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Platforms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one automation platform; enterprise GenAI; data platform as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42247" y="4240000"/>
            <a:ext cx="2172617" cy="12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People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AI literacy, champions, change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4864" y="4240000"/>
            <a:ext cx="2172617" cy="12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Value tracking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KPI dashboard, benefits realisation, quarterly portfolio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396" y="5580000"/>
            <a:ext cx="11263086" cy="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Arial"/>
              </a:rPr>
              <a:t>Report delivered on Day 5: </a:t>
            </a:r>
            <a:r>
              <a:rPr sz="1150" b="0">
                <a:solidFill>
                  <a:srgbClr val="222222"/>
                </a:solidFill>
                <a:latin typeface="Arial"/>
              </a:rPr>
              <a:t>AI strategy and roadmap report, opportunity report, top-10 use-case canvases and a leadership presentation.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Standards and Frameworks Behind the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Every step is traceable to recognised international guidance - giving boards and regulators confidence in the result.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4396" y="1180000"/>
          <a:ext cx="11263084" cy="44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5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1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Standard or framework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How it is used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1 Position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OECD Framework for the Classification of AI Systems (2022)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Economic Context and Data &amp; Input dimensions shape the position screen: scale, sector, data provenance, structure and availability.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1 Position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ISO/IEC 42001:2023 cl. 4.1 - 4.2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Understanding the organisation, its context and interested parties before deciding where AI is used.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1 Position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NIST AI RMF 1.0 - MAP 1.3, 1.4, 1.6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Organisational mission, business value and system requirements established before AI is selected.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2 Discover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APQC Process Classification Framework (cross-industry)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Function taxonomy of the 240-entry GT AI Use-Case Library (11 functions mapped to APQC level-1 categories).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2 Discover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Sector regulation (CBB Rulebook, NHRA, TRA, iGA AI Policy, PDPL)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Sector entries of the library carry the relevant Bahrain regulator and rule references and a minimum risk tier.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2 Discover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NIST AI RMF 1.0 - MAP 1.1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Intended purpose, context of use and users documented for each candidate process.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ISO/IEC 22989:2022 and ISO/IEC 23053:2022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AI concepts, tasks and ML system components - basis for the task-nature to solution-family mapping.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OECD AI classification - AI Model and Task &amp; Output dimensions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Distinguishes recognition, detection, forecasting, personalisation, goal-driven optimisation and generation tasks.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ISO/IEC 5259 series (2024-2025) and ISO/IEC 8183:2023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Data quality and data life cycle for analytics and ML - basis for the per-process data gate.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ISO/IEC 42001:2023 Annex A.7 (Data for AI systems)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Data acquisition, quality, provenance and preparation expected before AI is deployed.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NSW AI Assessment Framework (AIAF)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Inherent-risk questions (impact on people, autonomy, data sensitivity) behind the risk tier.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EU AI Act (Reg. 2024/1689) Art. 5, 6, 50 and Annex III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Library minimum risk tiers: high-risk uses (credit scoring, life &amp; health insurance pricing, employment, education, public assistance, emergency triage) are floored at High; prohibited practices and transparency duties noted.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Bahrain PDPL (Law No. 30 of 2018)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Personal and sensitive data flag; lawful basis and DPIA expectations for higher-risk processing.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3 Diagnose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ISACA - Cybersecurity Recommendations for Securing AI Agents (2026); OWASP Top 10 for LLM Applications (2025)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Autonomy rating and agentic guardrails: least agency, human approval for high-impact actions, excessive-agency risk.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4 Prioritise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NIST AI RMF 1.0 - MAP 3.1, 3.2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Expected benefits and costs (incl. of errors) weighed per use case.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4 Prioritise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ISO/IEC 42001:2023 cl. 6.2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AI objectives that are measurable - feed the KPIs on each canvas.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5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ISO/IEC 42005:2025 and ISO/IEC 23894:2023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AI system impact assessment and risk management for Medium / High-tier use cases before go-live.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5 Plan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ISO/IEC 5338:2023 and ISO/IEC 42001 Annex A.6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AI system life cycle from design to retirement for each roadmap item.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5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GT AI Risk Assessment Framework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Tier-based minimum controls on each use-case canvas; control testing once in production.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20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22222"/>
                          </a:solidFill>
                          <a:latin typeface="Arial"/>
                        </a:rPr>
                        <a:t>Complementary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GT AI Ready7 / GT AI Readiness &amp; Risk Assessment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Measures governance and capability maturity. Not repeated here - this toolkit asks WHERE AI fits, not HOW READY the organisation is.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C7AD44-C87D-49F0-8292-A94679109843}"/>
              </a:ext>
            </a:extLst>
          </p:cNvPr>
          <p:cNvSpPr/>
          <p:nvPr/>
        </p:nvSpPr>
        <p:spPr>
          <a:xfrm>
            <a:off x="0" y="-1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18288000" h="12390120">
                <a:moveTo>
                  <a:pt x="0" y="0"/>
                </a:moveTo>
                <a:lnTo>
                  <a:pt x="18288000" y="0"/>
                </a:lnTo>
                <a:lnTo>
                  <a:pt x="18288000" y="12390120"/>
                </a:lnTo>
                <a:lnTo>
                  <a:pt x="0" y="12390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508D9-0E0F-F987-DECA-55A7FA5DE6B8}"/>
              </a:ext>
            </a:extLst>
          </p:cNvPr>
          <p:cNvSpPr/>
          <p:nvPr/>
        </p:nvSpPr>
        <p:spPr>
          <a:xfrm>
            <a:off x="0" y="-2"/>
            <a:ext cx="12191998" cy="7139483"/>
          </a:xfrm>
          <a:prstGeom prst="rect">
            <a:avLst/>
          </a:prstGeom>
          <a:solidFill>
            <a:srgbClr val="4F2D7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2897C-39BA-0A66-797A-BEB0C83AAE45}"/>
              </a:ext>
            </a:extLst>
          </p:cNvPr>
          <p:cNvSpPr/>
          <p:nvPr/>
        </p:nvSpPr>
        <p:spPr>
          <a:xfrm>
            <a:off x="0" y="-2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0" t="-226076" r="-109432" b="-2221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44EC82-137F-8FD9-DA67-38F5137810B6}"/>
              </a:ext>
            </a:extLst>
          </p:cNvPr>
          <p:cNvSpPr/>
          <p:nvPr/>
        </p:nvSpPr>
        <p:spPr>
          <a:xfrm>
            <a:off x="-2" y="0"/>
            <a:ext cx="12192002" cy="713948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1" t="-226073" r="-109430" b="-2221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221826-FB15-5DA1-6707-F4C163C6CFDB}"/>
              </a:ext>
            </a:extLst>
          </p:cNvPr>
          <p:cNvSpPr/>
          <p:nvPr/>
        </p:nvSpPr>
        <p:spPr>
          <a:xfrm>
            <a:off x="-1" y="-93230"/>
            <a:ext cx="12192002" cy="732594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4" t="-219047" r="-109427" b="-2152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11A8A3-B4EE-EB7E-9F2C-93D45BFD6D32}"/>
              </a:ext>
            </a:extLst>
          </p:cNvPr>
          <p:cNvSpPr/>
          <p:nvPr/>
        </p:nvSpPr>
        <p:spPr>
          <a:xfrm>
            <a:off x="-1" y="-2"/>
            <a:ext cx="12192001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2" t="-223154" r="-109429" b="-2179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233354-9791-7BF2-2983-D614F879A572}"/>
              </a:ext>
            </a:extLst>
          </p:cNvPr>
          <p:cNvSpPr/>
          <p:nvPr/>
        </p:nvSpPr>
        <p:spPr>
          <a:xfrm>
            <a:off x="-1" y="-2"/>
            <a:ext cx="12192000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263" t="-223159" r="-109428" b="-2179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39F0D-B44A-F824-E008-8560A6309DBA}"/>
              </a:ext>
            </a:extLst>
          </p:cNvPr>
          <p:cNvSpPr txBox="1"/>
          <p:nvPr/>
        </p:nvSpPr>
        <p:spPr>
          <a:xfrm>
            <a:off x="1004473" y="3157343"/>
            <a:ext cx="583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Engagement Plan &amp;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EA642-D069-958E-A24D-5CB99B0F44AA}"/>
              </a:ext>
            </a:extLst>
          </p:cNvPr>
          <p:cNvCxnSpPr>
            <a:cxnSpLocks/>
          </p:cNvCxnSpPr>
          <p:nvPr/>
        </p:nvCxnSpPr>
        <p:spPr>
          <a:xfrm>
            <a:off x="8286904" y="6464483"/>
            <a:ext cx="3523342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B6A2FC1-11AA-1477-5B10-756FBF7DC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337" y="6552802"/>
            <a:ext cx="1121909" cy="216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E14C6E-C1B2-BAC8-41CB-FE011227B300}"/>
              </a:ext>
            </a:extLst>
          </p:cNvPr>
          <p:cNvSpPr txBox="1"/>
          <p:nvPr/>
        </p:nvSpPr>
        <p:spPr>
          <a:xfrm>
            <a:off x="8277097" y="6554237"/>
            <a:ext cx="21226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© 2026 Grant Thornton Bahrain.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Engagement Plan - Report Within 5 Working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 focused, workshop-based engagement. Client pre-work before Day 1 keeps the timeline to five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1810514" cy="42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850000"/>
            <a:ext cx="1810514" cy="38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Pre-work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230000"/>
            <a:ext cx="1810514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4396" y="2310000"/>
            <a:ext cx="1750514" cy="2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Kick-off call (30 min)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Client shares sector, top processes, pain points and key documents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Workshop invitations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4910" y="1430000"/>
            <a:ext cx="1810514" cy="4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910" y="1850000"/>
            <a:ext cx="1810514" cy="38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Position &amp;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4910" y="2230000"/>
            <a:ext cx="1810514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4910" y="2310000"/>
            <a:ext cx="1750514" cy="2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Leadership kick-off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position screen (30-45 min)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Situational scan &amp; interviews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First function workshops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5424" y="1430000"/>
            <a:ext cx="1810514" cy="42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5424" y="1850000"/>
            <a:ext cx="1810514" cy="38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Discovery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5424" y="2230000"/>
            <a:ext cx="1810514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35424" y="2310000"/>
            <a:ext cx="1750514" cy="2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Function workshops with the use-case library (2-3 h each)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Process inventory completed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5938" y="1430000"/>
            <a:ext cx="1810514" cy="42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5938" y="1850000"/>
            <a:ext cx="1810514" cy="38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Diagnose &amp; prioritise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938" y="2230000"/>
            <a:ext cx="1810514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25938" y="2310000"/>
            <a:ext cx="1750514" cy="2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fit diagnostic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Value / feasibility / risk scoring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Validation call with sponsor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6452" y="1430000"/>
            <a:ext cx="1810514" cy="42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6452" y="1850000"/>
            <a:ext cx="1810514" cy="38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Strategy &amp; roadmap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6452" y="2230000"/>
            <a:ext cx="1810514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6452" y="2310000"/>
            <a:ext cx="1750514" cy="2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Strategy formulation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Roadmap lanes &amp; enablers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Use-case canvases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GT quality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76966" y="1430000"/>
            <a:ext cx="1810514" cy="42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76966" y="1850000"/>
            <a:ext cx="1810514" cy="38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4F2D7F"/>
                </a:solidFill>
                <a:latin typeface="Arial"/>
              </a:rPr>
              <a:t>Report &amp; presentation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76966" y="2230000"/>
            <a:ext cx="1810514" cy="2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06966" y="2310000"/>
            <a:ext cx="1750514" cy="26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Strategy &amp; roadmap report issued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Leadership presentation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Agree next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396" y="5080000"/>
            <a:ext cx="11263086" cy="8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Arial"/>
              </a:rPr>
              <a:t>Client time: </a:t>
            </a:r>
            <a:r>
              <a:rPr sz="1100" b="0">
                <a:solidFill>
                  <a:srgbClr val="222222"/>
                </a:solidFill>
                <a:latin typeface="Arial"/>
              </a:rPr>
              <a:t>sponsor 30 min / day; one 2-3 hour workshop per function in scope; position screen with leadership, IT and finance; Day-5 presentation.  </a:t>
            </a:r>
            <a:r>
              <a:rPr sz="1100" b="1">
                <a:solidFill>
                  <a:srgbClr val="222222"/>
                </a:solidFill>
                <a:latin typeface="Arial"/>
              </a:rPr>
              <a:t>Scope: </a:t>
            </a:r>
            <a:r>
              <a:rPr sz="1100" b="0">
                <a:solidFill>
                  <a:srgbClr val="222222"/>
                </a:solidFill>
                <a:latin typeface="Arial"/>
              </a:rPr>
              <a:t>standard scope covers up to 6 functions and 50 processes; larger groups run additional workshop days in parallel.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Deliverables and Engagement Options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4396" y="1230000"/>
          <a:ext cx="6194696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AI strategy &amp; roadmap report (situational analysis, strategy, roadmap)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Report (PDF) + leadership deck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Organisational AI position and opportunity report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Toolkit output (PDF)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AI fit diagnostic of in-scope processes with GT recommendations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Excel (GT AI Opportunity Discovery Toolkit)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Use-case canvases for the top 10 opportunities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One-page canvases (PDF)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Arial"/>
                        </a:rPr>
                        <a:t>Roadmap lanes, enablers and KPIs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Arial"/>
                        </a:rPr>
                        <a:t>Report section + Excel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19093" y="1230000"/>
            <a:ext cx="4868389" cy="42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 &amp; AI SCAN   </a:t>
            </a:r>
            <a:r>
              <a:rPr sz="1100" b="0">
                <a:solidFill>
                  <a:srgbClr val="FFFFFF"/>
                </a:solidFill>
                <a:latin typeface="Arial"/>
              </a:rPr>
              <a:t>report in 3 working days - SMEs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19093" y="1650000"/>
            <a:ext cx="4868389" cy="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Position screen, one discovery workshop, diagnostic of up to 15 processes, opportunity report and roadmap lanes. Answers: is automation enough?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19093" y="2680000"/>
            <a:ext cx="4868389" cy="4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AI STRATEGY &amp; ROADMAP   </a:t>
            </a:r>
            <a:r>
              <a:rPr sz="1100" b="0">
                <a:solidFill>
                  <a:srgbClr val="FFFFFF"/>
                </a:solidFill>
                <a:latin typeface="Arial"/>
              </a:rPr>
              <a:t>report in 5 working days - 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9093" y="3100000"/>
            <a:ext cx="4868389" cy="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All five phases, up to 6 functions / 50 processes, strategy, roadmap and top-10 canvases.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19093" y="4130000"/>
            <a:ext cx="4868389" cy="42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STRATEGY + READINESS   </a:t>
            </a:r>
            <a:r>
              <a:rPr sz="1100" b="0">
                <a:solidFill>
                  <a:srgbClr val="FFFFFF"/>
                </a:solidFill>
                <a:latin typeface="Arial"/>
              </a:rPr>
              <a:t>both reports in 5 working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9093" y="4550000"/>
            <a:ext cx="4868389" cy="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Standard scope plus the GT AI Readiness &amp; Risk Assessment (questionnaire completed as pre-work) - where AI fits AND how ready the organisation 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396" y="4530000"/>
            <a:ext cx="6194697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Fees are proposed per option once scope (entities, functions, locations) is confirmed. Implementation support is scoped separately.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Why Grant Thornton Bahrain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Strategy, governance, risk, cyber and assurance under one roof - with proprietary tools and the GT global network.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5556543" cy="5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Practise what we advise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GT Bahrain assessed its own AI readiness with AI Ready7 (Sept 2026) and uses the results to set its own priorities.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070000"/>
            <a:ext cx="5556543" cy="5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Trusted and regulation-ready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Audit, GRC and cyber heritage; Bahrain PDPL, CBB, iGA AI Policy and EU AI Act mapped into the GT AI Risk Assessment Framework.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710000"/>
            <a:ext cx="5556543" cy="5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Honest about automation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We recommend AI only where it beats automation - protecting budgets and reducing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396" y="3350000"/>
            <a:ext cx="5556543" cy="5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Sector depth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A 240-entry use-case library with the deepest coverage in banking, insurance, healthcare and telecom.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3990000"/>
            <a:ext cx="5556543" cy="58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End-to-end AI service lines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AI Strategy &amp; Roadmap | AI Governance, Risk &amp; Compliance | AI-Driven Automation &amp; Apps | Training &amp; Awareness.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0939" y="1430000"/>
            <a:ext cx="5556543" cy="3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GT AI tools and apps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30939" y="1810000"/>
          <a:ext cx="5556542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Tool / app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GT AI Opportunity Discovery Toolkit (240-entry library)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GT AI Readiness &amp; Risk Assessment (20 questions, 5 domains)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GT AI Security &amp; Agent Audit Checklist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GT AI Risk Assessment Framework &amp; Toolkit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AI-powered BCP 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In preparation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AI-powered Financial Statements tool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In preparation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Client AI self-assessment portal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30939" y="4880000"/>
            <a:ext cx="5556543" cy="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The AI-powered BCP tool and AI-powered Financial Statements tool are in preparation and are not yet available to clients.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6A0A1A-B19E-0BFC-6EEF-260FF5AB704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9" name="Picture 3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A3A203B-D766-3AEA-9F50-6032B251B3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931" y="669123"/>
            <a:ext cx="1971437" cy="384947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329E1795-73BD-0E0E-ED10-5D29E643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Grant Thornton Bahrain. All rights reserved</a:t>
            </a:r>
            <a:endParaRPr kumimoji="0" lang="en-GB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A4DDDF-97D9-D0B9-B463-C091F6493B4C}"/>
              </a:ext>
            </a:extLst>
          </p:cNvPr>
          <p:cNvCxnSpPr>
            <a:cxnSpLocks/>
          </p:cNvCxnSpPr>
          <p:nvPr/>
        </p:nvCxnSpPr>
        <p:spPr>
          <a:xfrm>
            <a:off x="8187070" y="6465888"/>
            <a:ext cx="3611230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885719-5C02-DCBF-DF94-A69A46A2E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C2AB6E-E684-4F3A-C6AF-FD54CA90F340}"/>
              </a:ext>
            </a:extLst>
          </p:cNvPr>
          <p:cNvSpPr txBox="1"/>
          <p:nvPr/>
        </p:nvSpPr>
        <p:spPr>
          <a:xfrm>
            <a:off x="1993614" y="2775950"/>
            <a:ext cx="7999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82834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4 GT Brand Colours">
      <a:dk1>
        <a:sysClr val="windowText" lastClr="000000"/>
      </a:dk1>
      <a:lt1>
        <a:sysClr val="window" lastClr="FFFFFF"/>
      </a:lt1>
      <a:dk2>
        <a:srgbClr val="2B144D"/>
      </a:dk2>
      <a:lt2>
        <a:srgbClr val="F2F0EE"/>
      </a:lt2>
      <a:accent1>
        <a:srgbClr val="4F2D7F"/>
      </a:accent1>
      <a:accent2>
        <a:srgbClr val="00A4B3"/>
      </a:accent2>
      <a:accent3>
        <a:srgbClr val="A06DFF"/>
      </a:accent3>
      <a:accent4>
        <a:srgbClr val="FFC23D"/>
      </a:accent4>
      <a:accent5>
        <a:srgbClr val="FF5149"/>
      </a:accent5>
      <a:accent6>
        <a:srgbClr val="E0DCD7"/>
      </a:accent6>
      <a:hlink>
        <a:srgbClr val="CE2C2C"/>
      </a:hlink>
      <a:folHlink>
        <a:srgbClr val="2B144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I Tech Agency Infographics by Slidesgo">
  <a:themeElements>
    <a:clrScheme name="2024 GT Brand Colours">
      <a:dk1>
        <a:sysClr val="windowText" lastClr="000000"/>
      </a:dk1>
      <a:lt1>
        <a:sysClr val="window" lastClr="FFFFFF"/>
      </a:lt1>
      <a:dk2>
        <a:srgbClr val="2B144D"/>
      </a:dk2>
      <a:lt2>
        <a:srgbClr val="F2F0EE"/>
      </a:lt2>
      <a:accent1>
        <a:srgbClr val="4F2D7F"/>
      </a:accent1>
      <a:accent2>
        <a:srgbClr val="00A4B3"/>
      </a:accent2>
      <a:accent3>
        <a:srgbClr val="A06DFF"/>
      </a:accent3>
      <a:accent4>
        <a:srgbClr val="FFC23D"/>
      </a:accent4>
      <a:accent5>
        <a:srgbClr val="FF5149"/>
      </a:accent5>
      <a:accent6>
        <a:srgbClr val="E0DCD7"/>
      </a:accent6>
      <a:hlink>
        <a:srgbClr val="CE2C2C"/>
      </a:hlink>
      <a:folHlink>
        <a:srgbClr val="2B14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BCE743941B38499BA0828BD6747A51" ma:contentTypeVersion="14" ma:contentTypeDescription="Create a new document." ma:contentTypeScope="" ma:versionID="5b5103ee929778762073fe6fa317c747">
  <xsd:schema xmlns:xsd="http://www.w3.org/2001/XMLSchema" xmlns:xs="http://www.w3.org/2001/XMLSchema" xmlns:p="http://schemas.microsoft.com/office/2006/metadata/properties" xmlns:ns2="5e0ef65a-1ea4-4b7d-b000-a53661fd6977" xmlns:ns3="85621b14-c816-4f8e-852d-41713515fa48" targetNamespace="http://schemas.microsoft.com/office/2006/metadata/properties" ma:root="true" ma:fieldsID="137ff7116f4ec37242bcc4c84de4ffe6" ns2:_="" ns3:_="">
    <xsd:import namespace="5e0ef65a-1ea4-4b7d-b000-a53661fd6977"/>
    <xsd:import namespace="85621b14-c816-4f8e-852d-41713515fa4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ef65a-1ea4-4b7d-b000-a53661fd69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c99e683d-467f-4dfa-9912-3e70df3bffd8}" ma:internalName="TaxCatchAll" ma:showField="CatchAllData" ma:web="5e0ef65a-1ea4-4b7d-b000-a53661fd69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621b14-c816-4f8e-852d-41713515fa4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1eeafb0-3949-4f31-85ca-d6b5cf5d88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621b14-c816-4f8e-852d-41713515fa48">
      <Terms xmlns="http://schemas.microsoft.com/office/infopath/2007/PartnerControls"/>
    </lcf76f155ced4ddcb4097134ff3c332f>
    <TaxCatchAll xmlns="5e0ef65a-1ea4-4b7d-b000-a53661fd6977" xsi:nil="true"/>
  </documentManagement>
</p:properties>
</file>

<file path=customXml/itemProps1.xml><?xml version="1.0" encoding="utf-8"?>
<ds:datastoreItem xmlns:ds="http://schemas.openxmlformats.org/officeDocument/2006/customXml" ds:itemID="{57F2BD41-BE98-4252-9DDA-C8535B0DAFC0}">
  <ds:schemaRefs>
    <ds:schemaRef ds:uri="5e0ef65a-1ea4-4b7d-b000-a53661fd6977"/>
    <ds:schemaRef ds:uri="85621b14-c816-4f8e-852d-41713515fa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D5F560F-52AE-4DA0-95BC-B02FDADBA8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EE9459-EFE9-4808-8BC6-7BD989BABDE1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85621b14-c816-4f8e-852d-41713515fa48"/>
    <ds:schemaRef ds:uri="http://schemas.microsoft.com/office/infopath/2007/PartnerControls"/>
    <ds:schemaRef ds:uri="5e0ef65a-1ea4-4b7d-b000-a53661fd6977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36392</TotalTime>
  <Words>5105</Words>
  <Application>Microsoft Office PowerPoint</Application>
  <PresentationFormat>Widescreen</PresentationFormat>
  <Paragraphs>690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Fira Sans Condensed</vt:lpstr>
      <vt:lpstr>Fira Sans Condensed Light</vt:lpstr>
      <vt:lpstr>GT Walsheim Pro Bold</vt:lpstr>
      <vt:lpstr>GT Walsheim Pro Regular</vt:lpstr>
      <vt:lpstr>Poppins</vt:lpstr>
      <vt:lpstr>Rajdhani</vt:lpstr>
      <vt:lpstr>Office Theme</vt:lpstr>
      <vt:lpstr>AI Tech Agency Infographics by Slidesgo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Kajal Rajusth</dc:creator>
  <cp:lastModifiedBy>Mahek Trivedi</cp:lastModifiedBy>
  <cp:revision>85</cp:revision>
  <dcterms:created xsi:type="dcterms:W3CDTF">2024-04-22T06:15:53Z</dcterms:created>
  <dcterms:modified xsi:type="dcterms:W3CDTF">2026-10-04T06:18:39Z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0x01010042BCE743941B38499BA0828BD6747A51</vt:lpwstr>
  </property>
  <property fmtid="{D5CDD505-2E9C-101B-9397-08002B2CF9AE}" pid="3" name="MediaServiceImageTags">
    <vt:lpwstr/>
  </property>
</Properties>
</file>