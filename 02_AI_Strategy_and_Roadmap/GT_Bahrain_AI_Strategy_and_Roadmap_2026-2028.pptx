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  <p:sldId id="2141411909" r:id="rId50"/>
    <p:sldId id="2141411910" r:id="rId51"/>
    <p:sldId id="2141411911" r:id="rId52"/>
    <p:sldId id="2141411912" r:id="rId53"/>
    <p:sldId id="2141411913" r:id="rId54"/>
    <p:sldId id="2141411914" r:id="rId55"/>
    <p:sldId id="2141411915" r:id="rId56"/>
    <p:sldId id="2141411916" r:id="rId57"/>
    <p:sldId id="2141411917" r:id="rId58"/>
    <p:sldId id="2141411918" r:id="rId59"/>
    <p:sldId id="2141411919" r:id="rId60"/>
    <p:sldId id="2141411920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%</c:v>
                </c:pt>
              </c:strCache>
            </c:strRef>
          </c:tx>
          <c:spPr>
            <a:solidFill>
              <a:srgbClr val="4F2D7F"/>
            </a:solidFill>
          </c:spPr>
          <c:dPt>
            <c:idx val="0"/>
            <c:spPr>
              <a:solidFill>
                <a:srgbClr val="4F2D7F"/>
              </a:solidFill>
            </c:spPr>
          </c:dPt>
          <c:dPt>
            <c:idx val="1"/>
            <c:spPr>
              <a:solidFill>
                <a:srgbClr val="E8705F"/>
              </a:solidFill>
            </c:spPr>
          </c:dPt>
          <c:dPt>
            <c:idx val="2"/>
            <c:spPr>
              <a:solidFill>
                <a:srgbClr val="4F2D7F"/>
              </a:solidFill>
            </c:spPr>
          </c:dPt>
          <c:dPt>
            <c:idx val="3"/>
            <c:spPr>
              <a:solidFill>
                <a:srgbClr val="E8705F"/>
              </a:solidFill>
            </c:spPr>
          </c:dPt>
          <c:dPt>
            <c:idx val="4"/>
            <c:spPr>
              <a:solidFill>
                <a:srgbClr val="4F2D7F"/>
              </a:solidFill>
            </c:spPr>
          </c:dPt>
          <c:dPt>
            <c:idx val="5"/>
            <c:spPr>
              <a:solidFill>
                <a:srgbClr val="4F2D7F"/>
              </a:solidFill>
            </c:spPr>
          </c:dPt>
          <c:dPt>
            <c:idx val="6"/>
            <c:spPr>
              <a:solidFill>
                <a:srgbClr val="E8705F"/>
              </a:solidFill>
            </c:spPr>
          </c:dPt>
          <c:cat>
            <c:strRef>
              <c:f>Sheet1!$A$2:$A$8</c:f>
              <c:strCache>
                <c:ptCount val="7"/>
                <c:pt idx="0">
                  <c:v>Protection from AI Threats</c:v>
                </c:pt>
                <c:pt idx="1">
                  <c:v>Protect AI Systems</c:v>
                </c:pt>
                <c:pt idx="2">
                  <c:v>Data &amp; Quality</c:v>
                </c:pt>
                <c:pt idx="3">
                  <c:v>Architecture &amp; Technology</c:v>
                </c:pt>
                <c:pt idx="4">
                  <c:v>Training &amp; Development</c:v>
                </c:pt>
                <c:pt idx="5">
                  <c:v>Governance &amp; Ethics</c:v>
                </c:pt>
                <c:pt idx="6">
                  <c:v>Business Alignment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70.0</c:v>
                </c:pt>
                <c:pt idx="1">
                  <c:v>55.0</c:v>
                </c:pt>
                <c:pt idx="2">
                  <c:v>70.0</c:v>
                </c:pt>
                <c:pt idx="3">
                  <c:v>55.0</c:v>
                </c:pt>
                <c:pt idx="4">
                  <c:v>68.75</c:v>
                </c:pt>
                <c:pt idx="5">
                  <c:v>60.0</c:v>
                </c:pt>
                <c:pt idx="6">
                  <c:v>50.0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cases</c:v>
                </c:pt>
              </c:strCache>
            </c:strRef>
          </c:tx>
          <c:invertIfNegative val="0"/>
          <c:dPt>
            <c:idx val="0"/>
            <c:spPr>
              <a:solidFill>
                <a:srgbClr val="F2B13C"/>
              </a:solidFill>
            </c:spPr>
          </c:dPt>
          <c:dPt>
            <c:idx val="1"/>
            <c:spPr>
              <a:solidFill>
                <a:srgbClr val="5BA85B"/>
              </a:solidFill>
            </c:spPr>
          </c:dPt>
          <c:dPt>
            <c:idx val="2"/>
            <c:spPr>
              <a:solidFill>
                <a:srgbClr val="F2B13C"/>
              </a:solidFill>
            </c:spPr>
          </c:dPt>
          <c:dPt>
            <c:idx val="3"/>
            <c:spPr>
              <a:solidFill>
                <a:srgbClr val="E8705F"/>
              </a:solidFill>
            </c:spPr>
          </c:dPt>
          <c:dPt>
            <c:idx val="4"/>
            <c:spPr>
              <a:solidFill>
                <a:srgbClr val="F2B13C"/>
              </a:solidFill>
            </c:spPr>
          </c:dPt>
          <c:dPt>
            <c:idx val="5"/>
            <c:spPr>
              <a:solidFill>
                <a:srgbClr val="F2B13C"/>
              </a:solidFill>
            </c:spPr>
          </c:dPt>
          <c:dPt>
            <c:idx val="6"/>
            <c:spPr>
              <a:solidFill>
                <a:srgbClr val="E8705F"/>
              </a:solidFill>
            </c:spPr>
          </c:dPt>
          <c:dPt>
            <c:idx val="7"/>
            <c:spPr>
              <a:solidFill>
                <a:srgbClr val="F2B13C"/>
              </a:solidFill>
            </c:spPr>
          </c:dPt>
          <c:dPt>
            <c:idx val="8"/>
            <c:spPr>
              <a:solidFill>
                <a:srgbClr val="5BA85B"/>
              </a:solidFill>
            </c:spPr>
          </c:dPt>
          <c:dPt>
            <c:idx val="9"/>
            <c:spPr>
              <a:solidFill>
                <a:srgbClr val="5BA85B"/>
              </a:solidFill>
            </c:spPr>
          </c:dPt>
          <c:dPt>
            <c:idx val="10"/>
            <c:spPr>
              <a:solidFill>
                <a:srgbClr val="E8705F"/>
              </a:solidFill>
            </c:spPr>
          </c:dPt>
          <c:dPt>
            <c:idx val="11"/>
            <c:spPr>
              <a:solidFill>
                <a:srgbClr val="F2B13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00" b="1"/>
                      <a:t>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/>
                      <a:t>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/>
                      <a:t>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/>
                      <a:t>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/>
                      <a:t>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900" b="1"/>
                      <a:t>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900" b="1"/>
                      <a:t>7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/>
                      <a:t>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900" b="1"/>
                      <a:t>9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900" b="1"/>
                      <a:t>10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900" b="1"/>
                      <a:t>11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900" b="1"/>
                      <a:t>12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4.5</c:v>
                </c:pt>
                <c:pt idx="1">
                  <c:v>4.8</c:v>
                </c:pt>
                <c:pt idx="2">
                  <c:v>3.7</c:v>
                </c:pt>
                <c:pt idx="3">
                  <c:v>3.0</c:v>
                </c:pt>
                <c:pt idx="4">
                  <c:v>3.7</c:v>
                </c:pt>
                <c:pt idx="5">
                  <c:v>3.25</c:v>
                </c:pt>
                <c:pt idx="6">
                  <c:v>3.0</c:v>
                </c:pt>
                <c:pt idx="7">
                  <c:v>3.45</c:v>
                </c:pt>
                <c:pt idx="8">
                  <c:v>4.05</c:v>
                </c:pt>
                <c:pt idx="9">
                  <c:v>4.75</c:v>
                </c:pt>
                <c:pt idx="10">
                  <c:v>2.0</c:v>
                </c:pt>
                <c:pt idx="11">
                  <c:v>3.2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3.15</c:v>
                </c:pt>
                <c:pt idx="2">
                  <c:v>4.25</c:v>
                </c:pt>
                <c:pt idx="3">
                  <c:v>4.85</c:v>
                </c:pt>
                <c:pt idx="4">
                  <c:v>4.0</c:v>
                </c:pt>
                <c:pt idx="5">
                  <c:v>3.85</c:v>
                </c:pt>
                <c:pt idx="6">
                  <c:v>3.35</c:v>
                </c:pt>
                <c:pt idx="7">
                  <c:v>4.0</c:v>
                </c:pt>
                <c:pt idx="8">
                  <c:v>2.85</c:v>
                </c:pt>
                <c:pt idx="9">
                  <c:v>2.4</c:v>
                </c:pt>
                <c:pt idx="10">
                  <c:v>4.6</c:v>
                </c:pt>
                <c:pt idx="11">
                  <c:v>4.4</c:v>
                </c:pt>
              </c:numCache>
            </c:numRef>
          </c:yVal>
          <c:bubbleSize>
            <c:numRef>
              <c:f>Sheet1!$C$2:$C$13</c:f>
              <c:numCache>
                <c:formatCode>General</c:formatCode>
                <c:ptCount val="12"/>
                <c:pt idx="0">
                  <c:v>10</c:v>
                </c:pt>
                <c:pt idx="1">
                  <c:v>6</c:v>
                </c:pt>
                <c:pt idx="2">
                  <c:v>10</c:v>
                </c:pt>
                <c:pt idx="3">
                  <c:v>16</c:v>
                </c:pt>
                <c:pt idx="4">
                  <c:v>10</c:v>
                </c:pt>
                <c:pt idx="5">
                  <c:v>10</c:v>
                </c:pt>
                <c:pt idx="6">
                  <c:v>16</c:v>
                </c:pt>
                <c:pt idx="7">
                  <c:v>10</c:v>
                </c:pt>
                <c:pt idx="8">
                  <c:v>6</c:v>
                </c:pt>
                <c:pt idx="9">
                  <c:v>6</c:v>
                </c:pt>
                <c:pt idx="10">
                  <c:v>16</c:v>
                </c:pt>
                <c:pt idx="11">
                  <c:v>10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35"/>
        <c:showNegBubbles val="0"/>
        <c:axId val="-2115720072"/>
        <c:axId val="-2115723560"/>
      </c:bubbleChart>
      <c:valAx>
        <c:axId val="-2115720072"/>
        <c:scaling>
          <c:orientation val="minMax"/>
          <c:max val="5.2"/>
          <c:min val="1.5"/>
        </c:scaling>
        <c:delete val="0"/>
        <c:axPos val="b"/>
        <c:title>
          <c:tx>
            <c:rich>
              <a:bodyPr/>
              <a:lstStyle/>
              <a:p>
                <a:r>
                  <a:rPr sz="1000"/>
                  <a:t>Feasibility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800"/>
            </a:pPr>
          </a:p>
        </c:txPr>
        <c:crossAx val="-2115723560"/>
        <c:crossesAt val="3.5"/>
        <c:crossBetween val="midCat"/>
        <c:majorUnit val="0.5"/>
      </c:valAx>
      <c:valAx>
        <c:axId val="-2115723560"/>
        <c:scaling>
          <c:orientation val="minMax"/>
          <c:max val="5.2"/>
          <c:min val="1.5"/>
        </c:scaling>
        <c:delete val="0"/>
        <c:axPos val="l"/>
        <c:title>
          <c:tx>
            <c:rich>
              <a:bodyPr/>
              <a:lstStyle/>
              <a:p>
                <a:r>
                  <a:rPr sz="1000"/>
                  <a:t>Business value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800"/>
            </a:pPr>
          </a:p>
        </c:txPr>
        <c:crossAx val="-2115720072"/>
        <c:crossesAt val="3.5"/>
        <c:crossBetween val="midCat"/>
        <c:majorUnit val="0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 2026-2028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Grant Thornton Bahrain  |  September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Situational &amp; SWOT Analysis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AI Strategy Formulation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Implementation Roadmap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Grant Thornton Bahrain will become the Kingdom's most trusted advisor for responsible, value-driven AI - and an AI-enabled firm that practises what it advises.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WHERE WE 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90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96" y="2020000"/>
            <a:ext cx="353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AI Ready7 self-assessment (Sept 2026): 61.4% - 'Informed' maturity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Strengths: regulatory compliance, AI inventory, data pipelines &amp; lineage, literacy, threat defence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Critical gaps: lifecycle AI risk assessment (2.4) and data classification for AI (5.1) - both Not Met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Strong market pull: Vision 2030, iGA AI Policy (2025), PDPL, CBB, EU AI Act reach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8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WHERE WE ARE GOING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90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8758" y="2020000"/>
            <a:ext cx="353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Vision 2028: trusted AI advisor + AI-enabled firm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Five strategic pillars: Trusted &amp; Governed AI, AI-Fluent People, The Intelligent Firm, Secure AI Foundations, Market-Leading AI Advisory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Target readiness &gt;= 75% ('Repeatable') by end-2027 and &gt;= 85% by end-2028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Clear AI risk appetite: very low for client-data &amp; compliance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8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HOW WE WILL GET THERE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90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120" y="2020000"/>
            <a:ext cx="353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18-month roadmap in three horizons: Foundations (Q4-26 to Q1-27), Scale (2027), Differentiate (2028)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5 workstreams, 21 activities; 100-day plan ready to start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12 use cases prioritised; 4 launched in Horizon 1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4 AI service lines packaged into entry offers built on GT tools (RCM v2.0, risk framework, readiness tool)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59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Decisions requested: </a:t>
            </a:r>
            <a:r>
              <a:rPr sz="1100" b="0">
                <a:solidFill>
                  <a:srgbClr val="FFFFFF"/>
                </a:solidFill>
                <a:latin typeface="Arial"/>
              </a:rPr>
              <a:t>approve vision, objectives and risk appetite; appoint AI sponsor and CoE lead; release Horizon 1 resources; endorse quick-win pilots and the service-line launch.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three-phase, standards-based methodology - the same approach GT Bahrain offers clients through the AI Strategy &amp; Roadmap service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21028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01  </a:t>
            </a:r>
            <a:r>
              <a:rPr sz="1500" b="1">
                <a:solidFill>
                  <a:srgbClr val="FFFFFF"/>
                </a:solidFill>
                <a:latin typeface="Arial"/>
              </a:rPr>
              <a:t>Situational / SWOT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80000"/>
            <a:ext cx="3621028" cy="2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96" y="2280000"/>
            <a:ext cx="3501028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External scan: regulation, market, competitors, technology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Internal baseline: AI Ready7 &amp; GT AI Readiness Assessment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Stakeholder interviews and AI inventory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SWOT and TOWS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4980000"/>
            <a:ext cx="3621028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Outputs: baseline report, SWOT / TOWS, gap 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5424" y="1480000"/>
            <a:ext cx="3621028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02  </a:t>
            </a:r>
            <a:r>
              <a:rPr sz="1500" b="1">
                <a:solidFill>
                  <a:srgbClr val="FFFFFF"/>
                </a:solidFill>
                <a:latin typeface="Arial"/>
              </a:rPr>
              <a:t>AI Strategy Formulation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5424" y="2180000"/>
            <a:ext cx="3621028" cy="2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5424" y="2280000"/>
            <a:ext cx="3501028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Vision, ambition and strategic objectives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Strategic pillars and guiding principles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AI risk appetite &amp; guardrails (RCM RM-6)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Use-case prioritisation (value x feasibility x risk)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Operating model and KPIs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5424" y="4980000"/>
            <a:ext cx="3621028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Outputs: AI strategy, risk appetite, prioritised portfolio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66452" y="1480000"/>
            <a:ext cx="3621028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03  </a:t>
            </a:r>
            <a:r>
              <a:rPr sz="1500" b="1">
                <a:solidFill>
                  <a:srgbClr val="FFFFFF"/>
                </a:solidFill>
                <a:latin typeface="Arial"/>
              </a:rPr>
              <a:t>Roadmap Creation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66452" y="2180000"/>
            <a:ext cx="3621028" cy="2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6452" y="2280000"/>
            <a:ext cx="3501028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Phased horizons and workstreams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Dependencies, resourcing and budget envelope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100-day mobilisation plan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Governance cadence and KPI tracking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Traceability to readiness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66452" y="4980000"/>
            <a:ext cx="3621028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Outputs: 18-month roadmap, 100-day plan, KPI dashboard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5680000"/>
            <a:ext cx="11263086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FFFFFF"/>
                </a:solidFill>
                <a:latin typeface="Arial"/>
              </a:rPr>
              <a:t>GT tools used: </a:t>
            </a:r>
            <a:r>
              <a:rPr sz="1050" b="0">
                <a:solidFill>
                  <a:srgbClr val="FFFFFF"/>
                </a:solidFill>
                <a:latin typeface="Arial"/>
              </a:rPr>
              <a:t>GT AI Ready7  |  GT AI Readiness &amp; Risk Assessment Tool  |  GT AI RCM v2.0 (72 controls)  |  GT AI Risk Assessment Framework &amp; Toolkit.  </a:t>
            </a:r>
            <a:r>
              <a:rPr sz="1050" b="1">
                <a:solidFill>
                  <a:srgbClr val="FFFFFF"/>
                </a:solidFill>
                <a:latin typeface="Arial"/>
              </a:rPr>
              <a:t>Standards: </a:t>
            </a:r>
            <a:r>
              <a:rPr sz="1050" b="0">
                <a:solidFill>
                  <a:srgbClr val="FFFFFF"/>
                </a:solidFill>
                <a:latin typeface="Arial"/>
              </a:rPr>
              <a:t>ISO/IEC 42001, ISO/IEC 23894, NIST AI RMF, EU AI Act, Bahrain PDPL, iGA AI Policy.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Situational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Bahrain AI Landscape - External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Policy momentum, a tightening regulatory perimeter and sector demand are creating a window for trusted, governance-led AI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260000" cy="2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396" y="1510000"/>
            <a:ext cx="5196543" cy="3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4F2D7F"/>
                </a:solidFill>
                <a:latin typeface="Arial"/>
              </a:rPr>
              <a:t>Policy &amp; Regulation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396" y="1860000"/>
            <a:ext cx="5196543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Bahrain Economic Vision 2030 positions AI as a productivity and diversification lever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iGA General Policy for the Use of AI v1.0 (2025): compliance, adoption, awareness, cooperation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GCC Guiding Manual on the Ethics of AI Use adopted (2025)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Draft standalone AI law (38 articles) approved by Shura Council (Apr 2024) - pending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PDPL (Law 30/2018), CBB Rulebook, NCSC standards; EU AI Act applies extraterritorially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0939" y="1480000"/>
            <a:ext cx="260000" cy="24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0939" y="1510000"/>
            <a:ext cx="5196543" cy="3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7B5BA6"/>
                </a:solidFill>
                <a:latin typeface="Arial"/>
              </a:rPr>
              <a:t>Economy &amp; Market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0939" y="1860000"/>
            <a:ext cx="5196543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ICT revenue opportunity estimated at US$27.15bn cumulatively (2022-2026)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IT services market CAGR 7.03% (2024-2028) to US$201.8m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Priority sectors: financial services, insurance, government, telecom, hospitality, healthcare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Clients shifting from AI experimentation to scaled, governed deployment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000000"/>
            <a:ext cx="260000" cy="2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396" y="4030000"/>
            <a:ext cx="5196543" cy="3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A7B5"/>
                </a:solidFill>
                <a:latin typeface="Arial"/>
              </a:rPr>
              <a:t>Society &amp;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396" y="4380000"/>
            <a:ext cx="5196543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UNESCO AI Readiness Assessment of Bahrain (Nov 2025) - 2nd GCC country assessed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Recommendations: embed AI ethics, expand capacity building, transparency and public engagement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National skills initiatives (e.g., AI Academy); competition for AI talent across the GCC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0939" y="4000000"/>
            <a:ext cx="260000" cy="24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0939" y="4030000"/>
            <a:ext cx="5196543" cy="3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05F"/>
                </a:solidFill>
                <a:latin typeface="Arial"/>
              </a:rPr>
              <a:t>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0939" y="4380000"/>
            <a:ext cx="5196543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Hyperscale cloud region in Bahrain and cloud-first policy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GenAI and agentic AI entering enterprise software (Copilot-class tools)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AI-enabled threats rising: deepfake fraud, AI-crafted phishing, automated exploitation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 creating an AI assurance and certification market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6250000"/>
            <a:ext cx="11263086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Sources: GT AI Service Lines deck v3.0 (market data); iGA; UNESCO; Shura Council; GT research, Sept 2026.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Market &amp; Competitive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Competitors lead with technology; GT Bahrain can own the 'trusted, governance-led AI' space for regulated and mid-market clients.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480000"/>
          <a:ext cx="698311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383"/>
                <a:gridCol w="1805977"/>
                <a:gridCol w="1685579"/>
                <a:gridCol w="2167173"/>
              </a:tblGrid>
              <a:tr h="7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Competitor type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Examples (Bahrain / MENA)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Typical focus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Implication for GT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Big Four peers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EY (EY.ai platform, AI strategy &amp; design)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Large-scale transformation, own platforms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Differentiate on agility, mid-market fit and GRC + cyber depth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consultancies &amp; trainers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AI Enabled, AI Superior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Strategy workshops, training, R&amp;D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Compete with certified methodology and assurance credibility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Automation / software houses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10xDS, Sanara Infotech, Abacus KSA, Purpix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RPA, virtual agents, custom 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Partner for build; GT leads governance, selection and 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Hyperscalers &amp; vendors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Cloud and GenAI platform providers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Tools and platforms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Stay vendor-agnostic; advise on selection and secure adoption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707509" y="1480000"/>
            <a:ext cx="4079973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Bahrain's differentiated position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07509" y="1900000"/>
            <a:ext cx="4079973" cy="3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67509" y="1980000"/>
            <a:ext cx="3959973" cy="3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>
                <a:solidFill>
                  <a:srgbClr val="222222"/>
                </a:solidFill>
                <a:latin typeface="Arial"/>
              </a:rPr>
              <a:t>Trust-first: </a:t>
            </a:r>
            <a:r>
              <a:rPr sz="1200" b="0">
                <a:solidFill>
                  <a:srgbClr val="222222"/>
                </a:solidFill>
                <a:latin typeface="Arial"/>
              </a:rPr>
              <a:t>audit, GRC and cyber heritage; AI Ready7 &amp; ISO/IEC 42001-aligned methods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222222"/>
                </a:solidFill>
                <a:latin typeface="Arial"/>
              </a:rPr>
              <a:t>Regulation-ready: </a:t>
            </a:r>
            <a:r>
              <a:rPr sz="1200" b="0">
                <a:solidFill>
                  <a:srgbClr val="222222"/>
                </a:solidFill>
                <a:latin typeface="Arial"/>
              </a:rPr>
              <a:t>Bahrain PDPL, CBB, EU AI Act and GCC mapped into one RCM (72 controls)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222222"/>
                </a:solidFill>
                <a:latin typeface="Arial"/>
              </a:rPr>
              <a:t>End-to-end: </a:t>
            </a:r>
            <a:r>
              <a:rPr sz="1200" b="0">
                <a:solidFill>
                  <a:srgbClr val="222222"/>
                </a:solidFill>
                <a:latin typeface="Arial"/>
              </a:rPr>
              <a:t>strategy -&gt; governance -&gt; automation -&gt; training -&gt; assurance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222222"/>
                </a:solidFill>
                <a:latin typeface="Arial"/>
              </a:rPr>
              <a:t>Mid-market &amp; regulated focus: </a:t>
            </a:r>
            <a:r>
              <a:rPr sz="1200" b="0">
                <a:solidFill>
                  <a:srgbClr val="222222"/>
                </a:solidFill>
                <a:latin typeface="Arial"/>
              </a:rPr>
              <a:t>banks, insurers, government, telecom, healthcare, hospitality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222222"/>
                </a:solidFill>
                <a:latin typeface="Arial"/>
              </a:rPr>
              <a:t>Proof: </a:t>
            </a:r>
            <a:r>
              <a:rPr sz="1200" b="0">
                <a:solidFill>
                  <a:srgbClr val="222222"/>
                </a:solidFill>
                <a:latin typeface="Arial"/>
              </a:rPr>
              <a:t>GT Bahrain as 'client zero' with measured readiness uplift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Internal Baseline - AI Ready7 Results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Overall readiness 61.4% ('Informed'): solid compliance and data foundations; business alignment, architecture and AI security need the most work.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80000"/>
          <a:ext cx="6194697" cy="44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24396" y="5900000"/>
            <a:ext cx="6194697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Maturity scale: &lt;50% Partial | 50-70% Informed | 70-90% Repeatable | 90%+ Adaptive.  Coral = below 60%.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4355" y="1480000"/>
            <a:ext cx="4843127" cy="38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Strengths (All / Most Met)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4355" y="1880000"/>
            <a:ext cx="4843127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2.2 Regulatory compliance &amp; audit readiness; 2.5 AI inventory &amp; ownership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5.3 Secure data pipelines; 5.4 Data lineage &amp; quality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3.1-3.3 AI literacy, validation &amp; security awareness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4.5 Cost &amp; platform governance; 6.1 Identity &amp; privilege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7.1, 7.2, 7.4, 7.5 AI threat intel, SOC, IR, exposure mgmt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4355" y="3460000"/>
            <a:ext cx="4843127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Gaps (Not Met / Some Met)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4355" y="3860000"/>
            <a:ext cx="4843127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•  Not Met: </a:t>
            </a:r>
            <a:r>
              <a:rPr sz="1000" b="0">
                <a:solidFill>
                  <a:srgbClr val="222222"/>
                </a:solidFill>
                <a:latin typeface="Arial"/>
              </a:rPr>
              <a:t>2.4 Lifecycle AI risk assessment incl. third parties; 5.1 Data classification, access &amp; handling for AI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1.1-1.4 Strategy, risk appetite, portfolio, value tracking, client assurance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2.1 AI policy; 2.3 Guardrails / centre of excellence; 3.4 Role-based capability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4.1-4.4 Reference architecture, execution authority, API control, monitoring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6.2-6.5 Model protection, secure ModelOps, red teaming, runtime logging; 7.3 Deepfake defence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SWOT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Internal factors from the AI Ready7 baseline; external factors from the Bahrain / GCC landscape scan.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20000"/>
            <a:ext cx="5571543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STRENGTHS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60000"/>
            <a:ext cx="5571543" cy="19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396" y="1800000"/>
            <a:ext cx="5471543" cy="19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Strong global brand and GTIL network; AI Ready7 methodology already in 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Deep audit, GRC, cyber and regulatory heritage - a credible trust-first 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Existing relationships in regulated sectors (banking, telecom, government)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Compliance &amp; data foundations in place (Ready7 2.2, 2.5, 5.3, 5.4 fully met)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Good AI literacy (T&amp;D 69%) and threat defence (70%) baseline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Four defined AI service lines and proprietary tools (RCM v2.0, risk framework, readiness tool)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5939" y="1420000"/>
            <a:ext cx="5571543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WEAKNESSES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9" y="1760000"/>
            <a:ext cx="5571543" cy="19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5939" y="1800000"/>
            <a:ext cx="5471543" cy="19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Overall AI readiness 'Informed' (61.4%) - below the 'Repeatable' threshold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No consistent lifecycle AI risk assessment (Ready7 2.4 - Not Met)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Data classification &amp; handling for AI not in place (Ready7 5.1 - Not Met)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Business alignment 50%: strategy, portfolio and value tracking only partially defined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Architecture &amp; AI security at 55%: reference architecture, red teaming, ModelOps immature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Limited in-house AI engineering capacity; reliance on vendor tools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840000"/>
            <a:ext cx="5571543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OPPORTUNITIES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180000"/>
            <a:ext cx="5571543" cy="19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396" y="4220000"/>
            <a:ext cx="5471543" cy="19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National AI agenda: Vision 2030, iGA AI Policy (2025), UNESCO AI readiness report (2025)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Regulation wave: PDPL, CBB, GCC regimes, EU AI Act reach, forthcoming Bahrain AI law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Emerging ISO/IEC 42001 certification and AI assurance market in the GCC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Sector demand in financial services, insurance, government, telecom, healthcare, hospitality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AI productivity gains in audit, tax and advisory delivery improve margins and 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Regional scale through the GT network across the GCC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5939" y="3840000"/>
            <a:ext cx="5571543" cy="34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THREATS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5939" y="4180000"/>
            <a:ext cx="5571543" cy="19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5939" y="4220000"/>
            <a:ext cx="5471543" cy="193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Big Four and tech-native AI consultancies competing aggressively (e.g., EY.ai, niche AI firms)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Fast-moving technology and vendor lock-in 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AI-enabled cyber threats and deepfake fraud targeting the firm and its clients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Client-confidentiality and professional-liability exposure from AI errors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Scarcity of AI talent across the GCC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•  Regulatory uncertainty (Bahrain AI law timing, EU Digital Omnibus changes)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From SWOT to Strategic Choices (TOWS)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strategic thrusts translate the SWOT into the strategy; each is reflected in a strategic pillar and roadmap workstream.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5556543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120000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96" y="1560000"/>
            <a:ext cx="5256543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4F2D7F"/>
                </a:solidFill>
                <a:latin typeface="Arial"/>
              </a:rPr>
              <a:t>SO - Lead with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96" y="2000000"/>
            <a:ext cx="5256543" cy="1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Launch governance-led AI offerings (readiness assessment, AI GRC / RCM review, ISO/IEC 42001 readiness) into regulated sectors, leveraging the GT brand and GRC heritage.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396" y="3000000"/>
            <a:ext cx="5256543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Arial"/>
              </a:rPr>
              <a:t>Delivered through: Pillar 5 | WS5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939" y="1480000"/>
            <a:ext cx="5556543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0939" y="1480000"/>
            <a:ext cx="120000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0939" y="1560000"/>
            <a:ext cx="5256543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7B5BA6"/>
                </a:solidFill>
                <a:latin typeface="Arial"/>
              </a:rPr>
              <a:t>WO - Become 'client zero'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0939" y="2000000"/>
            <a:ext cx="5256543" cy="1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Close our own gaps (risk assessment, data classification, strategy &amp; portfolio) using our own tools - and turn the journey into a reference case.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0939" y="3000000"/>
            <a:ext cx="5256543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Arial"/>
              </a:rPr>
              <a:t>Delivered through: Pillars 1-3 | WS1, WS2, WS4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3530000"/>
            <a:ext cx="5556543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396" y="3530000"/>
            <a:ext cx="120000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4396" y="3610000"/>
            <a:ext cx="5256543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A7B5"/>
                </a:solidFill>
                <a:latin typeface="Arial"/>
              </a:rPr>
              <a:t>ST - Differentiate on assurance +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96" y="4050000"/>
            <a:ext cx="5256543" cy="1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Combine AI GRC with cyber (AI red teaming, deepfake resilience) to stand apart from technology-led competitors.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96" y="5050000"/>
            <a:ext cx="5256543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Arial"/>
              </a:rPr>
              <a:t>Delivered through: Pillars 4-5 | WS3, WS5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0939" y="3530000"/>
            <a:ext cx="5556543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0939" y="3530000"/>
            <a:ext cx="120000" cy="19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0939" y="3610000"/>
            <a:ext cx="5256543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E8705F"/>
                </a:solidFill>
                <a:latin typeface="Arial"/>
              </a:rPr>
              <a:t>WT - Partner and protect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0939" y="4050000"/>
            <a:ext cx="5256543" cy="1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Vendor-agnostic alliances, strict client-data guardrails and targeted hiring / upskilling to contain talent, liability and lock-in risks.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0939" y="5050000"/>
            <a:ext cx="5256543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Arial"/>
              </a:rPr>
              <a:t>Delivered through: Pillars 1, 2, 4 | WS1-WS3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Strategy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Formulation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Vision, Ambition &amp; Strategic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130000"/>
            <a:ext cx="11263086" cy="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VISION 2028   </a:t>
            </a:r>
            <a:r>
              <a:rPr sz="1500" b="0">
                <a:solidFill>
                  <a:srgbClr val="FFFFFF"/>
                </a:solidFill>
                <a:latin typeface="Arial"/>
              </a:rPr>
              <a:t>By 2028, Grant Thornton Bahrain is the Kingdom's most trusted advisor for responsible, value-driven AI - and an AI-enabled firm that practises what it advises.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2180000"/>
            <a:ext cx="3654362" cy="6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Objective 1  </a:t>
            </a:r>
            <a:r>
              <a:rPr sz="1300" b="1">
                <a:solidFill>
                  <a:srgbClr val="FFFFFF"/>
                </a:solidFill>
                <a:latin typeface="Arial"/>
              </a:rPr>
              <a:t>An AI-ready firm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780000"/>
            <a:ext cx="3654362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96" y="2880000"/>
            <a:ext cx="3534362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AI Ready7 readiness from 61.4% to &gt;= 75% (Repeatable) by end-2027 and &gt;= 85% by end-2028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100% of AI use cases registered, risk-tiered and assessed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ISO/IEC 42001 certification-ready by end-2027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2180000"/>
            <a:ext cx="3654362" cy="6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Objective 2  </a:t>
            </a:r>
            <a:r>
              <a:rPr sz="1300" b="1">
                <a:solidFill>
                  <a:srgbClr val="FFFFFF"/>
                </a:solidFill>
                <a:latin typeface="Arial"/>
              </a:rPr>
              <a:t>Productivity &amp; quality through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2780000"/>
            <a:ext cx="3654362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8758" y="2880000"/>
            <a:ext cx="3534362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10+ production use cases with measured benefits by 2028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10-15% time saved in targeted processes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Zero client-data leakage incidents via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2180000"/>
            <a:ext cx="3654362" cy="6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Objective 3  </a:t>
            </a:r>
            <a:r>
              <a:rPr sz="1300" b="1">
                <a:solidFill>
                  <a:srgbClr val="FFFFFF"/>
                </a:solidFill>
                <a:latin typeface="Arial"/>
              </a:rPr>
              <a:t>A market-leading AI advisory practice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2780000"/>
            <a:ext cx="3654362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120" y="2880000"/>
            <a:ext cx="3534362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Four AI service lines launched with productised entry offers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12 AI engagements in 2027, 25 in 2028 (proposed targets)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Recognised thought leadership on responsible AI in Bahrain / GCC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396" y="538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Targets are proposed for leadership validation; baselines marked 'to be baselined' in the KPI dashboard will be measured in the first 100 days.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Strategic Pillars &amp; Guiding Principles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pillars close the readiness gaps and build the advisory business - underpinned by six non-negotiable principles.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2172617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Trusted &amp; Governed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230000"/>
            <a:ext cx="2172617" cy="1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Responsible by design: policy, AI register, lifecycle risk assessment, CoE guardrails, ISO/IEC 42001-aligned AIMS.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3930000"/>
            <a:ext cx="217261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850" b="1">
                <a:solidFill>
                  <a:srgbClr val="4F2D7F"/>
                </a:solidFill>
                <a:latin typeface="Arial"/>
              </a:rPr>
              <a:t>Governance &amp; Ethics; Data &amp; Quality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80000"/>
            <a:ext cx="2172617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AI-Fluent People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230000"/>
            <a:ext cx="2172617" cy="1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Every professional AI-literate; specialists, leaders and champions developed through role-based pathways.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3930000"/>
            <a:ext cx="217261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850" b="1">
                <a:solidFill>
                  <a:srgbClr val="7B5BA6"/>
                </a:solidFill>
                <a:latin typeface="Arial"/>
              </a:rPr>
              <a:t>Training &amp;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80000"/>
            <a:ext cx="2172617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Intelligent Firm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230000"/>
            <a:ext cx="2172617" cy="1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Prioritised internal use cases in audit, tax, advisory and operations with measured value.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3930000"/>
            <a:ext cx="217261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850" b="1">
                <a:solidFill>
                  <a:srgbClr val="00A7B5"/>
                </a:solidFill>
                <a:latin typeface="Arial"/>
              </a:rPr>
              <a:t>Business Alignment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80000"/>
            <a:ext cx="2172617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Secure AI Foundations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230000"/>
            <a:ext cx="2172617" cy="1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Reference architecture, protected data, AI security testing, monitoring and deepfake-resilient processes.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3930000"/>
            <a:ext cx="217261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850" b="1">
                <a:solidFill>
                  <a:srgbClr val="2E1A47"/>
                </a:solidFill>
                <a:latin typeface="Arial"/>
              </a:rPr>
              <a:t>Architecture; Protect AI; AI Threats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80000"/>
            <a:ext cx="2172617" cy="7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Market-Leading AI Advisory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230000"/>
            <a:ext cx="2172617" cy="1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Four AI service lines packaged, launched and scaled into priority sectors across Bahrain and the GCC.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3930000"/>
            <a:ext cx="217261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850" b="1">
                <a:solidFill>
                  <a:srgbClr val="E8705F"/>
                </a:solidFill>
                <a:latin typeface="Arial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4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GUIDING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4860000"/>
            <a:ext cx="5581543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Human-in-charge: professionals remain accountable for every AI-assisted output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Client confidentiality first: no client data in unapproved AI tools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Value before technology: every use case has an owner and a measurable benefit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5939" y="4860000"/>
            <a:ext cx="5581543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Proportionate risk: controls scale with the risk tier of each use case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Vendor-agnostic and secure by design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Practise what we advise: GT tools and RCM applied to ourselves first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AI Risk Appetite &amp;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clear appetite enables confident experimentation while protecting what matters most: client trust, confidentiality and professional standards (RCM RM-6).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480000"/>
          <a:ext cx="1126308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496"/>
                <a:gridCol w="1240848"/>
                <a:gridCol w="7158741"/>
              </a:tblGrid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Risk category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Appetite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Statement / guardrail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</a:rPr>
                        <a:t>Client confidentiality &amp; data protection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Very low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No client or personal data in unapproved AI tools; enterprise tools with no-training and in-region / approved hosting only.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</a:rPr>
                        <a:t>Regulatory &amp; professional-standards compliance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Very low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AI use must comply with PDPL, IESBA/ISQM 1 quality management and client contractual terms.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</a:rPr>
                        <a:t>Quality of client deliverables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Human review and sign-off mandatory for all AI-assisted client outputs; no autonomous client-facing AI without CoE approval.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</a:rPr>
                        <a:t>Operational &amp; productivity experimentation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Experimentation encouraged within the approved sandbox, with synthetic / non-confidential data.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</a:rPr>
                        <a:t>Innovation &amp; new AI services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Moderate-High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Invest in new AI offerings and pilots through stage-gates with defined success criteria.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24396" y="5030000"/>
            <a:ext cx="11263086" cy="8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Operationalised through: </a:t>
            </a:r>
            <a:r>
              <a:rPr sz="1050" b="0">
                <a:solidFill>
                  <a:srgbClr val="222222"/>
                </a:solidFill>
                <a:latin typeface="Arial"/>
              </a:rPr>
              <a:t>AI acceptable-use policy (GL-5) | AI register &amp; risk tiering (GL-8, RM-5) | GT AI Risk Assessment Framework (approval by tier) | KRIs with mandatory responses (RM-6) | human-in-charge sign-off for client deliverables (RS-1).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Use-Case Portfolio Prioritisation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12 candidate use cases scored on business value and feasibility (data readiness, technical complexity, change effort); bubble size reflects risk tier.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380000"/>
          <a:ext cx="6532589" cy="47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Oval 10"/>
          <p:cNvSpPr/>
          <p:nvPr/>
        </p:nvSpPr>
        <p:spPr>
          <a:xfrm>
            <a:off x="824396" y="6130000"/>
            <a:ext cx="160000" cy="160000"/>
          </a:xfrm>
          <a:prstGeom prst="ellipse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396" y="6080000"/>
            <a:ext cx="10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22222"/>
                </a:solidFill>
                <a:latin typeface="Arial"/>
              </a:rPr>
              <a:t>Low risk</a:t>
            </a:r>
          </a:p>
        </p:txBody>
      </p:sp>
      <p:sp>
        <p:nvSpPr>
          <p:cNvPr id="13" name="Oval 12"/>
          <p:cNvSpPr/>
          <p:nvPr/>
        </p:nvSpPr>
        <p:spPr>
          <a:xfrm>
            <a:off x="2124396" y="6130000"/>
            <a:ext cx="160000" cy="160000"/>
          </a:xfrm>
          <a:prstGeom prst="ellipse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4396" y="6080000"/>
            <a:ext cx="10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22222"/>
                </a:solidFill>
                <a:latin typeface="Arial"/>
              </a:rPr>
              <a:t>Medium risk</a:t>
            </a:r>
          </a:p>
        </p:txBody>
      </p:sp>
      <p:sp>
        <p:nvSpPr>
          <p:cNvPr id="15" name="Oval 14"/>
          <p:cNvSpPr/>
          <p:nvPr/>
        </p:nvSpPr>
        <p:spPr>
          <a:xfrm>
            <a:off x="3424396" y="6130000"/>
            <a:ext cx="160000" cy="16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396" y="6080000"/>
            <a:ext cx="10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22222"/>
                </a:solidFill>
                <a:latin typeface="Arial"/>
              </a:rPr>
              <a:t>High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306" y="1612000"/>
            <a:ext cx="1400000" cy="2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7B5BA6"/>
                </a:solidFill>
                <a:latin typeface="Arial"/>
              </a:rPr>
              <a:t>STRATEGIC BETS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9816" y="1612000"/>
            <a:ext cx="1400000" cy="2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BA85B"/>
                </a:solidFill>
                <a:latin typeface="Arial"/>
              </a:rPr>
              <a:t>QUICK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306" y="5000000"/>
            <a:ext cx="1400000" cy="2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DEPRIORITISE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0467" y="5000000"/>
            <a:ext cx="1400000" cy="2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A7B5"/>
                </a:solidFill>
                <a:latin typeface="Arial"/>
              </a:rPr>
              <a:t>FILL-INS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206985" y="1380000"/>
          <a:ext cx="4580496" cy="46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44"/>
                <a:gridCol w="2389824"/>
                <a:gridCol w="398304"/>
                <a:gridCol w="398304"/>
                <a:gridCol w="862992"/>
                <a:gridCol w="298728"/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Proposal &amp; report drafting assistant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Quick win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Knowledge assistant (methodology RAG)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4.25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3.70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Quick win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Meeting transcription &amp; summaries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Fill-in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Audit analytics &amp; anomaly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4.85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3.00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Strategic bet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Tax research &amp; regulatory Q&amp;A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Quick win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Client AI readiness self-assessment portal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4.40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Strategic bet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AI-assisted control testing (RCM)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Strategic bet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Marketing &amp; thought-leadership content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2.40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4.75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Fill-in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Contract &amp; document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Strategic bet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Finance, timesheet &amp; billing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2.85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4.05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Fill-in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engagement workflow assistant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4.60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2.00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Strategic bet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Client onboarding / KYC screening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3.35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3.00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Deprioritise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7206985" y="6030000"/>
            <a:ext cx="4580497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V = value, F = feasibility (weighted 1-5 scores - see Strategy Toolkit), H = horizon. Quadrant threshold 3.5.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Priority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Horizon 1 quick wins build confidence and adoption; Horizon 2 pilots target the highest-value professional-services processes.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480000"/>
          <a:ext cx="11263084" cy="3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0814"/>
                <a:gridCol w="1648256"/>
                <a:gridCol w="5494188"/>
                <a:gridCol w="915698"/>
                <a:gridCol w="824128"/>
              </a:tblGrid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 tier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Proposal &amp; report drafting assistant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All service 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Enterprise GenAI with GT templates for proposals, reports and client letters; mandatory human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Meeting transcription &amp; summaries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Firm-wide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Automated minutes, action tracking and summaries for internal meetings and client workshops (with consent).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Knowledge assistant (methodology RAG)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Firm-wide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Retrieval-augmented assistant over GT methodologies, standards, Bahrain laws and prior (sanitised) work.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Audit analytics &amp; anomaly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Audit &amp; Assurance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AI-assisted journal-entry testing, anomaly detection and full-population analytics under ISA / ISQM 1.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Tax research &amp; regulatory Q&amp;A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Grounded assistant for Bahrain VAT, corporate / top-up tax and GCC tax research with citations.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AI-assisted control testing (RCM)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Risk Advisory / AI GRC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Evidence review and control-test support using the GT AI RCM v2.0 test plans.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24396" y="5560000"/>
            <a:ext cx="11263086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Every use case follows the GT AI Risk Assessment Framework: </a:t>
            </a:r>
            <a:r>
              <a:rPr sz="1050" b="0">
                <a:solidFill>
                  <a:srgbClr val="222222"/>
                </a:solidFill>
                <a:latin typeface="Arial"/>
              </a:rPr>
              <a:t>prohibited-practice screen -&gt; tiering -&gt; risk register -&gt; approval by tier (High = AI Committee). Benefit KPIs and a business owner are set before build.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AI Advisory Service Lines - 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Productised offerings built on GT tools, launched through entry offers and sector campaigns, and scaled via the GT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2740771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 Governance, Risk &amp; Compliance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40000"/>
            <a:ext cx="2740771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396" y="2120000"/>
            <a:ext cx="2640771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Readiness &amp; Risk Assessment (15-question tool + report)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governance framework, policies &amp; AI register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RCM v2.0 compliance / gap review (EU AI Act, PDPL, CBB)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Use-case AI risk &amp; impact assessment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 readiness &amp; internal audit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4540000"/>
            <a:ext cx="2740771" cy="4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Target: </a:t>
            </a:r>
            <a:r>
              <a:rPr sz="900" b="0">
                <a:solidFill>
                  <a:srgbClr val="4F2D7F"/>
                </a:solidFill>
                <a:latin typeface="Arial"/>
              </a:rPr>
              <a:t>Banks &amp; insurers, government, telecom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5167" y="1480000"/>
            <a:ext cx="2740771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 Strategy &amp; Roadmap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5167" y="2040000"/>
            <a:ext cx="2740771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167" y="2120000"/>
            <a:ext cx="2640771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strategy sprint (6-8 weeks): situational / SWOT, strategy, roadmap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Use-case discovery &amp; prioritisation workshops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risk appetite &amp; value-realisation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5167" y="4540000"/>
            <a:ext cx="2740771" cy="4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7B5BA6"/>
                </a:solidFill>
                <a:latin typeface="Arial"/>
              </a:rPr>
              <a:t>Target: </a:t>
            </a:r>
            <a:r>
              <a:rPr sz="900" b="0">
                <a:solidFill>
                  <a:srgbClr val="7B5BA6"/>
                </a:solidFill>
                <a:latin typeface="Arial"/>
              </a:rPr>
              <a:t>Mid-to-large corporates, family groups, government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5938" y="1480000"/>
            <a:ext cx="2740771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AI-Driven Automation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5938" y="2040000"/>
            <a:ext cx="2740771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938" y="2120000"/>
            <a:ext cx="2640771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Technology evaluation &amp; selection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Process automation &amp; optimisation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integration services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Industry-specific solutions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938" y="4540000"/>
            <a:ext cx="2740771" cy="4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00A7B5"/>
                </a:solidFill>
                <a:latin typeface="Arial"/>
              </a:rPr>
              <a:t>Target: </a:t>
            </a:r>
            <a:r>
              <a:rPr sz="900" b="0">
                <a:solidFill>
                  <a:srgbClr val="00A7B5"/>
                </a:solidFill>
                <a:latin typeface="Arial"/>
              </a:rPr>
              <a:t>Financial services, healthcare, hospitality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46709" y="1480000"/>
            <a:ext cx="2740771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6709" y="2040000"/>
            <a:ext cx="2740771" cy="2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6709" y="2120000"/>
            <a:ext cx="2640771" cy="2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literacy academy (all staff; EU AI Act Art. 4-aligned)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Board &amp; leadership AI governance sessions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Immersive labs &amp; AI-driven gamification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Deepfake / AI-phishing simulations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46709" y="4540000"/>
            <a:ext cx="2740771" cy="4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E8705F"/>
                </a:solidFill>
                <a:latin typeface="Arial"/>
              </a:rPr>
              <a:t>Target: </a:t>
            </a:r>
            <a:r>
              <a:rPr sz="900" b="0">
                <a:solidFill>
                  <a:srgbClr val="E8705F"/>
                </a:solidFill>
                <a:latin typeface="Arial"/>
              </a:rPr>
              <a:t>All sectors; entry offer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5130000"/>
            <a:ext cx="11263086" cy="8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FFFFFF"/>
                </a:solidFill>
                <a:latin typeface="Arial"/>
              </a:rPr>
              <a:t>Entry offers: </a:t>
            </a:r>
            <a:r>
              <a:rPr sz="1050" b="0">
                <a:solidFill>
                  <a:srgbClr val="FFFFFF"/>
                </a:solidFill>
                <a:latin typeface="Arial"/>
              </a:rPr>
              <a:t>AI Readiness &amp; Risk Assessment (2-3 weeks)  |  AI GRC / RCM gap review  |  AI strategy sprint  |  Board AI governance briefing</a:t>
            </a:r>
          </a:p>
          <a:p>
            <a:pPr algn="l"/>
            <a:r>
              <a:rPr sz="1050" b="1">
                <a:solidFill>
                  <a:srgbClr val="FFFFFF"/>
                </a:solidFill>
                <a:latin typeface="Arial"/>
              </a:rPr>
              <a:t>Channels: </a:t>
            </a:r>
            <a:r>
              <a:rPr sz="1050" b="0">
                <a:solidFill>
                  <a:srgbClr val="FFFFFF"/>
                </a:solidFill>
                <a:latin typeface="Arial"/>
              </a:rPr>
              <a:t>existing audit / advisory client base, GTIL AI Ready7 network, regulator &amp; industry events, thought leadership on PDPL / EU AI Act / ISO/IEC 42001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Operating Model &amp;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light, federated model: central CoE for standards and assurance; champions embedded in every service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939" y="1380000"/>
            <a:ext cx="3400000" cy="4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Managing Partner &amp; Leadership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5939" y="1960000"/>
            <a:ext cx="4800000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AI Steering Committee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approves strategy, risk appetite and High / Critical use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680000"/>
            <a:ext cx="11263086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 Centre of Excellence (CoE)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080000"/>
            <a:ext cx="2725771" cy="8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</a:rPr>
              <a:t>AI CoE lead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</a:rPr>
              <a:t>Strategy, portfolio, KPIs, standards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0167" y="3080000"/>
            <a:ext cx="2725771" cy="8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</a:rPr>
              <a:t>AI GRC lead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</a:rPr>
              <a:t>Policy, register, risk framework, ISO/IEC 42001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3080000"/>
            <a:ext cx="2725771" cy="8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</a:rPr>
              <a:t>Data &amp; technology lead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</a:rPr>
              <a:t>Platforms, architecture, ModelOps,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3080000"/>
            <a:ext cx="2725771" cy="8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</a:rPr>
              <a:t>Cyber / AI security lead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</a:rPr>
              <a:t>Red teaming, guardrails, deepfake defence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030000"/>
            <a:ext cx="11263086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AI Champions network - Audit | Tax | Advisory | Risk | Operations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24396" y="4480000"/>
          <a:ext cx="11263085" cy="1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687"/>
                <a:gridCol w="2145349"/>
                <a:gridCol w="6436049"/>
              </a:tblGrid>
              <a:tr h="34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Forum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Cadence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Key inputs / outputs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Steering 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Quarterly (monthly in H1)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Roadmap status, KPI dashboard, risk profile, approvals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CoE working group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Bi-weekly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Use-case intake, guardrails, incidents, vendor changes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Champions forum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Adoption, feedback, training needs, new ideas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Link to GTIL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Ongoing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AI Ready7 re-assessment, shared tools, global AI policies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KPIs &amp; Value Realisation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Progress is measured against the AI Ready7 baseline and a balanced set of adoption, value, risk and growth indicators.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480000"/>
          <a:ext cx="11263084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056"/>
                <a:gridCol w="2218486"/>
                <a:gridCol w="1962507"/>
                <a:gridCol w="1962507"/>
                <a:gridCol w="1706528"/>
              </a:tblGrid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Baseline (Sept 2026)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Target end-2027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Target end-2028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AI Ready7 overall readiness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61.4% (Informed)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&gt;= 75% (Repeatable)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&gt;= 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AI CoE lead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Governance &amp; Ethics pillar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&gt;= 80%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&gt;= 90%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Risk &amp; Quality partner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AI use cases risk-tiered &amp; assessed (AI register)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Register exists; assessment not consistent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100% by Q1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100% + quarterly 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AI CoE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Staff completing AI literacy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To be baselined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&gt;= 90% by Q2 2027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100% (annual refresh)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HR / L&amp;D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Production AI use cases with measured benefits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 measured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Service-line leaders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Time saved in targeted processes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To be baselined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CoE + Finance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AI advisory engagements delivered (proposed)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Pilot stage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AI service line lead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Client-data leakage incidents via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CISO / DPO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222"/>
                          </a:solidFill>
                          <a:latin typeface="Arial"/>
                        </a:rPr>
                        <a:t>ISO/IEC 42001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Certification-ready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Certified (optional)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Risk &amp; Quality partner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Implementation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Roadmap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Roadmap on a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Three horizons move GT Bahrain from 'Informed' to 'Repeatable' and then to a differentiated, AI-enabled advisory firm.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80000"/>
            <a:ext cx="3674362" cy="52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HORIZON 1  |  FOUNDATIONS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396" y="2020000"/>
            <a:ext cx="3674362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Q4 2026 - Q1 2027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340000"/>
            <a:ext cx="3674362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4396" y="2420000"/>
            <a:ext cx="3554362" cy="2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Strategy, risk appetite, AI policy &amp; CoE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register refresh; risk framework on every use case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Data classification &amp; DLP for GenAI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literacy for all staff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Quick wins: drafting, transcription, knowledge assistant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Launch entry offers; first client pilots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5300000"/>
            <a:ext cx="3674362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Exit: readiness ~68%; no Not-Met items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18758" y="1480000"/>
            <a:ext cx="3674362" cy="520000"/>
          </a:xfrm>
          <a:prstGeom prst="homePlat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HORIZON 2  | 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8758" y="2020000"/>
            <a:ext cx="3674362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B5BA6"/>
                </a:solidFill>
                <a:latin typeface="Arial"/>
              </a:rPr>
              <a:t>Q2 - Q4 2027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758" y="2340000"/>
            <a:ext cx="3674362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8758" y="2420000"/>
            <a:ext cx="3554362" cy="2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Reference architecture, monitoring &amp; ModelOps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red teaming; deepfake-resilient processes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Pilots: audit analytics, tax assistant, document review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Role-based pathways &amp; champions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Sector campaigns (FS, government, telecom)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ISO/IEC 42001 AIMS 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758" y="5300000"/>
            <a:ext cx="3674362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7B5BA6"/>
                </a:solidFill>
                <a:latin typeface="Arial"/>
              </a:rPr>
              <a:t>Exit: readiness &gt;= 75% (Repeatable)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3120" y="1480000"/>
            <a:ext cx="3674362" cy="5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HORIZON 3  |  DIFFERENTIATE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3120" y="2020000"/>
            <a:ext cx="3674362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A7B5"/>
                </a:solidFill>
                <a:latin typeface="Arial"/>
              </a:rPr>
              <a:t>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120" y="2340000"/>
            <a:ext cx="3674362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3120" y="2420000"/>
            <a:ext cx="3554362" cy="2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Scale proven use cases; agentic pilots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ISO/IEC 42001 certification (optional)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Client self-assessment portal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Regional delivery via GT network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Thought leadership on responsible 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120" y="5300000"/>
            <a:ext cx="3674362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00A7B5"/>
                </a:solidFill>
                <a:latin typeface="Arial"/>
              </a:rPr>
              <a:t>Exit: readiness &gt;= 85%; recognised AI advisor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Detailed Roadmap - Workstreams &amp;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18 months, five workstreams, 21 activities (Oct 2026 - Mar 2028).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4396" y="1250000"/>
            <a:ext cx="1285847" cy="2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Q4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18243" y="1250000"/>
            <a:ext cx="1285847" cy="2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Q1 2027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2091" y="1250000"/>
            <a:ext cx="1285847" cy="2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Q2 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5939" y="1250000"/>
            <a:ext cx="1285847" cy="2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Q3 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99786" y="1250000"/>
            <a:ext cx="1285847" cy="2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Q4 2027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93634" y="1250000"/>
            <a:ext cx="1285847" cy="2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Q1 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1525000"/>
            <a:ext cx="350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4F2D7F"/>
                </a:solidFill>
                <a:latin typeface="Arial"/>
              </a:rPr>
              <a:t>WS1 Governance &amp;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96" y="1687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AI strategy, risk appetite &amp; acceptable-use policy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4396" y="1724000"/>
            <a:ext cx="852565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396" y="1851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AI Steering Committee &amp; CoE charter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4396" y="1888000"/>
            <a:ext cx="852565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96" y="2015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AI register refresh &amp; risk-framework rollout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5678" y="2052000"/>
            <a:ext cx="1715130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96" y="2179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Vendor AI contract clauses &amp; due diligence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86961" y="2216000"/>
            <a:ext cx="1715130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96" y="2343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ISO/IEC 42001 gap assessment &amp; AIMS build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0808" y="2380000"/>
            <a:ext cx="3440260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396" y="2507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Certification-readiness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31069" y="2544000"/>
            <a:ext cx="1283847" cy="114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396" y="2673000"/>
            <a:ext cx="350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A7B5"/>
                </a:solidFill>
                <a:latin typeface="Arial"/>
              </a:rPr>
              <a:t>WS2 People &amp; Skills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396" y="2835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AI literacy baseline (all staff)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55678" y="2872000"/>
            <a:ext cx="2146412" cy="114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396" y="2999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Role-based pathways &amp; AI champions 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9526" y="3036000"/>
            <a:ext cx="3008977" cy="114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396" y="3163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Leadership &amp; client-facing enablement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12091" y="3200000"/>
            <a:ext cx="2577695" cy="114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396" y="3327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Annual refresh &amp; workforce plan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99786" y="3364000"/>
            <a:ext cx="2577695" cy="114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4396" y="3493000"/>
            <a:ext cx="350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E1A47"/>
                </a:solidFill>
                <a:latin typeface="Arial"/>
              </a:rPr>
              <a:t>WS3 Data, Platforms &amp; Security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396" y="3655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Data classification for AI &amp; GenAI DLP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4396" y="3692000"/>
            <a:ext cx="1715130" cy="114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396" y="3819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Enterprise GenAI platform &amp; reference architecture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55678" y="3856000"/>
            <a:ext cx="2577695" cy="114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396" y="3983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AI red teaming &amp; deepfake-resilient processes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18243" y="4020000"/>
            <a:ext cx="2577695" cy="114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396" y="4147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Monitoring, KRIs, logging &amp; ModelOps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12091" y="4184000"/>
            <a:ext cx="3008977" cy="114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4396" y="4313000"/>
            <a:ext cx="350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705F"/>
                </a:solidFill>
                <a:latin typeface="Arial"/>
              </a:rPr>
              <a:t>WS4 Use Cases &amp; Value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396" y="4475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Quick wins: drafting, transcription, knowledge assistant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5678" y="4512000"/>
            <a:ext cx="2146412" cy="114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396" y="4639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Pilots: audit analytics, tax assistant, document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0808" y="4676000"/>
            <a:ext cx="2577695" cy="114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396" y="4803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Scale proven use cases; agentic pilots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68504" y="4840000"/>
            <a:ext cx="3008977" cy="114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4396" y="4969000"/>
            <a:ext cx="350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B5BA6"/>
                </a:solidFill>
                <a:latin typeface="Arial"/>
              </a:rPr>
              <a:t>WS5 AI Service Line (GTM)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396" y="5131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Package offerings &amp; tools; pricing approach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4396" y="5168000"/>
            <a:ext cx="1283847" cy="114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396" y="5295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Launch &amp; first pilot clients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18243" y="5332000"/>
            <a:ext cx="1715130" cy="114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396" y="5459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Sector campaigns (FS, government, telecom)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12091" y="5496000"/>
            <a:ext cx="3008977" cy="114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396" y="5623000"/>
            <a:ext cx="3380000" cy="164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222222"/>
                </a:solidFill>
                <a:latin typeface="Arial"/>
              </a:rPr>
              <a:t>Regional scale via the GT network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99786" y="5660000"/>
            <a:ext cx="2577695" cy="114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612091" y="1520000"/>
            <a:ext cx="0" cy="4279000"/>
          </a:xfrm>
          <a:prstGeom prst="line">
            <a:avLst/>
          </a:prstGeom>
          <a:ln w="15875">
            <a:solidFill>
              <a:srgbClr val="00A7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493634" y="1520000"/>
            <a:ext cx="0" cy="4279000"/>
          </a:xfrm>
          <a:prstGeom prst="line">
            <a:avLst/>
          </a:prstGeom>
          <a:ln w="15875">
            <a:solidFill>
              <a:srgbClr val="00A7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24396" y="5819000"/>
            <a:ext cx="3500000" cy="2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0A7B5"/>
                </a:solidFill>
                <a:latin typeface="Arial"/>
              </a:rPr>
              <a:t>Dashed lines: start of H2 (Apr 2027) and H3 (Jan 2028)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First 100 Days - Mobilisation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Concrete actions and owners to start immediately after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74362" cy="4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Days 0-30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4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Approve AI strategy, objectives &amp; risk appetite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Managing Partner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97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Constitute AI Steering Committee and AI CoE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Managing Partner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0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Issue AI acceptable-use policy &amp; approved-tools list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Risk &amp; Quality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483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Enforce data-classification rules &amp; DLP for GenAI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IT / InfoSec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8758" y="1480000"/>
            <a:ext cx="3674362" cy="4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Days 31-60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758" y="204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Refresh AI register; tier &amp; assess all AI tools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AI CoE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758" y="297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Launch AI literacy baseline for all staff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HR / L&amp;D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8758" y="390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Start quick-win pilots (drafting, transcription, knowledge)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AI CoE + service 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758" y="483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Package 3 entry offers and client collateral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AI service line lead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3120" y="1480000"/>
            <a:ext cx="3674362" cy="4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Days 61-100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3120" y="204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Reference architecture v1 and AI logging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120" y="297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AI red-team of internal GenAI assistant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Cyber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3120" y="390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First 3 client pilots of the readiness assessment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AI service line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120" y="4830000"/>
            <a:ext cx="3674362" cy="8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</a:rPr>
              <a:t>KPI baseline and AI Ready7 checkpoint to leadership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Owner: AI CoE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83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Day-100 checkpoint: AI Ready7 re-run on Governance &amp; Ethics and Data &amp; Quality items; target no 'Not Met' items and readiness ~65%.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Resourcing, Investment &amp;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Indicative requirements - to be sized in the Horizon 1 business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74362" cy="4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People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940000"/>
            <a:ext cx="3674362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96" y="2020000"/>
            <a:ext cx="3554362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service line lead (partner / director sponsor)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CoE lead and 2 AI GRC specialists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1-2 data / AI engineers (or partner capacity)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Cyber AI-security specialist (shared with Cyber team)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champion in each service line (10-20% time)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758" y="1480000"/>
            <a:ext cx="3674362" cy="4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Platforms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758" y="1940000"/>
            <a:ext cx="3674362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8758" y="2020000"/>
            <a:ext cx="3554362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Enterprise GenAI suite with no-training and data-residency terms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Knowledge / RAG platform over GT methodologies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GRC tooling for AI register &amp; assessments (OneTrust already used for AI Ready7)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DLP / CASB for GenAI; AI logging &amp; monitoring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Workstations per GT AI system-setup specification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120" y="1480000"/>
            <a:ext cx="3674362" cy="4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Partners &amp; ecosystem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3120" y="1940000"/>
            <a:ext cx="3674362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3120" y="2020000"/>
            <a:ext cx="3554362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GTIL AI and cyber networks (AI Ready7, shared tools)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Technology partners for build and integration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Training partners / academia for AI literacy content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Certification bodies for ISO/IEC 42001 readiness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4780000"/>
            <a:ext cx="11263086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Key dependencies: </a:t>
            </a:r>
            <a:r>
              <a:rPr sz="1050" b="0">
                <a:solidFill>
                  <a:srgbClr val="222222"/>
                </a:solidFill>
                <a:latin typeface="Arial"/>
              </a:rPr>
              <a:t>leadership sponsorship and time of champions; IT capacity for platform and DLP changes; client consent terms for AI use on engagements; GTIL global AI policies and approved-tool lists; budget release for Horizon 1.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Risks to the Strategy &amp; Mitigations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11263085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7895"/>
                <a:gridCol w="7835190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Low adoption / change resistance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Visible leadership sponsorship, AI champions, quick wins communicated firm-wide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Client-data leakage through AI tools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Acceptable-use policy, enterprise tools only, DLP, no-training contract clauses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Investment without measurable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Stage-gates, benefit KPIs per use case, quarterly portfolio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Shortage of AI talent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Targeted hiring, GTIL expertise sharing, technology partners, upskilling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Reputational harm from AI errors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Human-in-charge sign-off, QA sampling, professional-standards alignment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Regulatory change (Bahrain AI law, EU AI Act)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Obligations register and horizon scanning (RCM RO-5)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</a:rPr>
                        <a:t>Vendor lock-in / platform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</a:rPr>
                        <a:t>Multi-model reference architecture, exit clauses, periodic re-evaluation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Decisions Required &amp; Next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80000"/>
            <a:ext cx="5556543" cy="4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Decisions required from leadership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810000"/>
            <a:ext cx="520000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4396" y="1810000"/>
            <a:ext cx="4996543" cy="6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Approve the AI vision, three strategic objectives and the AI risk appetite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530000"/>
            <a:ext cx="520000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4396" y="2530000"/>
            <a:ext cx="4996543" cy="6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Appoint the executive AI sponsor and the AI CoE lead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250000"/>
            <a:ext cx="520000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4396" y="3250000"/>
            <a:ext cx="4996543" cy="6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Release Horizon 1 resources and budget envelope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970000"/>
            <a:ext cx="520000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4396" y="3970000"/>
            <a:ext cx="4996543" cy="6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Endorse the four Horizon 1 use cases for pilot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4690000"/>
            <a:ext cx="520000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4396" y="4690000"/>
            <a:ext cx="4996543" cy="6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Endorse the AI service-line launch plan and entry offers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0939" y="1280000"/>
            <a:ext cx="5556543" cy="4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0939" y="1810000"/>
            <a:ext cx="5556543" cy="3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0939" y="1900000"/>
            <a:ext cx="5396543" cy="3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1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Week 1-2: leadership review of this strategy and risk appetite</a:t>
            </a:r>
          </a:p>
          <a:p>
            <a:pPr algn="l">
              <a:spcAft>
                <a:spcPts val="1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Week 2: issue interim AI acceptable-use policy</a:t>
            </a:r>
          </a:p>
          <a:p>
            <a:pPr algn="l">
              <a:spcAft>
                <a:spcPts val="1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Week 3: CoE mobilised; 100-day plan kicked off</a:t>
            </a:r>
          </a:p>
          <a:p>
            <a:pPr algn="l">
              <a:spcAft>
                <a:spcPts val="1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Week 4: quick-win pilot scoping and baseline KPIs</a:t>
            </a:r>
          </a:p>
          <a:p>
            <a:pPr algn="l">
              <a:spcAft>
                <a:spcPts val="1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•  Day 100: progress checkpoint to the Steering Committee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Appendix - AI Ready7 Gap-to-Roadmap Traceability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item not fully met in the Sept 2026 AI Ready7 assessment is addressed by a roadmap action.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180000"/>
          <a:ext cx="11263084" cy="4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6391"/>
                <a:gridCol w="3080502"/>
                <a:gridCol w="962656"/>
                <a:gridCol w="5005816"/>
                <a:gridCol w="770125"/>
                <a:gridCol w="577594"/>
              </a:tblGrid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Roadmap response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Strategy, Culture &amp; Risk Appetite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Approve AI strategy, executive sponsor and AI risk appetite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Portfolio Governance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Use-case intake, prioritisation and shadow-AI conversion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Value Realisation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Benefit KPIs and quarterly portfolio value reviews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Client &amp; Stakeholder Assurance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Publish responsible-AI statement for clients; ISO/IEC 42001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Policy &amp; Acceptable Use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acceptable-use policy and approved-tools catalogue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Adoption Guardrails &amp; Ethical Standards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CoE charter and practical guardrails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2.4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Risk Assessment &amp; Governance Reviews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Not Met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Roll out GT AI Risk Assessment Framework to all AI use cases &amp; vendors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3.1-3.3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Literacy, Validation, Security awareness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Most Met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Mandatory literacy refresh; deepfake simulations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Role-Based Capability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Role-based pathways, AI champions, workforce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Enterprise AI Reference Architecture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Reference architecture v1 (data, models, agents, security)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Integration &amp; Execution Authority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Agent execution-authority standard and trust boundaries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API, Access &amp; Trust Enforcement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Centralised API gateway / access control for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Observability &amp; 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Monitoring with KRIs, thresholds and mandatory responses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Cost, Compute &amp; Platform Governance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Most Met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Governed pathway from citizen-developed AI to production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5.1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Data Classification, Access &amp; Handling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Not Met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Classification rules for AI, DLP on GenAI, data-readiness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5.2 / 5.5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Human Oversight; Privacy safeguards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Most Met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Human-in-charge standard for deliverables; prompt redaction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Identity, Access &amp; Privilege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Most Met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Non-human / agent identity and credential management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Data &amp; Model Protection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Vendor AI contract clauses (no training, residency, audit)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6.3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Secure AI Development &amp; ModelOps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Secure AI SDLC and ModelOps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Security Testing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 red teaming of internal assistants before scale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6.5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Runtime Protection &amp; Logging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Runtime guardrails and forensic-ready AI logging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Identity, Behavioural &amp; Deepfake Defence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Some Met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Deepfake-resilient verification for payments &amp; sensitive requests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H1-H2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22222"/>
                          </a:solidFill>
                          <a:latin typeface="Arial"/>
                        </a:rPr>
                        <a:t>7.1/7.2/7.4/7.5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Threat intel, SOC, IR, Exposure mgmt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Most Met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Sustain; add AI-specific scenarios to SOC and red teaming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H2-H3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WS3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