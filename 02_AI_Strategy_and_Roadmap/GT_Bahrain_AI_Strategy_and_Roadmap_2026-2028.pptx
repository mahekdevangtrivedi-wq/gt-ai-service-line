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3" r:id="rId5"/>
    <p:sldMasterId id="2147483685" r:id="rId6"/>
  </p:sldMasterIdLst>
  <p:notesMasterIdLst>
    <p:notesMasterId r:id="rId26"/>
  </p:notesMasterIdLst>
  <p:sldIdLst>
    <p:sldId id="2141411893" r:id="rId34"/>
    <p:sldId id="2141411894" r:id="rId35"/>
    <p:sldId id="2141411895" r:id="rId36"/>
    <p:sldId id="2141411896" r:id="rId37"/>
    <p:sldId id="2141411897" r:id="rId38"/>
    <p:sldId id="2141411898" r:id="rId39"/>
    <p:sldId id="2141411899" r:id="rId40"/>
    <p:sldId id="2141411900" r:id="rId41"/>
    <p:sldId id="2141411901" r:id="rId42"/>
    <p:sldId id="2141411902" r:id="rId43"/>
    <p:sldId id="2141411903" r:id="rId44"/>
    <p:sldId id="2141411904" r:id="rId45"/>
    <p:sldId id="2141411905" r:id="rId46"/>
    <p:sldId id="2141411906" r:id="rId47"/>
    <p:sldId id="2141411907" r:id="rId48"/>
    <p:sldId id="2141411908" r:id="rId49"/>
    <p:sldId id="2141411909" r:id="rId50"/>
    <p:sldId id="2141411910" r:id="rId51"/>
    <p:sldId id="2141411911" r:id="rId52"/>
    <p:sldId id="2141411912" r:id="rId53"/>
    <p:sldId id="2141411913" r:id="rId54"/>
    <p:sldId id="2141411914" r:id="rId55"/>
    <p:sldId id="2141411915" r:id="rId56"/>
    <p:sldId id="2141411916" r:id="rId57"/>
    <p:sldId id="2141411917" r:id="rId58"/>
    <p:sldId id="2141411918" r:id="rId59"/>
    <p:sldId id="2141411919" r:id="rId60"/>
    <p:sldId id="2141411920" r:id="rId61"/>
    <p:sldId id="2141411921" r:id="rId62"/>
    <p:sldId id="2141411922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8" userDrawn="1">
          <p15:clr>
            <a:srgbClr val="A4A3A4"/>
          </p15:clr>
        </p15:guide>
        <p15:guide id="2" pos="58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E72921-A7D9-DCBA-A3F9-4012AE4EE01A}" name="Kajal Rajusth" initials="KR" userId="S::Kajal.Rajusth@bh.gt.com::11b61780-b247-4085-a29c-8a573c97e7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2D7F"/>
    <a:srgbClr val="A06DFF"/>
    <a:srgbClr val="2B144D"/>
    <a:srgbClr val="C6ADEA"/>
    <a:srgbClr val="6611FF"/>
    <a:srgbClr val="0F9ED5"/>
    <a:srgbClr val="FFFFFF"/>
    <a:srgbClr val="FFC23D"/>
    <a:srgbClr val="CE2C2C"/>
    <a:srgbClr val="00A4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80D65-38AE-4B63-ACC6-A8CC8317EE11}" v="1" dt="2025-04-23T12:17:02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3447" autoAdjust="0"/>
  </p:normalViewPr>
  <p:slideViewPr>
    <p:cSldViewPr snapToGrid="0">
      <p:cViewPr varScale="1">
        <p:scale>
          <a:sx n="95" d="100"/>
          <a:sy n="95" d="100"/>
        </p:scale>
        <p:origin x="254" y="72"/>
      </p:cViewPr>
      <p:guideLst>
        <p:guide orient="horz" pos="3408"/>
        <p:guide pos="5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Relationship Id="rId33" Type="http://schemas.microsoft.com/office/2018/10/relationships/authors" Target="authors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jal Rajusth" userId="11b61780-b247-4085-a29c-8a573c97e7f5" providerId="ADAL" clId="{89080D65-38AE-4B63-ACC6-A8CC8317EE11}"/>
    <pc:docChg chg="custSel modSld">
      <pc:chgData name="Kajal Rajusth" userId="11b61780-b247-4085-a29c-8a573c97e7f5" providerId="ADAL" clId="{89080D65-38AE-4B63-ACC6-A8CC8317EE11}" dt="2025-04-23T12:17:05.740" v="30" actId="1076"/>
      <pc:docMkLst>
        <pc:docMk/>
      </pc:docMkLst>
      <pc:sldChg chg="modSp mod">
        <pc:chgData name="Kajal Rajusth" userId="11b61780-b247-4085-a29c-8a573c97e7f5" providerId="ADAL" clId="{89080D65-38AE-4B63-ACC6-A8CC8317EE11}" dt="2025-04-23T11:17:41.002" v="0" actId="20577"/>
        <pc:sldMkLst>
          <pc:docMk/>
          <pc:sldMk cId="3443425539" sldId="4144"/>
        </pc:sldMkLst>
        <pc:spChg chg="mod">
          <ac:chgData name="Kajal Rajusth" userId="11b61780-b247-4085-a29c-8a573c97e7f5" providerId="ADAL" clId="{89080D65-38AE-4B63-ACC6-A8CC8317EE11}" dt="2025-04-23T11:17:41.002" v="0" actId="20577"/>
          <ac:spMkLst>
            <pc:docMk/>
            <pc:sldMk cId="3443425539" sldId="4144"/>
            <ac:spMk id="81" creationId="{06956AA6-9DE1-1AB8-6F11-AAC6C431CE8D}"/>
          </ac:spMkLst>
        </pc:spChg>
      </pc:sldChg>
      <pc:sldChg chg="addSp delSp modSp mod">
        <pc:chgData name="Kajal Rajusth" userId="11b61780-b247-4085-a29c-8a573c97e7f5" providerId="ADAL" clId="{89080D65-38AE-4B63-ACC6-A8CC8317EE11}" dt="2025-04-23T12:17:05.740" v="30" actId="1076"/>
        <pc:sldMkLst>
          <pc:docMk/>
          <pc:sldMk cId="3090248782" sldId="2141411889"/>
        </pc:sldMkLst>
        <pc:picChg chg="add mod">
          <ac:chgData name="Kajal Rajusth" userId="11b61780-b247-4085-a29c-8a573c97e7f5" providerId="ADAL" clId="{89080D65-38AE-4B63-ACC6-A8CC8317EE11}" dt="2025-04-23T12:17:05.740" v="30" actId="1076"/>
          <ac:picMkLst>
            <pc:docMk/>
            <pc:sldMk cId="3090248782" sldId="2141411889"/>
            <ac:picMk id="10" creationId="{8E0D406B-D48D-D6AB-9494-B050EBEDD1FB}"/>
          </ac:picMkLst>
        </pc:picChg>
        <pc:picChg chg="del">
          <ac:chgData name="Kajal Rajusth" userId="11b61780-b247-4085-a29c-8a573c97e7f5" providerId="ADAL" clId="{89080D65-38AE-4B63-ACC6-A8CC8317EE11}" dt="2025-04-23T12:16:55.620" v="28" actId="478"/>
          <ac:picMkLst>
            <pc:docMk/>
            <pc:sldMk cId="3090248782" sldId="2141411889"/>
            <ac:picMk id="73" creationId="{7FA89437-3688-7A9A-1F7D-F87BECC26257}"/>
          </ac:picMkLst>
        </pc:picChg>
      </pc:sldChg>
      <pc:sldChg chg="modSp mod">
        <pc:chgData name="Kajal Rajusth" userId="11b61780-b247-4085-a29c-8a573c97e7f5" providerId="ADAL" clId="{89080D65-38AE-4B63-ACC6-A8CC8317EE11}" dt="2025-04-23T11:24:33.678" v="27" actId="20577"/>
        <pc:sldMkLst>
          <pc:docMk/>
          <pc:sldMk cId="1495240883" sldId="2141411892"/>
        </pc:sldMkLst>
        <pc:spChg chg="mod">
          <ac:chgData name="Kajal Rajusth" userId="11b61780-b247-4085-a29c-8a573c97e7f5" providerId="ADAL" clId="{89080D65-38AE-4B63-ACC6-A8CC8317EE11}" dt="2025-04-23T11:24:33.678" v="27" actId="20577"/>
          <ac:spMkLst>
            <pc:docMk/>
            <pc:sldMk cId="1495240883" sldId="2141411892"/>
            <ac:spMk id="31" creationId="{6F23265C-C94D-1B8C-8B58-522962896158}"/>
          </ac:spMkLst>
        </pc:spChg>
      </pc:sldChg>
    </pc:docChg>
  </pc:docChgLst>
  <pc:docChgLst>
    <pc:chgData name="Kajal Rajusth" userId="11b61780-b247-4085-a29c-8a573c97e7f5" providerId="ADAL" clId="{1B17BDC0-7E97-4C1E-99EA-4D26E4DF89DD}"/>
    <pc:docChg chg="undo custSel delSld modSld">
      <pc:chgData name="Kajal Rajusth" userId="11b61780-b247-4085-a29c-8a573c97e7f5" providerId="ADAL" clId="{1B17BDC0-7E97-4C1E-99EA-4D26E4DF89DD}" dt="2025-03-24T09:19:02.599" v="393" actId="1038"/>
      <pc:docMkLst>
        <pc:docMk/>
      </pc:docMkLst>
      <pc:sldChg chg="addSp delSp modSp mod">
        <pc:chgData name="Kajal Rajusth" userId="11b61780-b247-4085-a29c-8a573c97e7f5" providerId="ADAL" clId="{1B17BDC0-7E97-4C1E-99EA-4D26E4DF89DD}" dt="2025-03-24T09:19:02.599" v="393" actId="1038"/>
        <pc:sldMkLst>
          <pc:docMk/>
          <pc:sldMk cId="88661140" sldId="4122"/>
        </pc:sldMkLst>
        <pc:spChg chg="mod">
          <ac:chgData name="Kajal Rajusth" userId="11b61780-b247-4085-a29c-8a573c97e7f5" providerId="ADAL" clId="{1B17BDC0-7E97-4C1E-99EA-4D26E4DF89DD}" dt="2025-03-24T08:27:20.279" v="223" actId="1076"/>
          <ac:spMkLst>
            <pc:docMk/>
            <pc:sldMk cId="88661140" sldId="4122"/>
            <ac:spMk id="7" creationId="{F1107ECC-23EB-E50C-FA8E-08D9314E9B64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1" creationId="{EADF41F0-1855-07DB-EE0C-28AF0227FCC0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2" creationId="{36FFFD5C-9F00-E757-66BC-327DB8120DA8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3" creationId="{B1EDB9DE-CC5E-8C8C-33BD-8C2DCBD6931F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4" creationId="{D257025D-DDF0-B001-E94C-60FE04248357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5" creationId="{2CF3EE3D-7B64-C6FD-6FCC-7F70F166FCE5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6" creationId="{773B9C7F-CE4D-91FC-574C-1FBAFFD3BF39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7" creationId="{8BD0FF9B-FF90-2645-5C05-BD9D0EC619BF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8" creationId="{C44B34DE-A5F8-9A73-81F1-4CF658D412BB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9" creationId="{B1FB2505-2348-A401-4A94-6AA2B1E78A08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20" creationId="{5EA00958-51F9-F2E8-436D-239DA0AB321A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24" creationId="{58B3CB65-D36C-6B55-7A81-1369C533D059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26" creationId="{283DDA0C-D7C1-A770-11ED-F18BB8878DB1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29" creationId="{5B9F3B89-C499-C2BA-9E54-B0A0BEC72002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24" creationId="{8AA0CC0B-7A78-B04F-3DDB-DB6BA6DE41A1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2" creationId="{6F7A6A5A-2BF0-D950-1345-AAA6468C1B4B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4" creationId="{36EB0E0C-95AF-B3E3-A282-F17C7CC722AC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5" creationId="{8586F6A1-E421-26C4-6300-F86152957DF5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1" creationId="{0B3EF589-6EDF-943C-240B-1E9BC3855475}"/>
          </ac:spMkLst>
        </pc:spChg>
        <pc:spChg chg="add 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2" creationId="{38440AB3-5295-46E0-BAA8-48A4F03C9B98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1045" creationId="{700C45A0-DF84-6A67-749F-F63B01EB56B7}"/>
          </ac:spMkLst>
        </pc:spChg>
        <pc:spChg chg="add 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6" creationId="{A23A09E2-A0BA-DD4A-74EF-0856C0720195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1049" creationId="{9E639FE1-F925-94BE-FD55-9A862CE5FC9D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53" creationId="{64802AF2-8754-97F8-7ED7-AFBB190BF049}"/>
          </ac:spMkLst>
        </pc:spChg>
        <pc:grpChg chg="mod">
          <ac:chgData name="Kajal Rajusth" userId="11b61780-b247-4085-a29c-8a573c97e7f5" providerId="ADAL" clId="{1B17BDC0-7E97-4C1E-99EA-4D26E4DF89DD}" dt="2025-03-24T08:17:26.337" v="46" actId="1076"/>
          <ac:grpSpMkLst>
            <pc:docMk/>
            <pc:sldMk cId="88661140" sldId="4122"/>
            <ac:grpSpMk id="27" creationId="{B5D938CD-655D-5554-7A42-AF2102D263D0}"/>
          </ac:grpSpMkLst>
        </pc:grpChg>
        <pc:grpChg chg="add mod">
          <ac:chgData name="Kajal Rajusth" userId="11b61780-b247-4085-a29c-8a573c97e7f5" providerId="ADAL" clId="{1B17BDC0-7E97-4C1E-99EA-4D26E4DF89DD}" dt="2025-03-24T08:18:04.421" v="93" actId="1036"/>
          <ac:grpSpMkLst>
            <pc:docMk/>
            <pc:sldMk cId="88661140" sldId="4122"/>
            <ac:grpSpMk id="30" creationId="{9C11C3A6-7A71-33BE-74EC-36E6D0731A61}"/>
          </ac:grpSpMkLst>
        </pc:grpChg>
        <pc:grpChg chg="add mod">
          <ac:chgData name="Kajal Rajusth" userId="11b61780-b247-4085-a29c-8a573c97e7f5" providerId="ADAL" clId="{1B17BDC0-7E97-4C1E-99EA-4D26E4DF89DD}" dt="2025-03-24T08:18:40.122" v="135" actId="1037"/>
          <ac:grpSpMkLst>
            <pc:docMk/>
            <pc:sldMk cId="88661140" sldId="4122"/>
            <ac:grpSpMk id="31" creationId="{A8CBA491-E52D-E2B1-57EA-4744A7040EA4}"/>
          </ac:grpSpMkLst>
        </pc:grpChg>
        <pc:grpChg chg="add mod">
          <ac:chgData name="Kajal Rajusth" userId="11b61780-b247-4085-a29c-8a573c97e7f5" providerId="ADAL" clId="{1B17BDC0-7E97-4C1E-99EA-4D26E4DF89DD}" dt="2025-03-24T08:19:54.956" v="188" actId="1076"/>
          <ac:grpSpMkLst>
            <pc:docMk/>
            <pc:sldMk cId="88661140" sldId="4122"/>
            <ac:grpSpMk id="1025" creationId="{1E3B6060-415B-C468-61A8-CFE9659963D0}"/>
          </ac:grpSpMkLst>
        </pc:grpChg>
        <pc:grpChg chg="add mod">
          <ac:chgData name="Kajal Rajusth" userId="11b61780-b247-4085-a29c-8a573c97e7f5" providerId="ADAL" clId="{1B17BDC0-7E97-4C1E-99EA-4D26E4DF89DD}" dt="2025-03-24T08:20:16.318" v="193" actId="1076"/>
          <ac:grpSpMkLst>
            <pc:docMk/>
            <pc:sldMk cId="88661140" sldId="4122"/>
            <ac:grpSpMk id="1029" creationId="{7A3B2986-8656-F7C1-F177-4BB27CEC5EEF}"/>
          </ac:grpSpMkLst>
        </pc:grpChg>
        <pc:grpChg chg="add mod">
          <ac:chgData name="Kajal Rajusth" userId="11b61780-b247-4085-a29c-8a573c97e7f5" providerId="ADAL" clId="{1B17BDC0-7E97-4C1E-99EA-4D26E4DF89DD}" dt="2025-03-24T08:21:08.768" v="205" actId="1076"/>
          <ac:grpSpMkLst>
            <pc:docMk/>
            <pc:sldMk cId="88661140" sldId="4122"/>
            <ac:grpSpMk id="1030" creationId="{E438E375-2149-0636-F2E1-1B7B0732EA89}"/>
          </ac:grpSpMkLst>
        </pc:grpChg>
        <pc:grpChg chg="add mod">
          <ac:chgData name="Kajal Rajusth" userId="11b61780-b247-4085-a29c-8a573c97e7f5" providerId="ADAL" clId="{1B17BDC0-7E97-4C1E-99EA-4D26E4DF89DD}" dt="2025-03-24T08:21:58.147" v="217" actId="1076"/>
          <ac:grpSpMkLst>
            <pc:docMk/>
            <pc:sldMk cId="88661140" sldId="4122"/>
            <ac:grpSpMk id="1031" creationId="{7A13E7EE-7B2C-5B18-9C51-EAD709E12FD6}"/>
          </ac:grpSpMkLst>
        </pc:grpChg>
        <pc:picChg chg="mod">
          <ac:chgData name="Kajal Rajusth" userId="11b61780-b247-4085-a29c-8a573c97e7f5" providerId="ADAL" clId="{1B17BDC0-7E97-4C1E-99EA-4D26E4DF89DD}" dt="2025-03-24T08:17:26.337" v="46" actId="1076"/>
          <ac:picMkLst>
            <pc:docMk/>
            <pc:sldMk cId="88661140" sldId="4122"/>
            <ac:picMk id="1026" creationId="{47E29060-4744-40F2-5DBA-282D541C8D6D}"/>
          </ac:picMkLst>
        </pc:picChg>
        <pc:picChg chg="mod">
          <ac:chgData name="Kajal Rajusth" userId="11b61780-b247-4085-a29c-8a573c97e7f5" providerId="ADAL" clId="{1B17BDC0-7E97-4C1E-99EA-4D26E4DF89DD}" dt="2025-03-24T08:18:04.421" v="93" actId="1036"/>
          <ac:picMkLst>
            <pc:docMk/>
            <pc:sldMk cId="88661140" sldId="4122"/>
            <ac:picMk id="1028" creationId="{7D8B3203-C5FE-7198-37D2-08D643577F47}"/>
          </ac:picMkLst>
        </pc:picChg>
        <pc:picChg chg="mod">
          <ac:chgData name="Kajal Rajusth" userId="11b61780-b247-4085-a29c-8a573c97e7f5" providerId="ADAL" clId="{1B17BDC0-7E97-4C1E-99EA-4D26E4DF89DD}" dt="2025-03-24T08:18:40.122" v="135" actId="1037"/>
          <ac:picMkLst>
            <pc:docMk/>
            <pc:sldMk cId="88661140" sldId="4122"/>
            <ac:picMk id="1036" creationId="{933554A7-6629-EAE3-371A-6ECD9582B528}"/>
          </ac:picMkLst>
        </pc:picChg>
        <pc:picChg chg="mod">
          <ac:chgData name="Kajal Rajusth" userId="11b61780-b247-4085-a29c-8a573c97e7f5" providerId="ADAL" clId="{1B17BDC0-7E97-4C1E-99EA-4D26E4DF89DD}" dt="2025-03-24T08:19:07.220" v="179" actId="1035"/>
          <ac:picMkLst>
            <pc:docMk/>
            <pc:sldMk cId="88661140" sldId="4122"/>
            <ac:picMk id="1038" creationId="{C10A849C-4FD3-B3D8-6A54-A19FBEE0CF9D}"/>
          </ac:picMkLst>
        </pc:picChg>
        <pc:picChg chg="add mod">
          <ac:chgData name="Kajal Rajusth" userId="11b61780-b247-4085-a29c-8a573c97e7f5" providerId="ADAL" clId="{1B17BDC0-7E97-4C1E-99EA-4D26E4DF89DD}" dt="2025-03-24T08:26:39.520" v="221" actId="1076"/>
          <ac:picMkLst>
            <pc:docMk/>
            <pc:sldMk cId="88661140" sldId="4122"/>
            <ac:picMk id="1039" creationId="{4D137CEE-2D9C-E15D-6CF2-A3F280805CC7}"/>
          </ac:picMkLst>
        </pc:picChg>
        <pc:picChg chg="mod">
          <ac:chgData name="Kajal Rajusth" userId="11b61780-b247-4085-a29c-8a573c97e7f5" providerId="ADAL" clId="{1B17BDC0-7E97-4C1E-99EA-4D26E4DF89DD}" dt="2025-03-24T08:19:54.956" v="188" actId="1076"/>
          <ac:picMkLst>
            <pc:docMk/>
            <pc:sldMk cId="88661140" sldId="4122"/>
            <ac:picMk id="1040" creationId="{CC52CBF2-02C8-E105-654E-14E985446DD1}"/>
          </ac:picMkLst>
        </pc:picChg>
        <pc:picChg chg="mod">
          <ac:chgData name="Kajal Rajusth" userId="11b61780-b247-4085-a29c-8a573c97e7f5" providerId="ADAL" clId="{1B17BDC0-7E97-4C1E-99EA-4D26E4DF89DD}" dt="2025-03-24T08:20:16.318" v="193" actId="1076"/>
          <ac:picMkLst>
            <pc:docMk/>
            <pc:sldMk cId="88661140" sldId="4122"/>
            <ac:picMk id="1043" creationId="{B27029C0-84FE-CDAC-0F61-0047AC6A31BF}"/>
          </ac:picMkLst>
        </pc:picChg>
        <pc:picChg chg="add mod">
          <ac:chgData name="Kajal Rajusth" userId="11b61780-b247-4085-a29c-8a573c97e7f5" providerId="ADAL" clId="{1B17BDC0-7E97-4C1E-99EA-4D26E4DF89DD}" dt="2025-03-24T08:28:36.827" v="291" actId="1036"/>
          <ac:picMkLst>
            <pc:docMk/>
            <pc:sldMk cId="88661140" sldId="4122"/>
            <ac:picMk id="1044" creationId="{BF9DA1A2-4ED2-9FE0-1B80-EFE3866C9155}"/>
          </ac:picMkLst>
        </pc:picChg>
        <pc:picChg chg="mod">
          <ac:chgData name="Kajal Rajusth" userId="11b61780-b247-4085-a29c-8a573c97e7f5" providerId="ADAL" clId="{1B17BDC0-7E97-4C1E-99EA-4D26E4DF89DD}" dt="2025-03-24T08:20:40.446" v="198" actId="1076"/>
          <ac:picMkLst>
            <pc:docMk/>
            <pc:sldMk cId="88661140" sldId="4122"/>
            <ac:picMk id="1047" creationId="{DA26F9AD-87D1-7FB8-2CDB-8AE9C8E453E6}"/>
          </ac:picMkLst>
        </pc:picChg>
        <pc:picChg chg="add mod">
          <ac:chgData name="Kajal Rajusth" userId="11b61780-b247-4085-a29c-8a573c97e7f5" providerId="ADAL" clId="{1B17BDC0-7E97-4C1E-99EA-4D26E4DF89DD}" dt="2025-03-24T09:18:16.794" v="357" actId="1076"/>
          <ac:picMkLst>
            <pc:docMk/>
            <pc:sldMk cId="88661140" sldId="4122"/>
            <ac:picMk id="1050" creationId="{44D78C1B-2F56-9C99-C86C-ACA0FE3AAB7D}"/>
          </ac:picMkLst>
        </pc:picChg>
        <pc:picChg chg="mod">
          <ac:chgData name="Kajal Rajusth" userId="11b61780-b247-4085-a29c-8a573c97e7f5" providerId="ADAL" clId="{1B17BDC0-7E97-4C1E-99EA-4D26E4DF89DD}" dt="2025-03-24T08:21:08.768" v="205" actId="1076"/>
          <ac:picMkLst>
            <pc:docMk/>
            <pc:sldMk cId="88661140" sldId="4122"/>
            <ac:picMk id="1051" creationId="{168BA73B-A110-5843-6C00-4A232F4005BE}"/>
          </ac:picMkLst>
        </pc:picChg>
        <pc:picChg chg="mod">
          <ac:chgData name="Kajal Rajusth" userId="11b61780-b247-4085-a29c-8a573c97e7f5" providerId="ADAL" clId="{1B17BDC0-7E97-4C1E-99EA-4D26E4DF89DD}" dt="2025-03-24T08:21:58.147" v="217" actId="1076"/>
          <ac:picMkLst>
            <pc:docMk/>
            <pc:sldMk cId="88661140" sldId="4122"/>
            <ac:picMk id="1055" creationId="{94C5A28A-F6E1-52B8-D16F-D9811F573521}"/>
          </ac:picMkLst>
        </pc:picChg>
      </pc:sldChg>
      <pc:sldChg chg="modSp mod">
        <pc:chgData name="Kajal Rajusth" userId="11b61780-b247-4085-a29c-8a573c97e7f5" providerId="ADAL" clId="{1B17BDC0-7E97-4C1E-99EA-4D26E4DF89DD}" dt="2025-03-24T09:16:54.828" v="318" actId="20577"/>
        <pc:sldMkLst>
          <pc:docMk/>
          <pc:sldMk cId="3443425539" sldId="4144"/>
        </pc:sldMkLst>
        <pc:spChg chg="mod">
          <ac:chgData name="Kajal Rajusth" userId="11b61780-b247-4085-a29c-8a573c97e7f5" providerId="ADAL" clId="{1B17BDC0-7E97-4C1E-99EA-4D26E4DF89DD}" dt="2025-03-24T09:16:54.828" v="318" actId="20577"/>
          <ac:spMkLst>
            <pc:docMk/>
            <pc:sldMk cId="3443425539" sldId="4144"/>
            <ac:spMk id="27" creationId="{0EE1EB32-40BE-1C75-89D0-EB065F0E3F9E}"/>
          </ac:spMkLst>
        </pc:spChg>
      </pc:sldChg>
      <pc:sldChg chg="del">
        <pc:chgData name="Kajal Rajusth" userId="11b61780-b247-4085-a29c-8a573c97e7f5" providerId="ADAL" clId="{1B17BDC0-7E97-4C1E-99EA-4D26E4DF89DD}" dt="2025-03-23T08:13:01.853" v="0" actId="47"/>
        <pc:sldMkLst>
          <pc:docMk/>
          <pc:sldMk cId="290205388" sldId="4148"/>
        </pc:sldMkLst>
      </pc:sldChg>
      <pc:sldChg chg="modSp mod">
        <pc:chgData name="Kajal Rajusth" userId="11b61780-b247-4085-a29c-8a573c97e7f5" providerId="ADAL" clId="{1B17BDC0-7E97-4C1E-99EA-4D26E4DF89DD}" dt="2025-03-24T08:30:18.410" v="311" actId="113"/>
        <pc:sldMkLst>
          <pc:docMk/>
          <pc:sldMk cId="1098912445" sldId="2141411886"/>
        </pc:sldMkLst>
        <pc:spChg chg="mod">
          <ac:chgData name="Kajal Rajusth" userId="11b61780-b247-4085-a29c-8a573c97e7f5" providerId="ADAL" clId="{1B17BDC0-7E97-4C1E-99EA-4D26E4DF89DD}" dt="2025-03-24T08:30:18.410" v="311" actId="113"/>
          <ac:spMkLst>
            <pc:docMk/>
            <pc:sldMk cId="1098912445" sldId="2141411886"/>
            <ac:spMk id="57" creationId="{0EE1391C-2510-EFB2-82A5-5FC567D45BAC}"/>
          </ac:spMkLst>
        </pc:spChg>
      </pc:sldChg>
      <pc:sldChg chg="modSp mod">
        <pc:chgData name="Kajal Rajusth" userId="11b61780-b247-4085-a29c-8a573c97e7f5" providerId="ADAL" clId="{1B17BDC0-7E97-4C1E-99EA-4D26E4DF89DD}" dt="2025-03-24T08:30:10.840" v="310" actId="113"/>
        <pc:sldMkLst>
          <pc:docMk/>
          <pc:sldMk cId="2031562703" sldId="2141411887"/>
        </pc:sldMkLst>
        <pc:spChg chg="mod">
          <ac:chgData name="Kajal Rajusth" userId="11b61780-b247-4085-a29c-8a573c97e7f5" providerId="ADAL" clId="{1B17BDC0-7E97-4C1E-99EA-4D26E4DF89DD}" dt="2025-03-24T08:30:10.840" v="310" actId="113"/>
          <ac:spMkLst>
            <pc:docMk/>
            <pc:sldMk cId="2031562703" sldId="2141411887"/>
            <ac:spMk id="57" creationId="{C7E19B17-52EB-4AAB-36AB-BB9305A2CC03}"/>
          </ac:spMkLst>
        </pc:spChg>
      </pc:sldChg>
      <pc:sldChg chg="modSp mod">
        <pc:chgData name="Kajal Rajusth" userId="11b61780-b247-4085-a29c-8a573c97e7f5" providerId="ADAL" clId="{1B17BDC0-7E97-4C1E-99EA-4D26E4DF89DD}" dt="2025-03-24T09:16:07.529" v="317" actId="20577"/>
        <pc:sldMkLst>
          <pc:docMk/>
          <pc:sldMk cId="4089024588" sldId="2141411891"/>
        </pc:sldMkLst>
        <pc:graphicFrameChg chg="mod modGraphic">
          <ac:chgData name="Kajal Rajusth" userId="11b61780-b247-4085-a29c-8a573c97e7f5" providerId="ADAL" clId="{1B17BDC0-7E97-4C1E-99EA-4D26E4DF89DD}" dt="2025-03-24T09:16:07.529" v="317" actId="20577"/>
          <ac:graphicFrameMkLst>
            <pc:docMk/>
            <pc:sldMk cId="4089024588" sldId="2141411891"/>
            <ac:graphicFrameMk id="2" creationId="{C1CC76E0-3C5A-4696-E78B-5CB0EEEF3441}"/>
          </ac:graphicFrameMkLst>
        </pc:graphicFrameChg>
      </pc:sldChg>
    </pc:docChg>
  </pc:docChgLst>
</pc:chgInfo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 %</c:v>
                </c:pt>
              </c:strCache>
            </c:strRef>
          </c:tx>
          <c:spPr>
            <a:solidFill>
              <a:srgbClr val="4F2D7F"/>
            </a:solidFill>
          </c:spPr>
          <c:dPt>
            <c:idx val="0"/>
            <c:spPr>
              <a:solidFill>
                <a:srgbClr val="4F2D7F"/>
              </a:solidFill>
            </c:spPr>
          </c:dPt>
          <c:dPt>
            <c:idx val="1"/>
            <c:spPr>
              <a:solidFill>
                <a:srgbClr val="E8705F"/>
              </a:solidFill>
            </c:spPr>
          </c:dPt>
          <c:dPt>
            <c:idx val="2"/>
            <c:spPr>
              <a:solidFill>
                <a:srgbClr val="4F2D7F"/>
              </a:solidFill>
            </c:spPr>
          </c:dPt>
          <c:dPt>
            <c:idx val="3"/>
            <c:spPr>
              <a:solidFill>
                <a:srgbClr val="E8705F"/>
              </a:solidFill>
            </c:spPr>
          </c:dPt>
          <c:dPt>
            <c:idx val="4"/>
            <c:spPr>
              <a:solidFill>
                <a:srgbClr val="4F2D7F"/>
              </a:solidFill>
            </c:spPr>
          </c:dPt>
          <c:dPt>
            <c:idx val="5"/>
            <c:spPr>
              <a:solidFill>
                <a:srgbClr val="4F2D7F"/>
              </a:solidFill>
            </c:spPr>
          </c:dPt>
          <c:dPt>
            <c:idx val="6"/>
            <c:spPr>
              <a:solidFill>
                <a:srgbClr val="E8705F"/>
              </a:solidFill>
            </c:spPr>
          </c:dPt>
          <c:cat>
            <c:strRef>
              <c:f>Sheet1!$A$2:$A$8</c:f>
              <c:strCache>
                <c:ptCount val="7"/>
                <c:pt idx="0">
                  <c:v>Protection from AI Threats</c:v>
                </c:pt>
                <c:pt idx="1">
                  <c:v>Protect AI Systems</c:v>
                </c:pt>
                <c:pt idx="2">
                  <c:v>Data &amp; Quality</c:v>
                </c:pt>
                <c:pt idx="3">
                  <c:v>Architecture &amp; Technology</c:v>
                </c:pt>
                <c:pt idx="4">
                  <c:v>Training &amp; Development</c:v>
                </c:pt>
                <c:pt idx="5">
                  <c:v>Governance &amp; Ethics</c:v>
                </c:pt>
                <c:pt idx="6">
                  <c:v>Business Alignment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70.0</c:v>
                </c:pt>
                <c:pt idx="1">
                  <c:v>55.0</c:v>
                </c:pt>
                <c:pt idx="2">
                  <c:v>70.0</c:v>
                </c:pt>
                <c:pt idx="3">
                  <c:v>55.0</c:v>
                </c:pt>
                <c:pt idx="4">
                  <c:v>68.75</c:v>
                </c:pt>
                <c:pt idx="5">
                  <c:v>60.0</c:v>
                </c:pt>
                <c:pt idx="6">
                  <c:v>50.0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invertIfNegative val="0"/>
          <c:dPt>
            <c:idx val="0"/>
            <c:spPr>
              <a:solidFill>
                <a:srgbClr val="F2B13C"/>
              </a:solidFill>
            </c:spPr>
          </c:dPt>
          <c:dPt>
            <c:idx val="1"/>
            <c:spPr>
              <a:solidFill>
                <a:srgbClr val="5BA85B"/>
              </a:solidFill>
            </c:spPr>
          </c:dPt>
          <c:dPt>
            <c:idx val="2"/>
            <c:spPr>
              <a:solidFill>
                <a:srgbClr val="F2B13C"/>
              </a:solidFill>
            </c:spPr>
          </c:dPt>
          <c:dPt>
            <c:idx val="3"/>
            <c:spPr>
              <a:solidFill>
                <a:srgbClr val="E8705F"/>
              </a:solidFill>
            </c:spPr>
          </c:dPt>
          <c:dPt>
            <c:idx val="4"/>
            <c:spPr>
              <a:solidFill>
                <a:srgbClr val="F2B13C"/>
              </a:solidFill>
            </c:spPr>
          </c:dPt>
          <c:dPt>
            <c:idx val="5"/>
            <c:spPr>
              <a:solidFill>
                <a:srgbClr val="F2B13C"/>
              </a:solidFill>
            </c:spPr>
          </c:dPt>
          <c:dPt>
            <c:idx val="6"/>
            <c:spPr>
              <a:solidFill>
                <a:srgbClr val="E8705F"/>
              </a:solidFill>
            </c:spPr>
          </c:dPt>
          <c:dPt>
            <c:idx val="7"/>
            <c:spPr>
              <a:solidFill>
                <a:srgbClr val="F2B13C"/>
              </a:solidFill>
            </c:spPr>
          </c:dPt>
          <c:dPt>
            <c:idx val="8"/>
            <c:spPr>
              <a:solidFill>
                <a:srgbClr val="5BA85B"/>
              </a:solidFill>
            </c:spPr>
          </c:dPt>
          <c:dPt>
            <c:idx val="9"/>
            <c:spPr>
              <a:solidFill>
                <a:srgbClr val="5BA85B"/>
              </a:solidFill>
            </c:spPr>
          </c:dPt>
          <c:dPt>
            <c:idx val="10"/>
            <c:spPr>
              <a:solidFill>
                <a:srgbClr val="E8705F"/>
              </a:solidFill>
            </c:spPr>
          </c:dPt>
          <c:dPt>
            <c:idx val="11"/>
            <c:spPr>
              <a:solidFill>
                <a:srgbClr val="F2B13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/>
                      <a:t>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/>
                      <a:t>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/>
                      <a:t>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/>
                      <a:t>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/>
                      <a:t>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/>
                      <a:t>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/>
                      <a:t>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/>
                      <a:t>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1"/>
                      <a:t>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1"/>
                      <a:t>10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900" b="1"/>
                      <a:t>11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900" b="1"/>
                      <a:t>12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4.5</c:v>
                </c:pt>
                <c:pt idx="1">
                  <c:v>4.8</c:v>
                </c:pt>
                <c:pt idx="2">
                  <c:v>3.7</c:v>
                </c:pt>
                <c:pt idx="3">
                  <c:v>3.0</c:v>
                </c:pt>
                <c:pt idx="4">
                  <c:v>3.7</c:v>
                </c:pt>
                <c:pt idx="5">
                  <c:v>3.25</c:v>
                </c:pt>
                <c:pt idx="6">
                  <c:v>3.0</c:v>
                </c:pt>
                <c:pt idx="7">
                  <c:v>3.45</c:v>
                </c:pt>
                <c:pt idx="8">
                  <c:v>4.05</c:v>
                </c:pt>
                <c:pt idx="9">
                  <c:v>4.75</c:v>
                </c:pt>
                <c:pt idx="10">
                  <c:v>2.0</c:v>
                </c:pt>
                <c:pt idx="11">
                  <c:v>3.2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4.0</c:v>
                </c:pt>
                <c:pt idx="1">
                  <c:v>3.15</c:v>
                </c:pt>
                <c:pt idx="2">
                  <c:v>4.25</c:v>
                </c:pt>
                <c:pt idx="3">
                  <c:v>4.85</c:v>
                </c:pt>
                <c:pt idx="4">
                  <c:v>4.0</c:v>
                </c:pt>
                <c:pt idx="5">
                  <c:v>3.85</c:v>
                </c:pt>
                <c:pt idx="6">
                  <c:v>3.35</c:v>
                </c:pt>
                <c:pt idx="7">
                  <c:v>4.0</c:v>
                </c:pt>
                <c:pt idx="8">
                  <c:v>2.85</c:v>
                </c:pt>
                <c:pt idx="9">
                  <c:v>2.4</c:v>
                </c:pt>
                <c:pt idx="10">
                  <c:v>4.6</c:v>
                </c:pt>
                <c:pt idx="11">
                  <c:v>4.4</c:v>
                </c:pt>
              </c:numCache>
            </c:numRef>
          </c:yVal>
          <c:bubbleSize>
            <c:numRef>
              <c:f>Sheet1!$C$2:$C$13</c:f>
              <c:numCache>
                <c:formatCode>General</c:formatCode>
                <c:ptCount val="12"/>
                <c:pt idx="0">
                  <c:v>10</c:v>
                </c:pt>
                <c:pt idx="1">
                  <c:v>6</c:v>
                </c:pt>
                <c:pt idx="2">
                  <c:v>10</c:v>
                </c:pt>
                <c:pt idx="3">
                  <c:v>16</c:v>
                </c:pt>
                <c:pt idx="4">
                  <c:v>10</c:v>
                </c:pt>
                <c:pt idx="5">
                  <c:v>10</c:v>
                </c:pt>
                <c:pt idx="6">
                  <c:v>16</c:v>
                </c:pt>
                <c:pt idx="7">
                  <c:v>10</c:v>
                </c:pt>
                <c:pt idx="8">
                  <c:v>6</c:v>
                </c:pt>
                <c:pt idx="9">
                  <c:v>6</c:v>
                </c:pt>
                <c:pt idx="10">
                  <c:v>16</c:v>
                </c:pt>
                <c:pt idx="11">
                  <c:v>10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35"/>
        <c:showNegBubbles val="0"/>
        <c:axId val="-2115720072"/>
        <c:axId val="-2115723560"/>
      </c:bubbleChart>
      <c:valAx>
        <c:axId val="-2115720072"/>
        <c:scaling>
          <c:orientation val="minMax"/>
          <c:max val="5.2"/>
          <c:min val="1.5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Feasibility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-2115723560"/>
        <c:crossesAt val="3.5"/>
        <c:crossBetween val="midCat"/>
        <c:majorUnit val="0.5"/>
      </c:valAx>
      <c:valAx>
        <c:axId val="-2115723560"/>
        <c:scaling>
          <c:orientation val="minMax"/>
          <c:max val="5.2"/>
          <c:min val="1.5"/>
        </c:scaling>
        <c:delete val="0"/>
        <c:axPos val="l"/>
        <c:title>
          <c:tx>
            <c:rich>
              <a:bodyPr/>
              <a:lstStyle/>
              <a:p>
                <a:r>
                  <a:rPr sz="1000"/>
                  <a:t>Business value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-2115720072"/>
        <c:crossesAt val="3.5"/>
        <c:crossBetween val="midCat"/>
        <c:majorUnit val="0.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27188-497D-437C-932E-97F69D192DB6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12745-5D95-43BD-9877-2FE92F47C9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0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56B9-845E-7A88-025F-099F0F241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BDE4A-D3E0-AF93-7B25-03B99FB98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7C77-850E-38E8-B4CD-4FC7EA46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90982C-235D-4EA5-AE87-046AD1389D6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50235-3575-171E-2702-5D15CD30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198521-E121-B0F1-93F1-14C19F39B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8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26F6-5E6E-F089-9193-30519EB6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C0760-89A9-632F-3968-AAD5A659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B41C8-BD3D-5396-C710-8B38AF93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4D280C-0766-4ED7-ACE2-68754F86569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2037-7D84-F129-7C2B-E7B61376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EF8F31-F72F-1182-DF7A-00777D8D1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2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BBB6-295B-DAC7-A751-BC4EFECF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D4D88-E361-3C60-3077-AB4FD5CD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A7F5-B263-A2FA-C3BD-5BE9432B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F550B-A169-4646-918F-D607F3F514C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BF64B-EF46-3E7A-CB8F-38568DA9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FFD448-3CB0-FE0D-2049-8D5A1A88C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0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B62F-B3E2-68C2-5A99-E3A69DBF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89FCD-3F44-66E5-9090-0E4E1E80B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1CBC2-7997-4324-1CBB-F109ADF7B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16F64-F80B-8607-E5C1-0B68E982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2B2C64-D2E4-4E27-A52B-90AF564ADE2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B5CC3-4BE3-BE63-9E5E-13F7570F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C6004E2-6BFA-034C-AA70-62B9AB175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3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C9BD-212D-9339-CBEC-8BC5009A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6D4C8-9063-A98E-E5E2-B0EA850E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67C35-8F1A-1F8E-5207-22D1BFEB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6D12-9909-4736-C00B-7E6D45A8A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4E93D-3FF5-A8BF-A9BE-A1C13E217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32733-1BD6-4877-C948-C6E01256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B8A8DD-7E6A-40F7-B3CB-4EBF63BE0D4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FA493-C18B-C3C1-E68D-D4D45BBA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B654420-AEA7-26E3-954E-18177596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8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3723-0002-C813-E2AA-A0633DAA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76802-633C-FDDA-A963-3AB8E566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45BA-EEDC-4AA2-85CB-EB1286D9B94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4DB26-5E30-FA20-CBF3-3244647E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B25A-3BBD-7BE7-0A77-6E8EBDC49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9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52692-A395-BC7D-B93B-96633C3F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F3096-14CE-4C84-89F5-3D1CA827AEB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15173-A594-8045-EFCB-8FAC2439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EBE67BD-C9BB-C2B6-FF94-3ADDE0772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7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1C8-896E-8C59-9785-AD1277D3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010C-E6BA-D1AD-9254-F990E0E53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ED7E5-A0ED-BF67-3151-2BBDD7ACF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6C7B6-53D6-5AA2-AD1D-30F678B0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32F23E-0B7F-49FD-B87D-F370D274B5C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DBD6E-3F23-3647-7A59-5CE2856B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11A306-656A-CFD4-E4D4-FD1113609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4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8233-87FC-C91E-27A1-DAC98FBB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724AF-1231-0CFE-FE3E-BFFDEC4EB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BE4D8-2FFA-9F21-62EE-13F7F2E32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9268E-96FA-5219-685C-FEC9A261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06B6A-3845-4565-8CC4-83F0376DA02A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B52A5-F654-7120-FA7A-F6745D68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21EB0B4-7495-4D36-D038-794B1E7B9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5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5403-38D1-CB03-7E0B-F67772D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CDEDF-46D6-A007-C5CB-A14FF9BA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1C71C-9AA6-C906-7E24-D3EDE847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17163-C962-4378-979E-DB1DC2C1AE0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1BAA6-672F-8D83-68C4-F3DB3550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CDCCBD-E791-3BF6-1093-9E9F90548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9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2C0A4-80FF-3293-9EDC-35501F67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0306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8302-3C0F-4F9A-9214-5A7BE85B0C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1202-5136-03B2-07B7-E86FF19CB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35BC4-786C-C819-15A3-854C9FE1F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6470A-302E-0840-F398-98754880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60661C-3181-4DEF-9C51-29D6300198A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4D245-0A0B-F489-505C-40E46B74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110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A9F22-5312-CC44-3455-12CC5D605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40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9132D6-0004-C34B-A570-7AECE00271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4072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31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518865" y="1238584"/>
            <a:ext cx="5722000" cy="39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518833" y="5131817"/>
            <a:ext cx="5722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1FB7996-49B2-A4E7-8E11-2A7BE5A5F1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A9F26E-0017-E26C-95DA-5533BA5C1429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FE8B507-B8E2-99F2-24F7-8AA03B379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5D4866-3EE4-287F-F272-4DB3A4C25C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36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7445513" y="3872667"/>
            <a:ext cx="2268400" cy="5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6772400" y="4306033"/>
            <a:ext cx="3614800" cy="9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2478180" y="3872667"/>
            <a:ext cx="2268400" cy="5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805067" y="4306033"/>
            <a:ext cx="3614800" cy="9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9601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AE6FADCA-D9FD-1646-C0CC-303C063433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4E6CCE-C446-16CB-97E2-462D19F6B345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10786B5-453C-0FA5-9677-05356E193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E5D839D-F77C-FD04-7BB7-9F6B85F599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59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601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6F913C3-CE7A-96FE-33B5-49AAF4E516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D130C8-59D4-EED9-3F3D-74B1A2680D0F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3384B5D-4F7B-C868-E9EF-EC3D41C2C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DFD696D-90DC-3AD4-3871-5C55A8E38F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68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316217" y="1912800"/>
            <a:ext cx="4490400" cy="30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706971" y="1912800"/>
            <a:ext cx="2622800" cy="30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37131775-8EBA-B69D-2AC2-7A0FB0B4C6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A5E143-1213-F6F3-AB15-5A1DD234F095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1DEFA47-FCC1-AA07-3926-5BAE17654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1500E7-41E8-9423-05EA-8A045A201D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36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229667" y="1891600"/>
            <a:ext cx="5732800" cy="30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A1BDA0B-1D2E-3DF0-896F-610756DA93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57234D-A54D-317C-8581-CA65F6C6C50A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3F04E4-944C-6F3A-8E99-256F673F6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017CAAB-B847-776D-A5C2-E2F6D162BA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14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97100" y="1295800"/>
            <a:ext cx="5050400" cy="42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6399933" y="2605600"/>
            <a:ext cx="25868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6465560" y="1334833"/>
            <a:ext cx="2702400" cy="24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68EA74F6-B83C-D311-BCE3-750BB2687C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2207A-7B5F-1BFA-7821-B8F9EA07F77F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DC3DAA7-247C-6FFA-4BA7-0AB364E8A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F5A25B0-0C48-9CC9-7442-33F0E2DAD7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41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960133" y="2275800"/>
            <a:ext cx="3679600" cy="23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AA1B853-BC18-5FDD-202D-D287DE41E8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02174-71A2-CA36-E193-A7C2FDD1EF2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7C863A7-7109-0586-0D52-E92192D5F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570CC8C-E128-BABA-749A-C448344BAD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24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867C89C1-24CE-A0AD-46DE-4E2BF16A76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tx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FBC81E-90AC-7BFA-751D-FFA60FB2EB4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35B8C41-4330-F0BB-F15B-ED7E55B48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FF20C79-5DD5-86A4-8F75-EB3F7F1291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29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95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2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2096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013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507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6260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094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9238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84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309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737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theme" Target="../theme/theme2.xml"/><Relationship Id="rId10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45590-711B-5322-A074-ECC2635D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4107C-3C70-B4C9-9FB4-B203AF11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611AC22-8682-185B-E81E-3998E43C5A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FFFAFE-857A-C1D6-F091-5383AB21C99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0A9FA7B8-5519-3C4F-1621-808E4A61E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8F926F69-F90C-748E-F591-DB24EE0832C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111023" y="6530231"/>
            <a:ext cx="668633" cy="1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7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9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96E5D4B2-0499-F419-3205-0C0C06078C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8EC0-7D0B-15AE-45D3-35E8FF6969D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3D58C54-BD57-2D29-6112-314BCAEB2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BA5884-F404-5E37-FB3A-17A5A2EBEE6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718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4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1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3.png"/><Relationship Id="rId3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chart" Target="../charts/char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3.png"/><Relationship Id="rId3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chart" Target="../charts/char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3.png"/><Relationship Id="rId3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4.png"/><Relationship Id="rId3" Type="http://schemas.openxmlformats.org/officeDocument/2006/relationships/image" Target="../media/image2.png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69" name="Picture 2068" descr="A computer chip with lights&#10;&#10;Description automatically generated">
            <a:extLst>
              <a:ext uri="{FF2B5EF4-FFF2-40B4-BE49-F238E27FC236}">
                <a16:creationId xmlns:a16="http://schemas.microsoft.com/office/drawing/2014/main" id="{73D32A07-7D4C-B962-C8B4-54F17572F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3" t="9922" r="10349" b="10698"/>
          <a:stretch/>
        </p:blipFill>
        <p:spPr>
          <a:xfrm>
            <a:off x="-1" y="0"/>
            <a:ext cx="12202417" cy="6858000"/>
          </a:xfrm>
          <a:prstGeom prst="rect">
            <a:avLst/>
          </a:prstGeom>
        </p:spPr>
      </p:pic>
      <p:sp>
        <p:nvSpPr>
          <p:cNvPr id="2070" name="Rectangle 2069">
            <a:extLst>
              <a:ext uri="{FF2B5EF4-FFF2-40B4-BE49-F238E27FC236}">
                <a16:creationId xmlns:a16="http://schemas.microsoft.com/office/drawing/2014/main" id="{816D609C-CB6E-8EC9-5E35-E854B7F01BF4}"/>
              </a:ext>
            </a:extLst>
          </p:cNvPr>
          <p:cNvSpPr/>
          <p:nvPr/>
        </p:nvSpPr>
        <p:spPr>
          <a:xfrm>
            <a:off x="0" y="0"/>
            <a:ext cx="12202417" cy="6858000"/>
          </a:xfrm>
          <a:prstGeom prst="rect">
            <a:avLst/>
          </a:prstGeom>
          <a:solidFill>
            <a:srgbClr val="4F2D7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DE1AF3C9-24AC-CDC7-AA18-4157E2EE443E}"/>
              </a:ext>
            </a:extLst>
          </p:cNvPr>
          <p:cNvGrpSpPr/>
          <p:nvPr/>
        </p:nvGrpSpPr>
        <p:grpSpPr>
          <a:xfrm>
            <a:off x="413591" y="1222666"/>
            <a:ext cx="4542222" cy="3707589"/>
            <a:chOff x="572837" y="1447134"/>
            <a:chExt cx="4542222" cy="3707589"/>
          </a:xfrm>
          <a:solidFill>
            <a:srgbClr val="4F2D7F">
              <a:alpha val="81176"/>
            </a:srgbClr>
          </a:solidFill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1FDBC604-962A-DB8C-83E7-13242E4B72FC}"/>
                </a:ext>
              </a:extLst>
            </p:cNvPr>
            <p:cNvSpPr/>
            <p:nvPr/>
          </p:nvSpPr>
          <p:spPr>
            <a:xfrm>
              <a:off x="572837" y="1447134"/>
              <a:ext cx="4542222" cy="3707589"/>
            </a:xfrm>
            <a:custGeom>
              <a:avLst/>
              <a:gdLst/>
              <a:ahLst/>
              <a:cxnLst/>
              <a:rect l="l" t="t" r="r" b="b"/>
              <a:pathLst>
                <a:path w="16256000" h="13268961">
                  <a:moveTo>
                    <a:pt x="873506" y="0"/>
                  </a:moveTo>
                  <a:cubicBezTo>
                    <a:pt x="391033" y="635"/>
                    <a:pt x="0" y="364490"/>
                    <a:pt x="0" y="812927"/>
                  </a:cubicBezTo>
                  <a:lnTo>
                    <a:pt x="0" y="12451461"/>
                  </a:lnTo>
                  <a:cubicBezTo>
                    <a:pt x="0" y="12900533"/>
                    <a:pt x="391668" y="13264387"/>
                    <a:pt x="874776" y="13264387"/>
                  </a:cubicBezTo>
                  <a:lnTo>
                    <a:pt x="11544554" y="13268961"/>
                  </a:lnTo>
                  <a:lnTo>
                    <a:pt x="11544554" y="13260705"/>
                  </a:lnTo>
                  <a:lnTo>
                    <a:pt x="11634089" y="13264387"/>
                  </a:lnTo>
                  <a:cubicBezTo>
                    <a:pt x="14027150" y="13264387"/>
                    <a:pt x="15995396" y="11723751"/>
                    <a:pt x="16232124" y="9749409"/>
                  </a:cubicBezTo>
                  <a:lnTo>
                    <a:pt x="16248887" y="9468866"/>
                  </a:lnTo>
                  <a:lnTo>
                    <a:pt x="16256000" y="813054"/>
                  </a:lnTo>
                  <a:cubicBezTo>
                    <a:pt x="16256000" y="364490"/>
                    <a:pt x="15864967" y="635"/>
                    <a:pt x="15382494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endParaRPr lang="en-US" sz="1828" dirty="0"/>
            </a:p>
          </p:txBody>
        </p:sp>
        <p:grpSp>
          <p:nvGrpSpPr>
            <p:cNvPr id="41" name="Group 17">
              <a:extLst>
                <a:ext uri="{FF2B5EF4-FFF2-40B4-BE49-F238E27FC236}">
                  <a16:creationId xmlns:a16="http://schemas.microsoft.com/office/drawing/2014/main" id="{918557DA-1B6C-504B-34FF-5FEB34EFC423}"/>
                </a:ext>
              </a:extLst>
            </p:cNvPr>
            <p:cNvGrpSpPr/>
            <p:nvPr/>
          </p:nvGrpSpPr>
          <p:grpSpPr>
            <a:xfrm>
              <a:off x="1630821" y="4171781"/>
              <a:ext cx="916104" cy="678800"/>
              <a:chOff x="0" y="0"/>
              <a:chExt cx="1202680" cy="891143"/>
            </a:xfrm>
            <a:grpFill/>
          </p:grpSpPr>
          <p:sp>
            <p:nvSpPr>
              <p:cNvPr id="42" name="Freeform 18">
                <a:extLst>
                  <a:ext uri="{FF2B5EF4-FFF2-40B4-BE49-F238E27FC236}">
                    <a16:creationId xmlns:a16="http://schemas.microsoft.com/office/drawing/2014/main" id="{E34E5AFC-4359-ECB4-99E3-C705004B28A7}"/>
                  </a:ext>
                </a:extLst>
              </p:cNvPr>
              <p:cNvSpPr/>
              <p:nvPr/>
            </p:nvSpPr>
            <p:spPr>
              <a:xfrm>
                <a:off x="312183" y="0"/>
                <a:ext cx="578313" cy="578313"/>
              </a:xfrm>
              <a:custGeom>
                <a:avLst/>
                <a:gdLst/>
                <a:ahLst/>
                <a:cxnLst/>
                <a:rect l="l" t="t" r="r" b="b"/>
                <a:pathLst>
                  <a:path w="578313" h="578313">
                    <a:moveTo>
                      <a:pt x="0" y="0"/>
                    </a:moveTo>
                    <a:lnTo>
                      <a:pt x="578314" y="0"/>
                    </a:lnTo>
                    <a:lnTo>
                      <a:pt x="578314" y="578313"/>
                    </a:lnTo>
                    <a:lnTo>
                      <a:pt x="0" y="57831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43" name="TextBox 19">
                <a:extLst>
                  <a:ext uri="{FF2B5EF4-FFF2-40B4-BE49-F238E27FC236}">
                    <a16:creationId xmlns:a16="http://schemas.microsoft.com/office/drawing/2014/main" id="{0143F694-D9B7-1696-3A82-00CE04B83808}"/>
                  </a:ext>
                </a:extLst>
              </p:cNvPr>
              <p:cNvSpPr txBox="1"/>
              <p:nvPr/>
            </p:nvSpPr>
            <p:spPr>
              <a:xfrm>
                <a:off x="0" y="628934"/>
                <a:ext cx="1202680" cy="26220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56"/>
                  </a:lnSpc>
                </a:pPr>
                <a:r>
                  <a:rPr lang="en-US" sz="1111" dirty="0">
                    <a:solidFill>
                      <a:srgbClr val="FFFFFF"/>
                    </a:solidFill>
                    <a:latin typeface="GT Walsheim Pro Regular" panose="02000503040000020003" pitchFamily="50" charset="0"/>
                  </a:rPr>
                  <a:t>Collaborative</a:t>
                </a:r>
              </a:p>
            </p:txBody>
          </p:sp>
        </p:grpSp>
        <p:grpSp>
          <p:nvGrpSpPr>
            <p:cNvPr id="44" name="Group 20">
              <a:extLst>
                <a:ext uri="{FF2B5EF4-FFF2-40B4-BE49-F238E27FC236}">
                  <a16:creationId xmlns:a16="http://schemas.microsoft.com/office/drawing/2014/main" id="{FEDC9E50-2530-C25D-071D-4DCA5685716A}"/>
                </a:ext>
              </a:extLst>
            </p:cNvPr>
            <p:cNvGrpSpPr/>
            <p:nvPr/>
          </p:nvGrpSpPr>
          <p:grpSpPr>
            <a:xfrm>
              <a:off x="2591399" y="4176613"/>
              <a:ext cx="916104" cy="683562"/>
              <a:chOff x="17785" y="9225"/>
              <a:chExt cx="1202680" cy="897396"/>
            </a:xfrm>
            <a:grpFill/>
          </p:grpSpPr>
          <p:grpSp>
            <p:nvGrpSpPr>
              <p:cNvPr id="45" name="Group 21">
                <a:extLst>
                  <a:ext uri="{FF2B5EF4-FFF2-40B4-BE49-F238E27FC236}">
                    <a16:creationId xmlns:a16="http://schemas.microsoft.com/office/drawing/2014/main" id="{780494CB-0263-611D-BE38-71BECA51F6B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39323" y="9225"/>
                <a:ext cx="575358" cy="575340"/>
                <a:chOff x="63496" y="63496"/>
                <a:chExt cx="3960117" cy="3959990"/>
              </a:xfrm>
              <a:grpFill/>
            </p:grpSpPr>
            <p:sp>
              <p:nvSpPr>
                <p:cNvPr id="47" name="Freeform 22">
                  <a:extLst>
                    <a:ext uri="{FF2B5EF4-FFF2-40B4-BE49-F238E27FC236}">
                      <a16:creationId xmlns:a16="http://schemas.microsoft.com/office/drawing/2014/main" id="{3A95F4C9-50B9-26D0-078C-055A07467B17}"/>
                    </a:ext>
                  </a:extLst>
                </p:cNvPr>
                <p:cNvSpPr/>
                <p:nvPr/>
              </p:nvSpPr>
              <p:spPr>
                <a:xfrm>
                  <a:off x="63496" y="63496"/>
                  <a:ext cx="3960117" cy="3959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0114" h="3959987">
                      <a:moveTo>
                        <a:pt x="1980057" y="0"/>
                      </a:moveTo>
                      <a:cubicBezTo>
                        <a:pt x="886460" y="0"/>
                        <a:pt x="0" y="886460"/>
                        <a:pt x="0" y="1980057"/>
                      </a:cubicBezTo>
                      <a:cubicBezTo>
                        <a:pt x="0" y="3073654"/>
                        <a:pt x="886460" y="3959987"/>
                        <a:pt x="1980057" y="3959987"/>
                      </a:cubicBezTo>
                      <a:cubicBezTo>
                        <a:pt x="3073654" y="3959987"/>
                        <a:pt x="3960114" y="3073527"/>
                        <a:pt x="3960114" y="1980057"/>
                      </a:cubicBezTo>
                      <a:cubicBezTo>
                        <a:pt x="3960114" y="886587"/>
                        <a:pt x="3073527" y="0"/>
                        <a:pt x="1980057" y="0"/>
                      </a:cubicBezTo>
                      <a:moveTo>
                        <a:pt x="1980057" y="127000"/>
                      </a:moveTo>
                      <a:cubicBezTo>
                        <a:pt x="2474976" y="127000"/>
                        <a:pt x="2940304" y="319786"/>
                        <a:pt x="3290316" y="669671"/>
                      </a:cubicBezTo>
                      <a:cubicBezTo>
                        <a:pt x="3640328" y="1019556"/>
                        <a:pt x="3832987" y="1485011"/>
                        <a:pt x="3832987" y="1979930"/>
                      </a:cubicBezTo>
                      <a:cubicBezTo>
                        <a:pt x="3832987" y="2474849"/>
                        <a:pt x="3640201" y="2940177"/>
                        <a:pt x="3290316" y="3290189"/>
                      </a:cubicBezTo>
                      <a:cubicBezTo>
                        <a:pt x="2940431" y="3640201"/>
                        <a:pt x="2474976" y="3832987"/>
                        <a:pt x="1980057" y="3832987"/>
                      </a:cubicBezTo>
                      <a:cubicBezTo>
                        <a:pt x="1485138" y="3832987"/>
                        <a:pt x="1019810" y="3640201"/>
                        <a:pt x="669798" y="3290189"/>
                      </a:cubicBezTo>
                      <a:cubicBezTo>
                        <a:pt x="319786" y="2940177"/>
                        <a:pt x="127000" y="2474976"/>
                        <a:pt x="127000" y="1980057"/>
                      </a:cubicBezTo>
                      <a:cubicBezTo>
                        <a:pt x="127000" y="1485138"/>
                        <a:pt x="319786" y="1019683"/>
                        <a:pt x="669798" y="669671"/>
                      </a:cubicBezTo>
                      <a:cubicBezTo>
                        <a:pt x="1019810" y="319659"/>
                        <a:pt x="1485011" y="127000"/>
                        <a:pt x="1980057" y="127000"/>
                      </a:cubicBezTo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48" name="Freeform 23">
                  <a:extLst>
                    <a:ext uri="{FF2B5EF4-FFF2-40B4-BE49-F238E27FC236}">
                      <a16:creationId xmlns:a16="http://schemas.microsoft.com/office/drawing/2014/main" id="{B32D3C51-9F00-3261-6041-F3495AD05D55}"/>
                    </a:ext>
                  </a:extLst>
                </p:cNvPr>
                <p:cNvSpPr/>
                <p:nvPr/>
              </p:nvSpPr>
              <p:spPr>
                <a:xfrm>
                  <a:off x="1374648" y="1043940"/>
                  <a:ext cx="1337056" cy="133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056" h="1337056">
                      <a:moveTo>
                        <a:pt x="1337056" y="668528"/>
                      </a:moveTo>
                      <a:cubicBezTo>
                        <a:pt x="1337056" y="1037717"/>
                        <a:pt x="1037717" y="1337056"/>
                        <a:pt x="668528" y="1337056"/>
                      </a:cubicBezTo>
                      <a:cubicBezTo>
                        <a:pt x="299339" y="1337056"/>
                        <a:pt x="0" y="1037717"/>
                        <a:pt x="0" y="668528"/>
                      </a:cubicBezTo>
                      <a:lnTo>
                        <a:pt x="63500" y="668528"/>
                      </a:lnTo>
                      <a:lnTo>
                        <a:pt x="0" y="668528"/>
                      </a:lnTo>
                      <a:cubicBezTo>
                        <a:pt x="0" y="299339"/>
                        <a:pt x="299339" y="0"/>
                        <a:pt x="668528" y="0"/>
                      </a:cubicBezTo>
                      <a:lnTo>
                        <a:pt x="668528" y="63500"/>
                      </a:lnTo>
                      <a:lnTo>
                        <a:pt x="668528" y="0"/>
                      </a:lnTo>
                      <a:cubicBezTo>
                        <a:pt x="1037717" y="0"/>
                        <a:pt x="1337056" y="299339"/>
                        <a:pt x="1337056" y="668528"/>
                      </a:cubicBezTo>
                      <a:lnTo>
                        <a:pt x="1273556" y="668528"/>
                      </a:lnTo>
                      <a:lnTo>
                        <a:pt x="1337056" y="668528"/>
                      </a:lnTo>
                      <a:moveTo>
                        <a:pt x="1210056" y="668528"/>
                      </a:moveTo>
                      <a:cubicBezTo>
                        <a:pt x="1210056" y="369443"/>
                        <a:pt x="967613" y="127000"/>
                        <a:pt x="668528" y="127000"/>
                      </a:cubicBezTo>
                      <a:cubicBezTo>
                        <a:pt x="369443" y="127000"/>
                        <a:pt x="127000" y="369443"/>
                        <a:pt x="127000" y="668528"/>
                      </a:cubicBezTo>
                      <a:cubicBezTo>
                        <a:pt x="127000" y="967613"/>
                        <a:pt x="369443" y="1210056"/>
                        <a:pt x="668528" y="1210056"/>
                      </a:cubicBezTo>
                      <a:cubicBezTo>
                        <a:pt x="967613" y="1210056"/>
                        <a:pt x="1210056" y="967613"/>
                        <a:pt x="1210056" y="66852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49" name="Freeform 24">
                  <a:extLst>
                    <a:ext uri="{FF2B5EF4-FFF2-40B4-BE49-F238E27FC236}">
                      <a16:creationId xmlns:a16="http://schemas.microsoft.com/office/drawing/2014/main" id="{0056D7FD-4921-D2F2-EF51-CE13FBD6B8A9}"/>
                    </a:ext>
                  </a:extLst>
                </p:cNvPr>
                <p:cNvSpPr/>
                <p:nvPr/>
              </p:nvSpPr>
              <p:spPr>
                <a:xfrm>
                  <a:off x="1839214" y="1310386"/>
                  <a:ext cx="408432" cy="80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32" h="804291">
                      <a:moveTo>
                        <a:pt x="262890" y="96520"/>
                      </a:moveTo>
                      <a:lnTo>
                        <a:pt x="125349" y="426466"/>
                      </a:lnTo>
                      <a:lnTo>
                        <a:pt x="66675" y="402082"/>
                      </a:lnTo>
                      <a:lnTo>
                        <a:pt x="66675" y="338582"/>
                      </a:lnTo>
                      <a:lnTo>
                        <a:pt x="341630" y="338582"/>
                      </a:lnTo>
                      <a:cubicBezTo>
                        <a:pt x="362839" y="338582"/>
                        <a:pt x="382651" y="349250"/>
                        <a:pt x="394462" y="366903"/>
                      </a:cubicBezTo>
                      <a:cubicBezTo>
                        <a:pt x="406273" y="384556"/>
                        <a:pt x="408432" y="406908"/>
                        <a:pt x="400304" y="426593"/>
                      </a:cubicBezTo>
                      <a:lnTo>
                        <a:pt x="262763" y="756666"/>
                      </a:lnTo>
                      <a:cubicBezTo>
                        <a:pt x="249301" y="789051"/>
                        <a:pt x="212090" y="804291"/>
                        <a:pt x="179705" y="790829"/>
                      </a:cubicBezTo>
                      <a:cubicBezTo>
                        <a:pt x="147320" y="777367"/>
                        <a:pt x="132080" y="740156"/>
                        <a:pt x="145542" y="707771"/>
                      </a:cubicBezTo>
                      <a:lnTo>
                        <a:pt x="283083" y="377698"/>
                      </a:lnTo>
                      <a:lnTo>
                        <a:pt x="341757" y="402082"/>
                      </a:lnTo>
                      <a:lnTo>
                        <a:pt x="341757" y="465582"/>
                      </a:lnTo>
                      <a:lnTo>
                        <a:pt x="66802" y="465582"/>
                      </a:lnTo>
                      <a:cubicBezTo>
                        <a:pt x="45593" y="465582"/>
                        <a:pt x="25781" y="454914"/>
                        <a:pt x="13970" y="437261"/>
                      </a:cubicBezTo>
                      <a:cubicBezTo>
                        <a:pt x="2159" y="419608"/>
                        <a:pt x="0" y="397256"/>
                        <a:pt x="8128" y="377571"/>
                      </a:cubicBezTo>
                      <a:lnTo>
                        <a:pt x="145669" y="47625"/>
                      </a:lnTo>
                      <a:cubicBezTo>
                        <a:pt x="159131" y="15240"/>
                        <a:pt x="196342" y="0"/>
                        <a:pt x="228727" y="13462"/>
                      </a:cubicBezTo>
                      <a:cubicBezTo>
                        <a:pt x="261112" y="26924"/>
                        <a:pt x="276352" y="64135"/>
                        <a:pt x="262890" y="9652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50" name="Freeform 25">
                  <a:extLst>
                    <a:ext uri="{FF2B5EF4-FFF2-40B4-BE49-F238E27FC236}">
                      <a16:creationId xmlns:a16="http://schemas.microsoft.com/office/drawing/2014/main" id="{A4C8DCCA-39DE-1429-50E8-B7E2C9974D63}"/>
                    </a:ext>
                  </a:extLst>
                </p:cNvPr>
                <p:cNvSpPr/>
                <p:nvPr/>
              </p:nvSpPr>
              <p:spPr>
                <a:xfrm>
                  <a:off x="1058291" y="731139"/>
                  <a:ext cx="2276094" cy="2576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6094" h="2576322">
                      <a:moveTo>
                        <a:pt x="288798" y="2391029"/>
                      </a:moveTo>
                      <a:lnTo>
                        <a:pt x="288798" y="1689481"/>
                      </a:lnTo>
                      <a:lnTo>
                        <a:pt x="352298" y="1689481"/>
                      </a:lnTo>
                      <a:lnTo>
                        <a:pt x="307340" y="1734312"/>
                      </a:lnTo>
                      <a:cubicBezTo>
                        <a:pt x="126492" y="1553083"/>
                        <a:pt x="0" y="1283462"/>
                        <a:pt x="0" y="1005459"/>
                      </a:cubicBezTo>
                      <a:lnTo>
                        <a:pt x="63500" y="1005459"/>
                      </a:lnTo>
                      <a:lnTo>
                        <a:pt x="0" y="1005459"/>
                      </a:lnTo>
                      <a:cubicBezTo>
                        <a:pt x="0" y="451231"/>
                        <a:pt x="438912" y="0"/>
                        <a:pt x="995045" y="0"/>
                      </a:cubicBezTo>
                      <a:lnTo>
                        <a:pt x="995045" y="63500"/>
                      </a:lnTo>
                      <a:lnTo>
                        <a:pt x="995045" y="0"/>
                      </a:lnTo>
                      <a:cubicBezTo>
                        <a:pt x="1549400" y="0"/>
                        <a:pt x="2010664" y="449326"/>
                        <a:pt x="2010664" y="1005459"/>
                      </a:cubicBezTo>
                      <a:lnTo>
                        <a:pt x="1947164" y="1005459"/>
                      </a:lnTo>
                      <a:lnTo>
                        <a:pt x="2010664" y="1005459"/>
                      </a:lnTo>
                      <a:cubicBezTo>
                        <a:pt x="2010664" y="1009777"/>
                        <a:pt x="2010664" y="1013968"/>
                        <a:pt x="2010791" y="1018667"/>
                      </a:cubicBezTo>
                      <a:lnTo>
                        <a:pt x="2010918" y="1027938"/>
                      </a:lnTo>
                      <a:lnTo>
                        <a:pt x="2010918" y="1032891"/>
                      </a:lnTo>
                      <a:lnTo>
                        <a:pt x="2010791" y="1043432"/>
                      </a:lnTo>
                      <a:lnTo>
                        <a:pt x="1947164" y="1046734"/>
                      </a:lnTo>
                      <a:lnTo>
                        <a:pt x="2004060" y="1018540"/>
                      </a:lnTo>
                      <a:lnTo>
                        <a:pt x="2266315" y="1547876"/>
                      </a:lnTo>
                      <a:cubicBezTo>
                        <a:pt x="2276094" y="1567561"/>
                        <a:pt x="2274951" y="1590929"/>
                        <a:pt x="2263394" y="1609598"/>
                      </a:cubicBezTo>
                      <a:cubicBezTo>
                        <a:pt x="2251837" y="1628267"/>
                        <a:pt x="2231390" y="1639570"/>
                        <a:pt x="2209419" y="1639570"/>
                      </a:cubicBezTo>
                      <a:lnTo>
                        <a:pt x="1906143" y="1639570"/>
                      </a:lnTo>
                      <a:lnTo>
                        <a:pt x="1906143" y="1576070"/>
                      </a:lnTo>
                      <a:lnTo>
                        <a:pt x="1969643" y="1576070"/>
                      </a:lnTo>
                      <a:lnTo>
                        <a:pt x="1969643" y="1868297"/>
                      </a:lnTo>
                      <a:lnTo>
                        <a:pt x="1906143" y="1868297"/>
                      </a:lnTo>
                      <a:lnTo>
                        <a:pt x="1969643" y="1868297"/>
                      </a:lnTo>
                      <a:cubicBezTo>
                        <a:pt x="1969643" y="2044954"/>
                        <a:pt x="1849882" y="2158619"/>
                        <a:pt x="1675765" y="2158619"/>
                      </a:cubicBezTo>
                      <a:lnTo>
                        <a:pt x="1335405" y="2158619"/>
                      </a:lnTo>
                      <a:lnTo>
                        <a:pt x="1335405" y="2095119"/>
                      </a:lnTo>
                      <a:lnTo>
                        <a:pt x="1398905" y="2095119"/>
                      </a:lnTo>
                      <a:lnTo>
                        <a:pt x="1398905" y="2512822"/>
                      </a:lnTo>
                      <a:cubicBezTo>
                        <a:pt x="1398905" y="2547874"/>
                        <a:pt x="1370457" y="2576322"/>
                        <a:pt x="1335405" y="2576322"/>
                      </a:cubicBezTo>
                      <a:cubicBezTo>
                        <a:pt x="1300353" y="2576322"/>
                        <a:pt x="1271905" y="2547874"/>
                        <a:pt x="1271905" y="2512822"/>
                      </a:cubicBezTo>
                      <a:lnTo>
                        <a:pt x="1271905" y="2094992"/>
                      </a:lnTo>
                      <a:cubicBezTo>
                        <a:pt x="1271905" y="2059940"/>
                        <a:pt x="1300353" y="2031492"/>
                        <a:pt x="1335405" y="2031492"/>
                      </a:cubicBezTo>
                      <a:lnTo>
                        <a:pt x="1675765" y="2031492"/>
                      </a:lnTo>
                      <a:cubicBezTo>
                        <a:pt x="1782318" y="2031492"/>
                        <a:pt x="1842643" y="1972056"/>
                        <a:pt x="1842643" y="1868170"/>
                      </a:cubicBezTo>
                      <a:lnTo>
                        <a:pt x="1842643" y="1575943"/>
                      </a:lnTo>
                      <a:cubicBezTo>
                        <a:pt x="1842643" y="1540891"/>
                        <a:pt x="1871091" y="1512443"/>
                        <a:pt x="1906143" y="1512443"/>
                      </a:cubicBezTo>
                      <a:lnTo>
                        <a:pt x="2209546" y="1512443"/>
                      </a:lnTo>
                      <a:lnTo>
                        <a:pt x="2209546" y="1575943"/>
                      </a:lnTo>
                      <a:lnTo>
                        <a:pt x="2152650" y="1604137"/>
                      </a:lnTo>
                      <a:lnTo>
                        <a:pt x="1890395" y="1074801"/>
                      </a:lnTo>
                      <a:cubicBezTo>
                        <a:pt x="1885696" y="1065276"/>
                        <a:pt x="1883410" y="1054735"/>
                        <a:pt x="1883791" y="1044194"/>
                      </a:cubicBezTo>
                      <a:lnTo>
                        <a:pt x="1884045" y="1036828"/>
                      </a:lnTo>
                      <a:lnTo>
                        <a:pt x="1884045" y="1032891"/>
                      </a:lnTo>
                      <a:lnTo>
                        <a:pt x="1884045" y="1024890"/>
                      </a:lnTo>
                      <a:lnTo>
                        <a:pt x="1883918" y="1010793"/>
                      </a:lnTo>
                      <a:lnTo>
                        <a:pt x="1883918" y="1005459"/>
                      </a:lnTo>
                      <a:cubicBezTo>
                        <a:pt x="1883918" y="521335"/>
                        <a:pt x="1481328" y="127000"/>
                        <a:pt x="995299" y="127000"/>
                      </a:cubicBezTo>
                      <a:cubicBezTo>
                        <a:pt x="511048" y="127000"/>
                        <a:pt x="127254" y="519430"/>
                        <a:pt x="127254" y="1005459"/>
                      </a:cubicBezTo>
                      <a:cubicBezTo>
                        <a:pt x="127254" y="1246759"/>
                        <a:pt x="238125" y="1484884"/>
                        <a:pt x="397510" y="1644650"/>
                      </a:cubicBezTo>
                      <a:cubicBezTo>
                        <a:pt x="409448" y="1656588"/>
                        <a:pt x="416052" y="1672717"/>
                        <a:pt x="416052" y="1689481"/>
                      </a:cubicBezTo>
                      <a:lnTo>
                        <a:pt x="416052" y="2391156"/>
                      </a:lnTo>
                      <a:cubicBezTo>
                        <a:pt x="416052" y="2426208"/>
                        <a:pt x="387604" y="2454656"/>
                        <a:pt x="352552" y="2454656"/>
                      </a:cubicBezTo>
                      <a:cubicBezTo>
                        <a:pt x="317500" y="2454656"/>
                        <a:pt x="289052" y="2426208"/>
                        <a:pt x="289052" y="239115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51" name="Freeform 26">
                  <a:extLst>
                    <a:ext uri="{FF2B5EF4-FFF2-40B4-BE49-F238E27FC236}">
                      <a16:creationId xmlns:a16="http://schemas.microsoft.com/office/drawing/2014/main" id="{06F28DCE-70C7-890A-CADC-9475A90E9EE1}"/>
                    </a:ext>
                  </a:extLst>
                </p:cNvPr>
                <p:cNvSpPr/>
                <p:nvPr/>
              </p:nvSpPr>
              <p:spPr>
                <a:xfrm>
                  <a:off x="1378458" y="3067558"/>
                  <a:ext cx="1067435" cy="28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435" h="289687">
                      <a:moveTo>
                        <a:pt x="1067435" y="226822"/>
                      </a:moveTo>
                      <a:lnTo>
                        <a:pt x="1033145" y="237363"/>
                      </a:lnTo>
                      <a:cubicBezTo>
                        <a:pt x="916178" y="271399"/>
                        <a:pt x="792480" y="289687"/>
                        <a:pt x="664718" y="289687"/>
                      </a:cubicBezTo>
                      <a:cubicBezTo>
                        <a:pt x="422275" y="289687"/>
                        <a:pt x="195072" y="224028"/>
                        <a:pt x="0" y="109474"/>
                      </a:cubicBezTo>
                      <a:lnTo>
                        <a:pt x="64262" y="0"/>
                      </a:lnTo>
                      <a:cubicBezTo>
                        <a:pt x="240411" y="103378"/>
                        <a:pt x="445516" y="162687"/>
                        <a:pt x="664718" y="162687"/>
                      </a:cubicBezTo>
                      <a:cubicBezTo>
                        <a:pt x="780415" y="162687"/>
                        <a:pt x="892048" y="146177"/>
                        <a:pt x="997585" y="115443"/>
                      </a:cubicBezTo>
                      <a:lnTo>
                        <a:pt x="1015365" y="176403"/>
                      </a:lnTo>
                      <a:lnTo>
                        <a:pt x="997585" y="115443"/>
                      </a:lnTo>
                      <a:cubicBezTo>
                        <a:pt x="1007999" y="112395"/>
                        <a:pt x="1018286" y="109220"/>
                        <a:pt x="1028573" y="10591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</p:grpSp>
          <p:sp>
            <p:nvSpPr>
              <p:cNvPr id="46" name="TextBox 27">
                <a:extLst>
                  <a:ext uri="{FF2B5EF4-FFF2-40B4-BE49-F238E27FC236}">
                    <a16:creationId xmlns:a16="http://schemas.microsoft.com/office/drawing/2014/main" id="{904B4456-BA89-9444-9E9C-D89851A6D8AE}"/>
                  </a:ext>
                </a:extLst>
              </p:cNvPr>
              <p:cNvSpPr txBox="1"/>
              <p:nvPr/>
            </p:nvSpPr>
            <p:spPr>
              <a:xfrm>
                <a:off x="17785" y="644412"/>
                <a:ext cx="1202680" cy="26220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56"/>
                  </a:lnSpc>
                </a:pPr>
                <a:r>
                  <a:rPr lang="en-US" sz="1111" dirty="0">
                    <a:solidFill>
                      <a:srgbClr val="FFFFFF"/>
                    </a:solidFill>
                    <a:latin typeface="GT Walsheim Pro Regular" panose="02000503040000020003" pitchFamily="50" charset="0"/>
                  </a:rPr>
                  <a:t>Innovative</a:t>
                </a:r>
              </a:p>
            </p:txBody>
          </p:sp>
        </p:grpSp>
        <p:grpSp>
          <p:nvGrpSpPr>
            <p:cNvPr id="52" name="Group 39">
              <a:extLst>
                <a:ext uri="{FF2B5EF4-FFF2-40B4-BE49-F238E27FC236}">
                  <a16:creationId xmlns:a16="http://schemas.microsoft.com/office/drawing/2014/main" id="{621FAD1B-3D86-BAAD-78F2-8B40577F53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1133" y="4171781"/>
              <a:ext cx="448436" cy="448436"/>
              <a:chOff x="0" y="0"/>
              <a:chExt cx="4087000" cy="4087000"/>
            </a:xfrm>
            <a:grpFill/>
          </p:grpSpPr>
          <p:sp>
            <p:nvSpPr>
              <p:cNvPr id="53" name="Freeform 40">
                <a:extLst>
                  <a:ext uri="{FF2B5EF4-FFF2-40B4-BE49-F238E27FC236}">
                    <a16:creationId xmlns:a16="http://schemas.microsoft.com/office/drawing/2014/main" id="{6424DA76-3A63-3955-FC85-4EDAE87984FA}"/>
                  </a:ext>
                </a:extLst>
              </p:cNvPr>
              <p:cNvSpPr/>
              <p:nvPr/>
            </p:nvSpPr>
            <p:spPr>
              <a:xfrm>
                <a:off x="63500" y="63500"/>
                <a:ext cx="3960114" cy="3959987"/>
              </a:xfrm>
              <a:custGeom>
                <a:avLst/>
                <a:gdLst/>
                <a:ahLst/>
                <a:cxnLst/>
                <a:rect l="l" t="t" r="r" b="b"/>
                <a:pathLst>
                  <a:path w="3960114" h="3959987">
                    <a:moveTo>
                      <a:pt x="1980057" y="0"/>
                    </a:moveTo>
                    <a:cubicBezTo>
                      <a:pt x="886460" y="0"/>
                      <a:pt x="0" y="886460"/>
                      <a:pt x="0" y="1980057"/>
                    </a:cubicBezTo>
                    <a:cubicBezTo>
                      <a:pt x="0" y="3073654"/>
                      <a:pt x="886460" y="3959987"/>
                      <a:pt x="1980057" y="3959987"/>
                    </a:cubicBezTo>
                    <a:cubicBezTo>
                      <a:pt x="3073654" y="3959987"/>
                      <a:pt x="3960114" y="3073527"/>
                      <a:pt x="3960114" y="1980057"/>
                    </a:cubicBezTo>
                    <a:cubicBezTo>
                      <a:pt x="3960114" y="886587"/>
                      <a:pt x="3073527" y="0"/>
                      <a:pt x="1980057" y="0"/>
                    </a:cubicBezTo>
                    <a:moveTo>
                      <a:pt x="1980057" y="127000"/>
                    </a:moveTo>
                    <a:cubicBezTo>
                      <a:pt x="2474976" y="127000"/>
                      <a:pt x="2940304" y="319786"/>
                      <a:pt x="3290316" y="669671"/>
                    </a:cubicBezTo>
                    <a:cubicBezTo>
                      <a:pt x="3640328" y="1019556"/>
                      <a:pt x="3832987" y="1485011"/>
                      <a:pt x="3832987" y="1979930"/>
                    </a:cubicBezTo>
                    <a:cubicBezTo>
                      <a:pt x="3832987" y="2474849"/>
                      <a:pt x="3640201" y="2940177"/>
                      <a:pt x="3290316" y="3290189"/>
                    </a:cubicBezTo>
                    <a:cubicBezTo>
                      <a:pt x="2940431" y="3640201"/>
                      <a:pt x="2474976" y="3832987"/>
                      <a:pt x="1980057" y="3832987"/>
                    </a:cubicBezTo>
                    <a:cubicBezTo>
                      <a:pt x="1485138" y="3832987"/>
                      <a:pt x="1019810" y="3640201"/>
                      <a:pt x="669798" y="3290189"/>
                    </a:cubicBezTo>
                    <a:cubicBezTo>
                      <a:pt x="319786" y="2940177"/>
                      <a:pt x="127000" y="2474976"/>
                      <a:pt x="127000" y="1980057"/>
                    </a:cubicBezTo>
                    <a:cubicBezTo>
                      <a:pt x="127000" y="1485138"/>
                      <a:pt x="319786" y="1019683"/>
                      <a:pt x="669798" y="669671"/>
                    </a:cubicBezTo>
                    <a:cubicBezTo>
                      <a:pt x="1019810" y="319659"/>
                      <a:pt x="1485011" y="127000"/>
                      <a:pt x="1980057" y="127000"/>
                    </a:cubicBezTo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4" name="Freeform 41">
                <a:extLst>
                  <a:ext uri="{FF2B5EF4-FFF2-40B4-BE49-F238E27FC236}">
                    <a16:creationId xmlns:a16="http://schemas.microsoft.com/office/drawing/2014/main" id="{94012937-42CE-4D46-B873-78ECC5872900}"/>
                  </a:ext>
                </a:extLst>
              </p:cNvPr>
              <p:cNvSpPr/>
              <p:nvPr/>
            </p:nvSpPr>
            <p:spPr>
              <a:xfrm>
                <a:off x="728726" y="728726"/>
                <a:ext cx="2629535" cy="2629535"/>
              </a:xfrm>
              <a:custGeom>
                <a:avLst/>
                <a:gdLst/>
                <a:ahLst/>
                <a:cxnLst/>
                <a:rect l="l" t="t" r="r" b="b"/>
                <a:pathLst>
                  <a:path w="2629535" h="2629535">
                    <a:moveTo>
                      <a:pt x="2502535" y="1314831"/>
                    </a:moveTo>
                    <a:cubicBezTo>
                      <a:pt x="2502535" y="658876"/>
                      <a:pt x="1970786" y="127127"/>
                      <a:pt x="1314831" y="127127"/>
                    </a:cubicBezTo>
                    <a:cubicBezTo>
                      <a:pt x="658876" y="127127"/>
                      <a:pt x="127127" y="658876"/>
                      <a:pt x="127127" y="1314831"/>
                    </a:cubicBezTo>
                    <a:lnTo>
                      <a:pt x="63627" y="1314831"/>
                    </a:lnTo>
                    <a:lnTo>
                      <a:pt x="127127" y="1314831"/>
                    </a:lnTo>
                    <a:cubicBezTo>
                      <a:pt x="127127" y="1970786"/>
                      <a:pt x="658876" y="2502535"/>
                      <a:pt x="1314831" y="2502535"/>
                    </a:cubicBezTo>
                    <a:lnTo>
                      <a:pt x="1314831" y="2566035"/>
                    </a:lnTo>
                    <a:lnTo>
                      <a:pt x="1314831" y="2502535"/>
                    </a:lnTo>
                    <a:cubicBezTo>
                      <a:pt x="1970786" y="2502535"/>
                      <a:pt x="2502535" y="1970786"/>
                      <a:pt x="2502535" y="1314831"/>
                    </a:cubicBezTo>
                    <a:lnTo>
                      <a:pt x="2566035" y="1314831"/>
                    </a:lnTo>
                    <a:lnTo>
                      <a:pt x="2502535" y="1314831"/>
                    </a:lnTo>
                    <a:moveTo>
                      <a:pt x="2629535" y="1314831"/>
                    </a:moveTo>
                    <a:cubicBezTo>
                      <a:pt x="2629535" y="2040890"/>
                      <a:pt x="2040890" y="2629535"/>
                      <a:pt x="1314831" y="2629535"/>
                    </a:cubicBezTo>
                    <a:cubicBezTo>
                      <a:pt x="588772" y="2629535"/>
                      <a:pt x="0" y="2040890"/>
                      <a:pt x="0" y="1314831"/>
                    </a:cubicBezTo>
                    <a:cubicBezTo>
                      <a:pt x="0" y="588772"/>
                      <a:pt x="588645" y="0"/>
                      <a:pt x="1314831" y="0"/>
                    </a:cubicBezTo>
                    <a:cubicBezTo>
                      <a:pt x="2041017" y="0"/>
                      <a:pt x="2629535" y="588645"/>
                      <a:pt x="2629535" y="131470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5" name="Freeform 42">
                <a:extLst>
                  <a:ext uri="{FF2B5EF4-FFF2-40B4-BE49-F238E27FC236}">
                    <a16:creationId xmlns:a16="http://schemas.microsoft.com/office/drawing/2014/main" id="{59B638D0-D41D-F2AE-66EF-C3A06BF6B9C7}"/>
                  </a:ext>
                </a:extLst>
              </p:cNvPr>
              <p:cNvSpPr/>
              <p:nvPr/>
            </p:nvSpPr>
            <p:spPr>
              <a:xfrm>
                <a:off x="990092" y="990092"/>
                <a:ext cx="2106930" cy="2106930"/>
              </a:xfrm>
              <a:custGeom>
                <a:avLst/>
                <a:gdLst/>
                <a:ahLst/>
                <a:cxnLst/>
                <a:rect l="l" t="t" r="r" b="b"/>
                <a:pathLst>
                  <a:path w="2106930" h="2106930">
                    <a:moveTo>
                      <a:pt x="1979930" y="1053465"/>
                    </a:moveTo>
                    <a:cubicBezTo>
                      <a:pt x="1979930" y="541782"/>
                      <a:pt x="1565148" y="127000"/>
                      <a:pt x="1053465" y="127000"/>
                    </a:cubicBezTo>
                    <a:cubicBezTo>
                      <a:pt x="541782" y="127000"/>
                      <a:pt x="127000" y="541782"/>
                      <a:pt x="127000" y="1053465"/>
                    </a:cubicBezTo>
                    <a:lnTo>
                      <a:pt x="63500" y="1053465"/>
                    </a:lnTo>
                    <a:lnTo>
                      <a:pt x="127000" y="1053465"/>
                    </a:lnTo>
                    <a:cubicBezTo>
                      <a:pt x="127000" y="1565148"/>
                      <a:pt x="541782" y="1979930"/>
                      <a:pt x="1053465" y="1979930"/>
                    </a:cubicBezTo>
                    <a:lnTo>
                      <a:pt x="1053465" y="2043430"/>
                    </a:lnTo>
                    <a:lnTo>
                      <a:pt x="1053465" y="1979930"/>
                    </a:lnTo>
                    <a:cubicBezTo>
                      <a:pt x="1565148" y="1979930"/>
                      <a:pt x="1979930" y="1565148"/>
                      <a:pt x="1979930" y="1053465"/>
                    </a:cubicBezTo>
                    <a:lnTo>
                      <a:pt x="2043430" y="1053465"/>
                    </a:lnTo>
                    <a:lnTo>
                      <a:pt x="1979930" y="1053465"/>
                    </a:lnTo>
                    <a:moveTo>
                      <a:pt x="2106930" y="1053465"/>
                    </a:moveTo>
                    <a:cubicBezTo>
                      <a:pt x="2106930" y="1635252"/>
                      <a:pt x="1635252" y="2106930"/>
                      <a:pt x="1053465" y="2106930"/>
                    </a:cubicBezTo>
                    <a:cubicBezTo>
                      <a:pt x="471678" y="2106930"/>
                      <a:pt x="0" y="1635252"/>
                      <a:pt x="0" y="1053465"/>
                    </a:cubicBezTo>
                    <a:cubicBezTo>
                      <a:pt x="0" y="471678"/>
                      <a:pt x="471678" y="0"/>
                      <a:pt x="1053465" y="0"/>
                    </a:cubicBezTo>
                    <a:cubicBezTo>
                      <a:pt x="1635252" y="0"/>
                      <a:pt x="2106930" y="471678"/>
                      <a:pt x="2106930" y="10534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6" name="Freeform 43">
                <a:extLst>
                  <a:ext uri="{FF2B5EF4-FFF2-40B4-BE49-F238E27FC236}">
                    <a16:creationId xmlns:a16="http://schemas.microsoft.com/office/drawing/2014/main" id="{ABE78DE1-87BF-EE3C-2CCD-5266DCC7FD2D}"/>
                  </a:ext>
                </a:extLst>
              </p:cNvPr>
              <p:cNvSpPr/>
              <p:nvPr/>
            </p:nvSpPr>
            <p:spPr>
              <a:xfrm>
                <a:off x="2215261" y="1495806"/>
                <a:ext cx="375920" cy="862076"/>
              </a:xfrm>
              <a:custGeom>
                <a:avLst/>
                <a:gdLst/>
                <a:ahLst/>
                <a:cxnLst/>
                <a:rect l="l" t="t" r="r" b="b"/>
                <a:pathLst>
                  <a:path w="375920" h="862076">
                    <a:moveTo>
                      <a:pt x="365125" y="90932"/>
                    </a:moveTo>
                    <a:lnTo>
                      <a:pt x="131699" y="810387"/>
                    </a:lnTo>
                    <a:cubicBezTo>
                      <a:pt x="120904" y="843788"/>
                      <a:pt x="85090" y="862076"/>
                      <a:pt x="51689" y="851154"/>
                    </a:cubicBezTo>
                    <a:cubicBezTo>
                      <a:pt x="18288" y="840232"/>
                      <a:pt x="0" y="804545"/>
                      <a:pt x="10922" y="771144"/>
                    </a:cubicBezTo>
                    <a:lnTo>
                      <a:pt x="244221" y="51689"/>
                    </a:lnTo>
                    <a:cubicBezTo>
                      <a:pt x="255016" y="18288"/>
                      <a:pt x="290830" y="0"/>
                      <a:pt x="324231" y="10922"/>
                    </a:cubicBezTo>
                    <a:cubicBezTo>
                      <a:pt x="357632" y="21844"/>
                      <a:pt x="375920" y="57531"/>
                      <a:pt x="364998" y="9093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8" name="Freeform 44">
                <a:extLst>
                  <a:ext uri="{FF2B5EF4-FFF2-40B4-BE49-F238E27FC236}">
                    <a16:creationId xmlns:a16="http://schemas.microsoft.com/office/drawing/2014/main" id="{40647CA3-66C5-FC67-4783-535993D6C623}"/>
                  </a:ext>
                </a:extLst>
              </p:cNvPr>
              <p:cNvSpPr/>
              <p:nvPr/>
            </p:nvSpPr>
            <p:spPr>
              <a:xfrm>
                <a:off x="1729232" y="1495933"/>
                <a:ext cx="861822" cy="375666"/>
              </a:xfrm>
              <a:custGeom>
                <a:avLst/>
                <a:gdLst/>
                <a:ahLst/>
                <a:cxnLst/>
                <a:rect l="l" t="t" r="r" b="b"/>
                <a:pathLst>
                  <a:path w="861822" h="375666">
                    <a:moveTo>
                      <a:pt x="810260" y="131572"/>
                    </a:moveTo>
                    <a:lnTo>
                      <a:pt x="90805" y="364871"/>
                    </a:lnTo>
                    <a:cubicBezTo>
                      <a:pt x="57404" y="375666"/>
                      <a:pt x="21590" y="357378"/>
                      <a:pt x="10795" y="324104"/>
                    </a:cubicBezTo>
                    <a:cubicBezTo>
                      <a:pt x="0" y="290830"/>
                      <a:pt x="18288" y="254889"/>
                      <a:pt x="51562" y="244094"/>
                    </a:cubicBezTo>
                    <a:lnTo>
                      <a:pt x="771017" y="10795"/>
                    </a:lnTo>
                    <a:cubicBezTo>
                      <a:pt x="804418" y="0"/>
                      <a:pt x="840232" y="18288"/>
                      <a:pt x="851027" y="51562"/>
                    </a:cubicBezTo>
                    <a:cubicBezTo>
                      <a:pt x="861822" y="84836"/>
                      <a:pt x="843534" y="120777"/>
                      <a:pt x="810260" y="13157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0" name="Freeform 45">
                <a:extLst>
                  <a:ext uri="{FF2B5EF4-FFF2-40B4-BE49-F238E27FC236}">
                    <a16:creationId xmlns:a16="http://schemas.microsoft.com/office/drawing/2014/main" id="{55E03204-C328-226F-C9DF-78199D851E7C}"/>
                  </a:ext>
                </a:extLst>
              </p:cNvPr>
              <p:cNvSpPr/>
              <p:nvPr/>
            </p:nvSpPr>
            <p:spPr>
              <a:xfrm>
                <a:off x="1495806" y="1729232"/>
                <a:ext cx="375920" cy="862076"/>
              </a:xfrm>
              <a:custGeom>
                <a:avLst/>
                <a:gdLst/>
                <a:ahLst/>
                <a:cxnLst/>
                <a:rect l="l" t="t" r="r" b="b"/>
                <a:pathLst>
                  <a:path w="375920" h="862076">
                    <a:moveTo>
                      <a:pt x="10922" y="771144"/>
                    </a:moveTo>
                    <a:lnTo>
                      <a:pt x="244221" y="51689"/>
                    </a:lnTo>
                    <a:cubicBezTo>
                      <a:pt x="255016" y="18288"/>
                      <a:pt x="290830" y="0"/>
                      <a:pt x="324231" y="10922"/>
                    </a:cubicBezTo>
                    <a:cubicBezTo>
                      <a:pt x="357632" y="21844"/>
                      <a:pt x="375920" y="57531"/>
                      <a:pt x="364998" y="90932"/>
                    </a:cubicBezTo>
                    <a:lnTo>
                      <a:pt x="131699" y="810387"/>
                    </a:lnTo>
                    <a:cubicBezTo>
                      <a:pt x="120904" y="843788"/>
                      <a:pt x="85090" y="862076"/>
                      <a:pt x="51689" y="851154"/>
                    </a:cubicBezTo>
                    <a:cubicBezTo>
                      <a:pt x="18288" y="840232"/>
                      <a:pt x="0" y="804545"/>
                      <a:pt x="10922" y="7711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F3194EC3-F93E-BFF9-0E23-AECF3FA62839}"/>
                  </a:ext>
                </a:extLst>
              </p:cNvPr>
              <p:cNvSpPr/>
              <p:nvPr/>
            </p:nvSpPr>
            <p:spPr>
              <a:xfrm>
                <a:off x="1495933" y="2215388"/>
                <a:ext cx="861822" cy="375666"/>
              </a:xfrm>
              <a:custGeom>
                <a:avLst/>
                <a:gdLst/>
                <a:ahLst/>
                <a:cxnLst/>
                <a:rect l="l" t="t" r="r" b="b"/>
                <a:pathLst>
                  <a:path w="861822" h="375666">
                    <a:moveTo>
                      <a:pt x="51562" y="244094"/>
                    </a:moveTo>
                    <a:lnTo>
                      <a:pt x="771017" y="10795"/>
                    </a:lnTo>
                    <a:cubicBezTo>
                      <a:pt x="804418" y="0"/>
                      <a:pt x="840232" y="18288"/>
                      <a:pt x="851027" y="51562"/>
                    </a:cubicBezTo>
                    <a:cubicBezTo>
                      <a:pt x="861822" y="84836"/>
                      <a:pt x="843534" y="120777"/>
                      <a:pt x="810260" y="131572"/>
                    </a:cubicBezTo>
                    <a:lnTo>
                      <a:pt x="90805" y="364871"/>
                    </a:lnTo>
                    <a:cubicBezTo>
                      <a:pt x="57404" y="375666"/>
                      <a:pt x="21590" y="357378"/>
                      <a:pt x="10795" y="324104"/>
                    </a:cubicBezTo>
                    <a:cubicBezTo>
                      <a:pt x="0" y="290830"/>
                      <a:pt x="18288" y="254889"/>
                      <a:pt x="51562" y="24409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2" name="Freeform 47">
                <a:extLst>
                  <a:ext uri="{FF2B5EF4-FFF2-40B4-BE49-F238E27FC236}">
                    <a16:creationId xmlns:a16="http://schemas.microsoft.com/office/drawing/2014/main" id="{05C61F4B-5F71-E159-5BA2-5EBAFBCF8394}"/>
                  </a:ext>
                </a:extLst>
              </p:cNvPr>
              <p:cNvSpPr/>
              <p:nvPr/>
            </p:nvSpPr>
            <p:spPr>
              <a:xfrm>
                <a:off x="1980057" y="989965"/>
                <a:ext cx="127000" cy="291973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91973">
                    <a:moveTo>
                      <a:pt x="127000" y="63500"/>
                    </a:moveTo>
                    <a:lnTo>
                      <a:pt x="127000" y="228473"/>
                    </a:lnTo>
                    <a:cubicBezTo>
                      <a:pt x="127000" y="263525"/>
                      <a:pt x="98552" y="291973"/>
                      <a:pt x="63500" y="291973"/>
                    </a:cubicBezTo>
                    <a:cubicBezTo>
                      <a:pt x="28448" y="291973"/>
                      <a:pt x="0" y="263525"/>
                      <a:pt x="0" y="228473"/>
                    </a:cubicBezTo>
                    <a:lnTo>
                      <a:pt x="0" y="63500"/>
                    </a:lnTo>
                    <a:cubicBezTo>
                      <a:pt x="0" y="28448"/>
                      <a:pt x="28448" y="0"/>
                      <a:pt x="63500" y="0"/>
                    </a:cubicBezTo>
                    <a:cubicBezTo>
                      <a:pt x="98552" y="0"/>
                      <a:pt x="127000" y="28448"/>
                      <a:pt x="127000" y="635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3" name="Freeform 48">
                <a:extLst>
                  <a:ext uri="{FF2B5EF4-FFF2-40B4-BE49-F238E27FC236}">
                    <a16:creationId xmlns:a16="http://schemas.microsoft.com/office/drawing/2014/main" id="{3C6635C4-78F0-0D35-7F39-3067701240E8}"/>
                  </a:ext>
                </a:extLst>
              </p:cNvPr>
              <p:cNvSpPr/>
              <p:nvPr/>
            </p:nvSpPr>
            <p:spPr>
              <a:xfrm>
                <a:off x="1980057" y="2805049"/>
                <a:ext cx="127000" cy="291973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91973">
                    <a:moveTo>
                      <a:pt x="127000" y="63500"/>
                    </a:moveTo>
                    <a:lnTo>
                      <a:pt x="127000" y="228473"/>
                    </a:lnTo>
                    <a:cubicBezTo>
                      <a:pt x="127000" y="263525"/>
                      <a:pt x="98552" y="291973"/>
                      <a:pt x="63500" y="291973"/>
                    </a:cubicBezTo>
                    <a:cubicBezTo>
                      <a:pt x="28448" y="291973"/>
                      <a:pt x="0" y="263525"/>
                      <a:pt x="0" y="228473"/>
                    </a:cubicBezTo>
                    <a:lnTo>
                      <a:pt x="0" y="63500"/>
                    </a:lnTo>
                    <a:cubicBezTo>
                      <a:pt x="0" y="28448"/>
                      <a:pt x="28448" y="0"/>
                      <a:pt x="63500" y="0"/>
                    </a:cubicBezTo>
                    <a:cubicBezTo>
                      <a:pt x="98552" y="0"/>
                      <a:pt x="127000" y="28448"/>
                      <a:pt x="127000" y="635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4" name="Freeform 49">
                <a:extLst>
                  <a:ext uri="{FF2B5EF4-FFF2-40B4-BE49-F238E27FC236}">
                    <a16:creationId xmlns:a16="http://schemas.microsoft.com/office/drawing/2014/main" id="{4DAD1E1B-A694-39AF-5271-8B87E047A1B8}"/>
                  </a:ext>
                </a:extLst>
              </p:cNvPr>
              <p:cNvSpPr/>
              <p:nvPr/>
            </p:nvSpPr>
            <p:spPr>
              <a:xfrm>
                <a:off x="1089025" y="1089025"/>
                <a:ext cx="324231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231" h="324104">
                    <a:moveTo>
                      <a:pt x="114681" y="24765"/>
                    </a:moveTo>
                    <a:lnTo>
                      <a:pt x="299466" y="209550"/>
                    </a:lnTo>
                    <a:cubicBezTo>
                      <a:pt x="324231" y="234315"/>
                      <a:pt x="324231" y="274574"/>
                      <a:pt x="299466" y="299339"/>
                    </a:cubicBezTo>
                    <a:cubicBezTo>
                      <a:pt x="274701" y="324104"/>
                      <a:pt x="234442" y="324104"/>
                      <a:pt x="209677" y="299339"/>
                    </a:cubicBezTo>
                    <a:lnTo>
                      <a:pt x="24765" y="114554"/>
                    </a:lnTo>
                    <a:cubicBezTo>
                      <a:pt x="0" y="89789"/>
                      <a:pt x="0" y="49530"/>
                      <a:pt x="24765" y="24765"/>
                    </a:cubicBezTo>
                    <a:cubicBezTo>
                      <a:pt x="49530" y="0"/>
                      <a:pt x="89789" y="0"/>
                      <a:pt x="114554" y="247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5" name="Freeform 50">
                <a:extLst>
                  <a:ext uri="{FF2B5EF4-FFF2-40B4-BE49-F238E27FC236}">
                    <a16:creationId xmlns:a16="http://schemas.microsoft.com/office/drawing/2014/main" id="{1054A9F7-960E-FD42-D42C-4DCF0F7EE204}"/>
                  </a:ext>
                </a:extLst>
              </p:cNvPr>
              <p:cNvSpPr/>
              <p:nvPr/>
            </p:nvSpPr>
            <p:spPr>
              <a:xfrm>
                <a:off x="2673858" y="2673858"/>
                <a:ext cx="324104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104" h="324104">
                    <a:moveTo>
                      <a:pt x="114554" y="24765"/>
                    </a:moveTo>
                    <a:lnTo>
                      <a:pt x="299339" y="209550"/>
                    </a:lnTo>
                    <a:cubicBezTo>
                      <a:pt x="324104" y="234315"/>
                      <a:pt x="324104" y="274574"/>
                      <a:pt x="299339" y="299339"/>
                    </a:cubicBezTo>
                    <a:cubicBezTo>
                      <a:pt x="274574" y="324104"/>
                      <a:pt x="234315" y="324104"/>
                      <a:pt x="209550" y="299339"/>
                    </a:cubicBezTo>
                    <a:lnTo>
                      <a:pt x="24765" y="114554"/>
                    </a:lnTo>
                    <a:cubicBezTo>
                      <a:pt x="0" y="89789"/>
                      <a:pt x="0" y="49530"/>
                      <a:pt x="24765" y="24765"/>
                    </a:cubicBezTo>
                    <a:cubicBezTo>
                      <a:pt x="49530" y="0"/>
                      <a:pt x="89789" y="0"/>
                      <a:pt x="114554" y="247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6" name="Freeform 51">
                <a:extLst>
                  <a:ext uri="{FF2B5EF4-FFF2-40B4-BE49-F238E27FC236}">
                    <a16:creationId xmlns:a16="http://schemas.microsoft.com/office/drawing/2014/main" id="{9F5552C9-91C5-FF5B-F6AF-ADAA59E5B531}"/>
                  </a:ext>
                </a:extLst>
              </p:cNvPr>
              <p:cNvSpPr/>
              <p:nvPr/>
            </p:nvSpPr>
            <p:spPr>
              <a:xfrm>
                <a:off x="989965" y="1980057"/>
                <a:ext cx="2921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27000">
                    <a:moveTo>
                      <a:pt x="63500" y="0"/>
                    </a:moveTo>
                    <a:lnTo>
                      <a:pt x="228600" y="0"/>
                    </a:lnTo>
                    <a:cubicBezTo>
                      <a:pt x="263652" y="0"/>
                      <a:pt x="292100" y="28448"/>
                      <a:pt x="292100" y="63500"/>
                    </a:cubicBezTo>
                    <a:cubicBezTo>
                      <a:pt x="292100" y="98552"/>
                      <a:pt x="263652" y="127000"/>
                      <a:pt x="228600" y="127000"/>
                    </a:cubicBezTo>
                    <a:lnTo>
                      <a:pt x="63500" y="127000"/>
                    </a:lnTo>
                    <a:cubicBezTo>
                      <a:pt x="28448" y="127000"/>
                      <a:pt x="0" y="98552"/>
                      <a:pt x="0" y="63500"/>
                    </a:cubicBezTo>
                    <a:cubicBezTo>
                      <a:pt x="0" y="28448"/>
                      <a:pt x="28448" y="0"/>
                      <a:pt x="635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7" name="Freeform 52">
                <a:extLst>
                  <a:ext uri="{FF2B5EF4-FFF2-40B4-BE49-F238E27FC236}">
                    <a16:creationId xmlns:a16="http://schemas.microsoft.com/office/drawing/2014/main" id="{CF2DCDF7-EAD4-7429-8AD7-2BAE434A4C80}"/>
                  </a:ext>
                </a:extLst>
              </p:cNvPr>
              <p:cNvSpPr/>
              <p:nvPr/>
            </p:nvSpPr>
            <p:spPr>
              <a:xfrm>
                <a:off x="2805049" y="1980057"/>
                <a:ext cx="291973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91973" h="127000">
                    <a:moveTo>
                      <a:pt x="63500" y="0"/>
                    </a:moveTo>
                    <a:lnTo>
                      <a:pt x="228473" y="0"/>
                    </a:lnTo>
                    <a:cubicBezTo>
                      <a:pt x="263525" y="0"/>
                      <a:pt x="291973" y="28448"/>
                      <a:pt x="291973" y="63500"/>
                    </a:cubicBezTo>
                    <a:cubicBezTo>
                      <a:pt x="291973" y="98552"/>
                      <a:pt x="263525" y="127000"/>
                      <a:pt x="228473" y="127000"/>
                    </a:cubicBezTo>
                    <a:lnTo>
                      <a:pt x="63500" y="127000"/>
                    </a:lnTo>
                    <a:cubicBezTo>
                      <a:pt x="28448" y="127000"/>
                      <a:pt x="0" y="98552"/>
                      <a:pt x="0" y="63500"/>
                    </a:cubicBezTo>
                    <a:cubicBezTo>
                      <a:pt x="0" y="28448"/>
                      <a:pt x="28448" y="0"/>
                      <a:pt x="635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8" name="Freeform 53">
                <a:extLst>
                  <a:ext uri="{FF2B5EF4-FFF2-40B4-BE49-F238E27FC236}">
                    <a16:creationId xmlns:a16="http://schemas.microsoft.com/office/drawing/2014/main" id="{6BFD94AB-23E9-54E4-1594-2D7F8A6CE213}"/>
                  </a:ext>
                </a:extLst>
              </p:cNvPr>
              <p:cNvSpPr/>
              <p:nvPr/>
            </p:nvSpPr>
            <p:spPr>
              <a:xfrm>
                <a:off x="1089152" y="2673858"/>
                <a:ext cx="323977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3977" h="324104">
                    <a:moveTo>
                      <a:pt x="24638" y="209550"/>
                    </a:moveTo>
                    <a:lnTo>
                      <a:pt x="209423" y="24765"/>
                    </a:lnTo>
                    <a:cubicBezTo>
                      <a:pt x="234188" y="0"/>
                      <a:pt x="274447" y="0"/>
                      <a:pt x="299212" y="24765"/>
                    </a:cubicBezTo>
                    <a:cubicBezTo>
                      <a:pt x="323977" y="49530"/>
                      <a:pt x="323977" y="89789"/>
                      <a:pt x="299212" y="114554"/>
                    </a:cubicBezTo>
                    <a:lnTo>
                      <a:pt x="114554" y="299339"/>
                    </a:lnTo>
                    <a:cubicBezTo>
                      <a:pt x="89789" y="324104"/>
                      <a:pt x="49530" y="324104"/>
                      <a:pt x="24765" y="299339"/>
                    </a:cubicBezTo>
                    <a:cubicBezTo>
                      <a:pt x="0" y="274574"/>
                      <a:pt x="0" y="234315"/>
                      <a:pt x="24765" y="209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9" name="Freeform 54">
                <a:extLst>
                  <a:ext uri="{FF2B5EF4-FFF2-40B4-BE49-F238E27FC236}">
                    <a16:creationId xmlns:a16="http://schemas.microsoft.com/office/drawing/2014/main" id="{ED434BC7-738B-8EDA-EA2A-8D2F4A9B16AC}"/>
                  </a:ext>
                </a:extLst>
              </p:cNvPr>
              <p:cNvSpPr/>
              <p:nvPr/>
            </p:nvSpPr>
            <p:spPr>
              <a:xfrm>
                <a:off x="2673858" y="1089025"/>
                <a:ext cx="324104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104" h="324104">
                    <a:moveTo>
                      <a:pt x="24765" y="209550"/>
                    </a:moveTo>
                    <a:lnTo>
                      <a:pt x="209550" y="24765"/>
                    </a:lnTo>
                    <a:cubicBezTo>
                      <a:pt x="234315" y="0"/>
                      <a:pt x="274574" y="0"/>
                      <a:pt x="299339" y="24765"/>
                    </a:cubicBezTo>
                    <a:cubicBezTo>
                      <a:pt x="324104" y="49530"/>
                      <a:pt x="324104" y="89789"/>
                      <a:pt x="299339" y="114554"/>
                    </a:cubicBezTo>
                    <a:lnTo>
                      <a:pt x="114554" y="299339"/>
                    </a:lnTo>
                    <a:cubicBezTo>
                      <a:pt x="89789" y="324104"/>
                      <a:pt x="49530" y="324104"/>
                      <a:pt x="24765" y="299339"/>
                    </a:cubicBezTo>
                    <a:cubicBezTo>
                      <a:pt x="0" y="274574"/>
                      <a:pt x="0" y="234315"/>
                      <a:pt x="24765" y="209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</p:grpSp>
        <p:sp>
          <p:nvSpPr>
            <p:cNvPr id="70" name="TextBox 55">
              <a:extLst>
                <a:ext uri="{FF2B5EF4-FFF2-40B4-BE49-F238E27FC236}">
                  <a16:creationId xmlns:a16="http://schemas.microsoft.com/office/drawing/2014/main" id="{C301BC60-D0EE-BB0F-D986-27C142A518B4}"/>
                </a:ext>
              </a:extLst>
            </p:cNvPr>
            <p:cNvSpPr txBox="1"/>
            <p:nvPr/>
          </p:nvSpPr>
          <p:spPr>
            <a:xfrm>
              <a:off x="903399" y="1850922"/>
              <a:ext cx="3693036" cy="957826"/>
            </a:xfrm>
            <a:prstGeom prst="rect">
              <a:avLst/>
            </a:prstGeom>
            <a:no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821"/>
                </a:lnSpc>
              </a:pPr>
              <a:r>
                <a:rPr lang="en-US" sz="2729" dirty="0">
                  <a:solidFill>
                    <a:srgbClr val="FFFFFF"/>
                  </a:solidFill>
                  <a:latin typeface="GT Walsheim Pro Bold" panose="02000503040000020003" pitchFamily="50" charset="0"/>
                </a:rPr>
                <a:t>AI Strategy &amp;</a:t>
              </a:r>
            </a:p>
            <a:p>
              <a:pPr>
                <a:lnSpc>
                  <a:spcPts val="3821"/>
                </a:lnSpc>
              </a:pPr>
              <a:r>
                <a:rPr lang="en-US" sz="2729" dirty="0">
                  <a:solidFill>
                    <a:srgbClr val="FFFFFF"/>
                  </a:solidFill>
                  <a:latin typeface="GT Walsheim Pro Bold" panose="02000503040000020003" pitchFamily="50" charset="0"/>
                </a:rPr>
                <a:t>Roadmap 2026-2028</a:t>
              </a:r>
            </a:p>
          </p:txBody>
        </p:sp>
        <p:sp>
          <p:nvSpPr>
            <p:cNvPr id="71" name="TextBox 56">
              <a:extLst>
                <a:ext uri="{FF2B5EF4-FFF2-40B4-BE49-F238E27FC236}">
                  <a16:creationId xmlns:a16="http://schemas.microsoft.com/office/drawing/2014/main" id="{CA5CE202-4ED5-A349-1A04-4DE8CE3D90F9}"/>
                </a:ext>
              </a:extLst>
            </p:cNvPr>
            <p:cNvSpPr txBox="1"/>
            <p:nvPr/>
          </p:nvSpPr>
          <p:spPr>
            <a:xfrm>
              <a:off x="903399" y="3153322"/>
              <a:ext cx="3840259" cy="691531"/>
            </a:xfrm>
            <a:prstGeom prst="rect">
              <a:avLst/>
            </a:prstGeom>
            <a:no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26"/>
                </a:lnSpc>
              </a:pPr>
              <a:r>
                <a:rPr lang="en-US" sz="1947" dirty="0">
                  <a:solidFill>
                    <a:srgbClr val="FFFFFF"/>
                  </a:solidFill>
                  <a:latin typeface="GT Walsheim Pro Regular" panose="02000503040000020003" pitchFamily="50" charset="0"/>
                </a:rPr>
                <a:t>Grant Thornton Bahrain  |  September 2026</a:t>
              </a:r>
            </a:p>
          </p:txBody>
        </p:sp>
        <p:sp>
          <p:nvSpPr>
            <p:cNvPr id="72" name="TextBox 57">
              <a:extLst>
                <a:ext uri="{FF2B5EF4-FFF2-40B4-BE49-F238E27FC236}">
                  <a16:creationId xmlns:a16="http://schemas.microsoft.com/office/drawing/2014/main" id="{CEB98C11-C7C3-B0B0-BA55-37DD93B5C49A}"/>
                </a:ext>
              </a:extLst>
            </p:cNvPr>
            <p:cNvSpPr txBox="1"/>
            <p:nvPr/>
          </p:nvSpPr>
          <p:spPr>
            <a:xfrm>
              <a:off x="868693" y="4646014"/>
              <a:ext cx="621524" cy="19973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sz="1111" dirty="0">
                  <a:solidFill>
                    <a:srgbClr val="FFFFFF"/>
                  </a:solidFill>
                  <a:latin typeface="GT Walsheim Pro Regular" panose="02000503040000020003" pitchFamily="50" charset="0"/>
                </a:rPr>
                <a:t>Adaptive</a:t>
              </a:r>
            </a:p>
          </p:txBody>
        </p:sp>
      </p:grpSp>
      <p:pic>
        <p:nvPicPr>
          <p:cNvPr id="2092" name="Picture 2091" descr="A white line drawing of a head with dots and lines in a black circle&#10;&#10;Description automatically generated">
            <a:extLst>
              <a:ext uri="{FF2B5EF4-FFF2-40B4-BE49-F238E27FC236}">
                <a16:creationId xmlns:a16="http://schemas.microsoft.com/office/drawing/2014/main" id="{941A6AFE-F817-05EC-A97E-219EF5AA1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328" y="3955846"/>
            <a:ext cx="484633" cy="484633"/>
          </a:xfrm>
          <a:prstGeom prst="rect">
            <a:avLst/>
          </a:prstGeom>
        </p:spPr>
      </p:pic>
      <p:pic>
        <p:nvPicPr>
          <p:cNvPr id="2096" name="Picture 2095" descr="A white line on a black background&#10;&#10;Description automatically generated">
            <a:extLst>
              <a:ext uri="{FF2B5EF4-FFF2-40B4-BE49-F238E27FC236}">
                <a16:creationId xmlns:a16="http://schemas.microsoft.com/office/drawing/2014/main" id="{292375E3-A834-8FA9-B80A-2842137AA6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80" y="3945451"/>
            <a:ext cx="484632" cy="484632"/>
          </a:xfrm>
          <a:prstGeom prst="rect">
            <a:avLst/>
          </a:prstGeom>
        </p:spPr>
      </p:pic>
      <p:pic>
        <p:nvPicPr>
          <p:cNvPr id="2100" name="Picture 2099" descr="A light bulb with a lightning bolt in a circle&#10;&#10;Description automatically generated">
            <a:extLst>
              <a:ext uri="{FF2B5EF4-FFF2-40B4-BE49-F238E27FC236}">
                <a16:creationId xmlns:a16="http://schemas.microsoft.com/office/drawing/2014/main" id="{F8CFC82A-1B69-DE01-D642-63CFAC5CB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5" y="3945450"/>
            <a:ext cx="484633" cy="4846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881463A5-889B-024C-847C-15EF14B396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1" t="9767" r="17235" b="10853"/>
          <a:stretch/>
        </p:blipFill>
        <p:spPr>
          <a:xfrm>
            <a:off x="-95693" y="-9301"/>
            <a:ext cx="5741776" cy="6867301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CE8E20-ACA3-3A44-B5A3-DBF3E541B2B9}"/>
              </a:ext>
            </a:extLst>
          </p:cNvPr>
          <p:cNvSpPr txBox="1"/>
          <p:nvPr/>
        </p:nvSpPr>
        <p:spPr>
          <a:xfrm>
            <a:off x="6756411" y="306186"/>
            <a:ext cx="15712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D75AB539-68A9-3C4B-B57C-4B023BAA9F3A}"/>
              </a:ext>
            </a:extLst>
          </p:cNvPr>
          <p:cNvSpPr/>
          <p:nvPr/>
        </p:nvSpPr>
        <p:spPr>
          <a:xfrm>
            <a:off x="5098612" y="1493772"/>
            <a:ext cx="1037967" cy="103796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BFCE72D1-9595-B548-9B7A-3AB6307C5326}"/>
              </a:ext>
            </a:extLst>
          </p:cNvPr>
          <p:cNvSpPr/>
          <p:nvPr/>
        </p:nvSpPr>
        <p:spPr>
          <a:xfrm>
            <a:off x="5098612" y="2804011"/>
            <a:ext cx="1037967" cy="103796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A05D8C9-5455-EA48-8E04-21E0F5A2CAF0}"/>
              </a:ext>
            </a:extLst>
          </p:cNvPr>
          <p:cNvSpPr/>
          <p:nvPr/>
        </p:nvSpPr>
        <p:spPr>
          <a:xfrm>
            <a:off x="5098612" y="4114250"/>
            <a:ext cx="1037967" cy="1037967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3459D4-4AF6-6F47-8BB4-1CA1BBA68B26}"/>
              </a:ext>
            </a:extLst>
          </p:cNvPr>
          <p:cNvSpPr txBox="1"/>
          <p:nvPr/>
        </p:nvSpPr>
        <p:spPr>
          <a:xfrm>
            <a:off x="6795700" y="1846875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Situational &amp; SWOT Analysis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171435-CE3B-DA48-ABAF-76E18E9E7D13}"/>
              </a:ext>
            </a:extLst>
          </p:cNvPr>
          <p:cNvSpPr txBox="1"/>
          <p:nvPr/>
        </p:nvSpPr>
        <p:spPr>
          <a:xfrm>
            <a:off x="5453127" y="1735756"/>
            <a:ext cx="328937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EDFA74-273E-6741-9B19-FEDEFBFA1B5C}"/>
              </a:ext>
            </a:extLst>
          </p:cNvPr>
          <p:cNvSpPr txBox="1"/>
          <p:nvPr/>
        </p:nvSpPr>
        <p:spPr>
          <a:xfrm>
            <a:off x="5415457" y="3045995"/>
            <a:ext cx="404278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2AAC7-9301-134C-88BB-2FEEB9D9B9C1}"/>
              </a:ext>
            </a:extLst>
          </p:cNvPr>
          <p:cNvSpPr txBox="1"/>
          <p:nvPr/>
        </p:nvSpPr>
        <p:spPr>
          <a:xfrm>
            <a:off x="5409045" y="4356234"/>
            <a:ext cx="417102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006F5-1C04-4972-41F2-04748EC080EE}"/>
              </a:ext>
            </a:extLst>
          </p:cNvPr>
          <p:cNvSpPr txBox="1"/>
          <p:nvPr/>
        </p:nvSpPr>
        <p:spPr>
          <a:xfrm>
            <a:off x="6795700" y="3160226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AI Strategy Formulation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055BF-7125-8B17-C755-56ADD56F160A}"/>
              </a:ext>
            </a:extLst>
          </p:cNvPr>
          <p:cNvSpPr txBox="1"/>
          <p:nvPr/>
        </p:nvSpPr>
        <p:spPr>
          <a:xfrm>
            <a:off x="6795700" y="4441010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Implementation Roadmap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Grant Thornton Bahrain will become the Kingdom's most trusted advisor for responsible, value-driven AI - and an AI-enabled firm that practises what it advises.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3654362" cy="4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WHERE WE 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900000"/>
            <a:ext cx="3654362" cy="3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96" y="2020000"/>
            <a:ext cx="3534362" cy="38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AI Ready7 self-assessment (Sept 2026): 61.4% - 'Informed' maturity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Strengths: regulatory compliance, AI inventory, data pipelines &amp; lineage, literacy, threat defence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Critical gaps: lifecycle AI risk assessment (2.4) and data classification for AI (5.1) - both Not Met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Strong market pull: Vision 2030, iGA AI Policy (2025), PDPL, CBB, EU AI Act reach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758" y="1480000"/>
            <a:ext cx="3654362" cy="42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WHERE WE ARE GOING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758" y="1900000"/>
            <a:ext cx="3654362" cy="3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8758" y="2020000"/>
            <a:ext cx="3534362" cy="38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Vision 2028: trusted AI advisor + AI-enabled firm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Five strategic pillars: Trusted &amp; Governed AI, AI-Fluent People, The Intelligent Firm, Secure AI Foundations, Market-Leading AI Advisory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Target readiness &gt;= 75% ('Repeatable') by end-2027 and &gt;= 85% by end-2028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Clear AI risk appetite: very low for client-data &amp; compliance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3120" y="1480000"/>
            <a:ext cx="3654362" cy="42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HOW WE WILL GET THERE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3120" y="1900000"/>
            <a:ext cx="3654362" cy="3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120" y="2020000"/>
            <a:ext cx="3534362" cy="38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18-month roadmap in three horizons: Foundations (Q4-26 to Q1-27), Scale (2027), Differentiate (2028)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5 workstreams, 23 activities; 100-day plan ready to start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12 use cases prioritised; 4 launched in Horizon 1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4 AI service lines packaged into entry offers built on GT tools (RCM v2.1, risk framework, readiness tool, audit checklist)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AI apps in preparation: AI-powered BCP tool and AI-powered Financial Statements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396" y="5930000"/>
            <a:ext cx="11263086" cy="52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Decisions requested: </a:t>
            </a:r>
            <a:r>
              <a:rPr sz="1100" b="0">
                <a:solidFill>
                  <a:srgbClr val="FFFFFF"/>
                </a:solidFill>
                <a:latin typeface="Arial"/>
              </a:rPr>
              <a:t>approve vision, objectives and risk appetite; appoint AI sponsor and CoE lead; release Horizon 1 resources; endorse quick-win pilots, the service-line launch and MVP investment for the AI BCP and Financial Statements apps.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 three-phase, standards-based methodology - the same approach GT Bahrain offers clients through the AI Strategy &amp; Roadmap service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3621028" cy="7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01  </a:t>
            </a:r>
            <a:r>
              <a:rPr sz="1500" b="1">
                <a:solidFill>
                  <a:srgbClr val="FFFFFF"/>
                </a:solidFill>
                <a:latin typeface="Arial"/>
              </a:rPr>
              <a:t>Situational / SWOT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180000"/>
            <a:ext cx="3621028" cy="27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96" y="2280000"/>
            <a:ext cx="3501028" cy="2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External scan: regulation, market, competitors, technology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Internal baseline: AI Ready7 &amp; GT AI Readiness Assessment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Stakeholder interviews and AI inventory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SWOT and TOWS strategic options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396" y="4980000"/>
            <a:ext cx="3621028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Outputs: baseline report, SWOT / TOWS, gap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5424" y="1480000"/>
            <a:ext cx="3621028" cy="7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02  </a:t>
            </a:r>
            <a:r>
              <a:rPr sz="1500" b="1">
                <a:solidFill>
                  <a:srgbClr val="FFFFFF"/>
                </a:solidFill>
                <a:latin typeface="Arial"/>
              </a:rPr>
              <a:t>AI Strategy Formulation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5424" y="2180000"/>
            <a:ext cx="3621028" cy="27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5424" y="2280000"/>
            <a:ext cx="3501028" cy="2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Vision, ambition and strategic objectives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Strategic pillars and guiding principles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AI risk appetite &amp; guardrails (RCM RM-6)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Use-case prioritisation (value x feasibility x risk)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Operating model and KPIs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5424" y="4980000"/>
            <a:ext cx="3621028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Outputs: AI strategy, risk appetite, prioritised portfolio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6452" y="1480000"/>
            <a:ext cx="3621028" cy="7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03  </a:t>
            </a:r>
            <a:r>
              <a:rPr sz="1500" b="1">
                <a:solidFill>
                  <a:srgbClr val="FFFFFF"/>
                </a:solidFill>
                <a:latin typeface="Arial"/>
              </a:rPr>
              <a:t>Roadmap Creation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6452" y="2180000"/>
            <a:ext cx="3621028" cy="27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6452" y="2280000"/>
            <a:ext cx="3501028" cy="2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Phased horizons and workstreams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Dependencies, resourcing and budget envelope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100-day mobilisation plan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Governance cadence and KPI tracking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Traceability to readiness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6452" y="4980000"/>
            <a:ext cx="3621028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Outputs: 18-month roadmap, 100-day plan, KPI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4396" y="5680000"/>
            <a:ext cx="11263086" cy="7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GT tools used: </a:t>
            </a:r>
            <a:r>
              <a:rPr sz="1050" b="0">
                <a:solidFill>
                  <a:srgbClr val="FFFFFF"/>
                </a:solidFill>
                <a:latin typeface="Arial"/>
              </a:rPr>
              <a:t>GT AI Ready7  |  GT AI Readiness &amp; Risk Assessment Tool  |  GT AI RCM v2.1 (81 controls)  |  GT AI Security &amp; Agent Audit Checklist  |  GT AI Risk Assessment Framework &amp; Toolkit.  </a:t>
            </a:r>
            <a:r>
              <a:rPr sz="1050" b="1">
                <a:solidFill>
                  <a:srgbClr val="FFFFFF"/>
                </a:solidFill>
                <a:latin typeface="Arial"/>
              </a:rPr>
              <a:t>Standards: </a:t>
            </a:r>
            <a:r>
              <a:rPr sz="1050" b="0">
                <a:solidFill>
                  <a:srgbClr val="FFFFFF"/>
                </a:solidFill>
                <a:latin typeface="Arial"/>
              </a:rPr>
              <a:t>ISO/IEC 42001, ISO/IEC 23894, NIST AI RMF, EU AI Act, Bahrain PDPL, iGA AI Policy.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06C7AD44-C87D-49F0-8292-A94679109843}"/>
              </a:ext>
            </a:extLst>
          </p:cNvPr>
          <p:cNvSpPr/>
          <p:nvPr/>
        </p:nvSpPr>
        <p:spPr>
          <a:xfrm>
            <a:off x="0" y="-1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18288000" h="12390120">
                <a:moveTo>
                  <a:pt x="0" y="0"/>
                </a:moveTo>
                <a:lnTo>
                  <a:pt x="18288000" y="0"/>
                </a:lnTo>
                <a:lnTo>
                  <a:pt x="18288000" y="12390120"/>
                </a:lnTo>
                <a:lnTo>
                  <a:pt x="0" y="12390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508D9-0E0F-F987-DECA-55A7FA5DE6B8}"/>
              </a:ext>
            </a:extLst>
          </p:cNvPr>
          <p:cNvSpPr/>
          <p:nvPr/>
        </p:nvSpPr>
        <p:spPr>
          <a:xfrm>
            <a:off x="0" y="-2"/>
            <a:ext cx="12191998" cy="7139483"/>
          </a:xfrm>
          <a:prstGeom prst="rect">
            <a:avLst/>
          </a:prstGeom>
          <a:solidFill>
            <a:srgbClr val="4F2D7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2897C-39BA-0A66-797A-BEB0C83AAE45}"/>
              </a:ext>
            </a:extLst>
          </p:cNvPr>
          <p:cNvSpPr/>
          <p:nvPr/>
        </p:nvSpPr>
        <p:spPr>
          <a:xfrm>
            <a:off x="0" y="-2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0" t="-226076" r="-109432" b="-2221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44EC82-137F-8FD9-DA67-38F5137810B6}"/>
              </a:ext>
            </a:extLst>
          </p:cNvPr>
          <p:cNvSpPr/>
          <p:nvPr/>
        </p:nvSpPr>
        <p:spPr>
          <a:xfrm>
            <a:off x="-2" y="0"/>
            <a:ext cx="12192002" cy="713948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1" t="-226073" r="-109430" b="-2221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221826-FB15-5DA1-6707-F4C163C6CFDB}"/>
              </a:ext>
            </a:extLst>
          </p:cNvPr>
          <p:cNvSpPr/>
          <p:nvPr/>
        </p:nvSpPr>
        <p:spPr>
          <a:xfrm>
            <a:off x="-1" y="-93230"/>
            <a:ext cx="12192002" cy="732594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4" t="-219047" r="-109427" b="-2152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11A8A3-B4EE-EB7E-9F2C-93D45BFD6D32}"/>
              </a:ext>
            </a:extLst>
          </p:cNvPr>
          <p:cNvSpPr/>
          <p:nvPr/>
        </p:nvSpPr>
        <p:spPr>
          <a:xfrm>
            <a:off x="-1" y="-2"/>
            <a:ext cx="12192001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2" t="-223154" r="-109429" b="-2179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233354-9791-7BF2-2983-D614F879A572}"/>
              </a:ext>
            </a:extLst>
          </p:cNvPr>
          <p:cNvSpPr/>
          <p:nvPr/>
        </p:nvSpPr>
        <p:spPr>
          <a:xfrm>
            <a:off x="-1" y="-2"/>
            <a:ext cx="12192000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3" t="-223159" r="-109428" b="-2179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39F0D-B44A-F824-E008-8560A6309DBA}"/>
              </a:ext>
            </a:extLst>
          </p:cNvPr>
          <p:cNvSpPr txBox="1"/>
          <p:nvPr/>
        </p:nvSpPr>
        <p:spPr>
          <a:xfrm>
            <a:off x="1004473" y="3157343"/>
            <a:ext cx="583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Situational &amp;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EA642-D069-958E-A24D-5CB99B0F44AA}"/>
              </a:ext>
            </a:extLst>
          </p:cNvPr>
          <p:cNvCxnSpPr>
            <a:cxnSpLocks/>
          </p:cNvCxnSpPr>
          <p:nvPr/>
        </p:nvCxnSpPr>
        <p:spPr>
          <a:xfrm>
            <a:off x="8286904" y="6464483"/>
            <a:ext cx="3523342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B6A2FC1-11AA-1477-5B10-756FBF7DC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337" y="6552802"/>
            <a:ext cx="1121909" cy="216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E14C6E-C1B2-BAC8-41CB-FE011227B300}"/>
              </a:ext>
            </a:extLst>
          </p:cNvPr>
          <p:cNvSpPr txBox="1"/>
          <p:nvPr/>
        </p:nvSpPr>
        <p:spPr>
          <a:xfrm>
            <a:off x="8277097" y="6554237"/>
            <a:ext cx="21226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© 2026 Grant Thornton Bahrain.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Bahrain AI Landscape - External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Policy momentum, a tightening regulatory perimeter and sector demand are creating a window for trusted, governance-led AI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260000" cy="24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396" y="1510000"/>
            <a:ext cx="5196543" cy="3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F2D7F"/>
                </a:solidFill>
                <a:latin typeface="Arial"/>
              </a:rPr>
              <a:t>Policy &amp; Regulation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396" y="1860000"/>
            <a:ext cx="5196543" cy="2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Bahrain Economic Vision 2030 positions AI as a productivity and diversification lever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iGA General Policy for the Use of AI v1.0 (2025): compliance, adoption, awareness, cooperation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GCC Guiding Manual on the Ethics of AI Use adopted (2025)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Draft standalone AI law (38 articles) approved by Shura Council (Apr 2024) - pending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PDPL (Law 30/2018), CBB Rulebook, NCSC standards; EU AI Act applies extraterritorially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0939" y="1480000"/>
            <a:ext cx="260000" cy="24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0939" y="1510000"/>
            <a:ext cx="5196543" cy="3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B5BA6"/>
                </a:solidFill>
                <a:latin typeface="Arial"/>
              </a:rPr>
              <a:t>Economy &amp;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0939" y="1860000"/>
            <a:ext cx="5196543" cy="2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ICT revenue opportunity estimated at US$27.15bn cumulatively (2022-2026)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IT services market CAGR 7.03% (2024-2028) to US$201.8m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Priority sectors: financial services, insurance, government, telecom, hospitality, healthcare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Clients shifting from AI experimentation to scaled, governed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4000000"/>
            <a:ext cx="260000" cy="24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396" y="4030000"/>
            <a:ext cx="5196543" cy="3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A7B5"/>
                </a:solidFill>
                <a:latin typeface="Arial"/>
              </a:rPr>
              <a:t>Society &amp;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396" y="4380000"/>
            <a:ext cx="5196543" cy="2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UNESCO AI Readiness Assessment of Bahrain (Nov 2025) - 2nd GCC country assessed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Recommendations: embed AI ethics, expand capacity building, transparency and public engagement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National skills initiatives (e.g., AI Academy); competition for AI talent across the GCC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0939" y="4000000"/>
            <a:ext cx="260000" cy="24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0939" y="4030000"/>
            <a:ext cx="5196543" cy="3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05F"/>
                </a:solidFill>
                <a:latin typeface="Arial"/>
              </a:rP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0939" y="4380000"/>
            <a:ext cx="5196543" cy="2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Hyperscale cloud region in Bahrain and cloud-first policy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GenAI and agentic AI entering enterprise software; ISACA (2026) cites 3 in 4 companies expected to use agentic AI within two years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AI-enabled threats rising: deepfake fraud, AI-crafted phishing, automated exploitation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ISO/IEC 42001 creating an AI assurance and certification 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396" y="6250000"/>
            <a:ext cx="11263086" cy="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Sources: GT AI Service Lines deck v3.0 (market data); iGA; UNESCO; Shura Council; GT research, Sept 2026.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Market &amp; Competitive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Competitors lead with technology; GT Bahrain can own the 'trusted, governance-led AI' space for regulated and mid-market clients.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480000"/>
          <a:ext cx="6983112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383"/>
                <a:gridCol w="1805977"/>
                <a:gridCol w="1685579"/>
                <a:gridCol w="2167173"/>
              </a:tblGrid>
              <a:tr h="7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Competitor type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Examples (Bahrain / MENA)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Typical focus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Implication for GT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Big Four peers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EY (EY.ai platform, AI strategy &amp; design)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Large-scale transformation, own platforms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Differentiate on agility, mid-market fit and GRC + cyber depth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AI consultancies &amp; trainers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Enabled, AI Superior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Strategy workshops, training, R&amp;D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Compete with certified methodology and assurance credibility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Automation / software houses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10xDS, Sanara Infotech, Abacus KSA, Purpix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RPA, virtual agents, custom build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Partner for build; GT leads governance, selection and 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Hyperscalers &amp; vendors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Cloud and GenAI platform providers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Tools and platforms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Stay vendor-agnostic; advise on selection and secure adoption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707509" y="1480000"/>
            <a:ext cx="4079973" cy="4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GT Bahrain's differentiated 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07509" y="1900000"/>
            <a:ext cx="4079973" cy="33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67509" y="1980000"/>
            <a:ext cx="3959973" cy="32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Trust-first: </a:t>
            </a:r>
            <a:r>
              <a:rPr sz="1200" b="0">
                <a:solidFill>
                  <a:srgbClr val="222222"/>
                </a:solidFill>
                <a:latin typeface="Arial"/>
              </a:rPr>
              <a:t>audit, GRC and cyber heritage; AI Ready7 &amp; ISO/IEC 42001-aligned methods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Regulation-ready: </a:t>
            </a:r>
            <a:r>
              <a:rPr sz="1200" b="0">
                <a:solidFill>
                  <a:srgbClr val="222222"/>
                </a:solidFill>
                <a:latin typeface="Arial"/>
              </a:rPr>
              <a:t>Bahrain PDPL, CBB, EU AI Act and GCC mapped into one RCM (81 controls)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End-to-end: </a:t>
            </a:r>
            <a:r>
              <a:rPr sz="1200" b="0">
                <a:solidFill>
                  <a:srgbClr val="222222"/>
                </a:solidFill>
                <a:latin typeface="Arial"/>
              </a:rPr>
              <a:t>strategy -&gt; governance -&gt; automation -&gt; training -&gt; assurance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Mid-market &amp; regulated focus: </a:t>
            </a:r>
            <a:r>
              <a:rPr sz="1200" b="0">
                <a:solidFill>
                  <a:srgbClr val="222222"/>
                </a:solidFill>
                <a:latin typeface="Arial"/>
              </a:rPr>
              <a:t>banks, insurers, government, telecom, healthcare, hospitality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Proof: </a:t>
            </a:r>
            <a:r>
              <a:rPr sz="1200" b="0">
                <a:solidFill>
                  <a:srgbClr val="222222"/>
                </a:solidFill>
                <a:latin typeface="Arial"/>
              </a:rPr>
              <a:t>GT Bahrain as 'client zero' with measured readiness uplift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Internal Baseline - AI Ready7 Results (Sept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Overall readiness 61.4% ('Informed'): solid compliance and data foundations; business alignment, architecture and AI security need the most work.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4396" y="1480000"/>
          <a:ext cx="6194697" cy="44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4396" y="5900000"/>
            <a:ext cx="6194697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Maturity scale: &lt;50% Partial | 50-70% Informed | 70-90% Repeatable | 90%+ Adaptive.  Coral = below 60%.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4355" y="1480000"/>
            <a:ext cx="4843127" cy="380000"/>
          </a:xfrm>
          <a:prstGeom prst="rect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Strengths (All / Most Met)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4355" y="1880000"/>
            <a:ext cx="4843127" cy="15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2.2 Regulatory compliance &amp; audit readiness; 2.5 AI inventory &amp; ownership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5.3 Secure data pipelines; 5.4 Data lineage &amp; quality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3.1-3.3 AI literacy, validation &amp; security awareness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4.5 Cost &amp; platform governance; 6.1 Identity &amp; privilege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7.1, 7.2, 7.4, 7.5 AI threat intel, SOC, IR, exposure mgmt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4355" y="3460000"/>
            <a:ext cx="4843127" cy="38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Gaps (Not Met / Some Met)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4355" y="3860000"/>
            <a:ext cx="4843127" cy="2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•  Not Met: </a:t>
            </a:r>
            <a:r>
              <a:rPr sz="1000" b="0">
                <a:solidFill>
                  <a:srgbClr val="222222"/>
                </a:solidFill>
                <a:latin typeface="Arial"/>
              </a:rPr>
              <a:t>2.4 Lifecycle AI risk assessment incl. third parties; 5.1 Data classification, access &amp; handling for AI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1.1-1.4 Strategy, risk appetite, portfolio, value tracking, client assurance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2.1 AI policy; 2.3 Guardrails / centre of excellence; 3.4 Role-based capability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4.1-4.4 Reference architecture, execution authority, API control, monitoring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 6.2-6.5 Model protection, secure ModelOps, red teaming, runtime logging; 7.3 Deepfake defence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SWOT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Internal factors from the AI Ready7 baseline; external factors from the Bahrain / GCC landscape scan.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20000"/>
            <a:ext cx="5571543" cy="34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STRENGTHS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760000"/>
            <a:ext cx="5571543" cy="19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396" y="1800000"/>
            <a:ext cx="5471543" cy="193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Strong global brand and GTIL network; AI Ready7 methodology already in 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Deep audit, GRC, cyber and regulatory heritage - a credible trust-first 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Existing relationships in regulated sectors (banking, telecom, government)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Compliance &amp; data foundations in place (Ready7 2.2, 2.5, 5.3, 5.4 fully met)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Good AI literacy (T&amp;D 69%) and threat defence (70%) baseline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Four AI service lines, proprietary tools (RCM v2.1, risk framework, readiness tool, security audit checklist) and two AI apps in preparation (BCP, Financial Statements)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5939" y="1420000"/>
            <a:ext cx="5571543" cy="34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WEAKNESSES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5939" y="1760000"/>
            <a:ext cx="5571543" cy="19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5939" y="1800000"/>
            <a:ext cx="5471543" cy="193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Overall AI readiness 'Informed' (61.4%) - below the 'Repeatable' threshold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No consistent lifecycle AI risk assessment (Ready7 2.4 - Not Met)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Data classification &amp; handling for AI not in place (Ready7 5.1 - Not Met)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Business alignment 50%: strategy, portfolio and value tracking only partially defined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Architecture &amp; AI security at 55%: reference architecture, red teaming, ModelOps immature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Limited in-house AI engineering capacity; reliance on vendor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3840000"/>
            <a:ext cx="5571543" cy="34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396" y="4180000"/>
            <a:ext cx="5571543" cy="19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396" y="4220000"/>
            <a:ext cx="5471543" cy="193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National AI agenda: Vision 2030, iGA AI Policy (2025), UNESCO AI readiness report (2025)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Regulation wave: PDPL, CBB, GCC regimes, EU AI Act reach, forthcoming Bahrain AI law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Emerging ISO/IEC 42001 certification and AI assurance market in the GCC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Sector demand in financial services, insurance, government, telecom, healthcare, hospitality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AI productivity gains in audit, tax and advisory delivery improve margins and 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Regional scale through the GT network across the GCC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5939" y="3840000"/>
            <a:ext cx="5571543" cy="34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5939" y="4180000"/>
            <a:ext cx="5571543" cy="19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5939" y="4220000"/>
            <a:ext cx="5471543" cy="193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Big Four and tech-native AI consultancies competing aggressively (e.g., EY.ai, niche AI firms)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Fast-moving technology and vendor lock-in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AI-enabled cyber threats and deepfake fraud targeting the firm and its clients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Client-confidentiality and professional-liability exposure from AI errors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Scarcity of AI talent across the GCC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•  Regulatory uncertainty (Bahrain AI law timing, EU Digital Omnibus changes)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From SWOT to Strategic Choices (TOWS)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Four strategic thrusts translate the SWOT into the strategy; each is reflected in a strategic pillar and roadmap workstream.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5556543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4396" y="1480000"/>
            <a:ext cx="120000" cy="19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96" y="1560000"/>
            <a:ext cx="5256543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F2D7F"/>
                </a:solidFill>
                <a:latin typeface="Arial"/>
              </a:rPr>
              <a:t>SO - Lead with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396" y="2000000"/>
            <a:ext cx="5256543" cy="1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Launch governance-led AI offerings (readiness assessment, AI GRC / RCM review, ISO/IEC 42001 readiness) into regulated sectors, leveraging the GT brand and GRC heritage.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96" y="3000000"/>
            <a:ext cx="5256543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Arial"/>
              </a:rPr>
              <a:t>Delivered through: Pillar 5 | WS5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0939" y="1480000"/>
            <a:ext cx="5556543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0939" y="1480000"/>
            <a:ext cx="120000" cy="19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0939" y="1560000"/>
            <a:ext cx="5256543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B5BA6"/>
                </a:solidFill>
                <a:latin typeface="Arial"/>
              </a:rPr>
              <a:t>WO - Become 'client zero'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0939" y="2000000"/>
            <a:ext cx="5256543" cy="1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Close our own gaps (risk assessment, data classification, strategy &amp; portfolio) using our own tools - and turn the journey into a reference case.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939" y="3000000"/>
            <a:ext cx="5256543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Arial"/>
              </a:rPr>
              <a:t>Delivered through: Pillars 1-3 | WS1, WS2, WS4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396" y="3530000"/>
            <a:ext cx="5556543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396" y="3530000"/>
            <a:ext cx="120000" cy="19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96" y="3610000"/>
            <a:ext cx="5256543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A7B5"/>
                </a:solidFill>
                <a:latin typeface="Arial"/>
              </a:rPr>
              <a:t>ST - Differentiate on assurance +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96" y="4050000"/>
            <a:ext cx="5256543" cy="1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Combine AI GRC with cyber (AI red teaming, deepfake resilience) to stand apart from technology-led competitors.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96" y="5050000"/>
            <a:ext cx="5256543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Arial"/>
              </a:rPr>
              <a:t>Delivered through: Pillars 4-5 | WS3, WS5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0939" y="3530000"/>
            <a:ext cx="5556543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0939" y="3530000"/>
            <a:ext cx="120000" cy="19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0939" y="3610000"/>
            <a:ext cx="5256543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05F"/>
                </a:solidFill>
                <a:latin typeface="Arial"/>
              </a:rPr>
              <a:t>WT - Partner and protect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0939" y="4050000"/>
            <a:ext cx="5256543" cy="10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Vendor-agnostic alliances, strict client-data guardrails and targeted hiring / upskilling to contain talent, liability and lock-in risks.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0939" y="5050000"/>
            <a:ext cx="5256543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Arial"/>
              </a:rPr>
              <a:t>Delivered through: Pillars 1, 2, 4 | WS1-WS3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06C7AD44-C87D-49F0-8292-A94679109843}"/>
              </a:ext>
            </a:extLst>
          </p:cNvPr>
          <p:cNvSpPr/>
          <p:nvPr/>
        </p:nvSpPr>
        <p:spPr>
          <a:xfrm>
            <a:off x="0" y="-1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18288000" h="12390120">
                <a:moveTo>
                  <a:pt x="0" y="0"/>
                </a:moveTo>
                <a:lnTo>
                  <a:pt x="18288000" y="0"/>
                </a:lnTo>
                <a:lnTo>
                  <a:pt x="18288000" y="12390120"/>
                </a:lnTo>
                <a:lnTo>
                  <a:pt x="0" y="12390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508D9-0E0F-F987-DECA-55A7FA5DE6B8}"/>
              </a:ext>
            </a:extLst>
          </p:cNvPr>
          <p:cNvSpPr/>
          <p:nvPr/>
        </p:nvSpPr>
        <p:spPr>
          <a:xfrm>
            <a:off x="0" y="-2"/>
            <a:ext cx="12191998" cy="7139483"/>
          </a:xfrm>
          <a:prstGeom prst="rect">
            <a:avLst/>
          </a:prstGeom>
          <a:solidFill>
            <a:srgbClr val="4F2D7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2897C-39BA-0A66-797A-BEB0C83AAE45}"/>
              </a:ext>
            </a:extLst>
          </p:cNvPr>
          <p:cNvSpPr/>
          <p:nvPr/>
        </p:nvSpPr>
        <p:spPr>
          <a:xfrm>
            <a:off x="0" y="-2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0" t="-226076" r="-109432" b="-2221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44EC82-137F-8FD9-DA67-38F5137810B6}"/>
              </a:ext>
            </a:extLst>
          </p:cNvPr>
          <p:cNvSpPr/>
          <p:nvPr/>
        </p:nvSpPr>
        <p:spPr>
          <a:xfrm>
            <a:off x="-2" y="0"/>
            <a:ext cx="12192002" cy="713948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1" t="-226073" r="-109430" b="-2221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221826-FB15-5DA1-6707-F4C163C6CFDB}"/>
              </a:ext>
            </a:extLst>
          </p:cNvPr>
          <p:cNvSpPr/>
          <p:nvPr/>
        </p:nvSpPr>
        <p:spPr>
          <a:xfrm>
            <a:off x="-1" y="-93230"/>
            <a:ext cx="12192002" cy="732594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4" t="-219047" r="-109427" b="-2152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11A8A3-B4EE-EB7E-9F2C-93D45BFD6D32}"/>
              </a:ext>
            </a:extLst>
          </p:cNvPr>
          <p:cNvSpPr/>
          <p:nvPr/>
        </p:nvSpPr>
        <p:spPr>
          <a:xfrm>
            <a:off x="-1" y="-2"/>
            <a:ext cx="12192001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2" t="-223154" r="-109429" b="-2179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233354-9791-7BF2-2983-D614F879A572}"/>
              </a:ext>
            </a:extLst>
          </p:cNvPr>
          <p:cNvSpPr/>
          <p:nvPr/>
        </p:nvSpPr>
        <p:spPr>
          <a:xfrm>
            <a:off x="-1" y="-2"/>
            <a:ext cx="12192000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3" t="-223159" r="-109428" b="-2179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39F0D-B44A-F824-E008-8560A6309DBA}"/>
              </a:ext>
            </a:extLst>
          </p:cNvPr>
          <p:cNvSpPr txBox="1"/>
          <p:nvPr/>
        </p:nvSpPr>
        <p:spPr>
          <a:xfrm>
            <a:off x="1004473" y="3157343"/>
            <a:ext cx="583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Strategy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EA642-D069-958E-A24D-5CB99B0F44AA}"/>
              </a:ext>
            </a:extLst>
          </p:cNvPr>
          <p:cNvCxnSpPr>
            <a:cxnSpLocks/>
          </p:cNvCxnSpPr>
          <p:nvPr/>
        </p:nvCxnSpPr>
        <p:spPr>
          <a:xfrm>
            <a:off x="8286904" y="6464483"/>
            <a:ext cx="3523342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B6A2FC1-11AA-1477-5B10-756FBF7DC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337" y="6552802"/>
            <a:ext cx="1121909" cy="216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E14C6E-C1B2-BAC8-41CB-FE011227B300}"/>
              </a:ext>
            </a:extLst>
          </p:cNvPr>
          <p:cNvSpPr txBox="1"/>
          <p:nvPr/>
        </p:nvSpPr>
        <p:spPr>
          <a:xfrm>
            <a:off x="8277097" y="6554237"/>
            <a:ext cx="21226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© 2026 Grant Thornton Bahrain.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Vision, Ambition &amp; Strategic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4396" y="1130000"/>
            <a:ext cx="11263086" cy="9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VISION 2028   </a:t>
            </a:r>
            <a:r>
              <a:rPr sz="1500" b="0">
                <a:solidFill>
                  <a:srgbClr val="FFFFFF"/>
                </a:solidFill>
                <a:latin typeface="Arial"/>
              </a:rPr>
              <a:t>By 2028, Grant Thornton Bahrain is the Kingdom's most trusted advisor for responsible, value-driven AI - and an AI-enabled firm that practises what it advises.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2180000"/>
            <a:ext cx="3654362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Objective 1  </a:t>
            </a:r>
            <a:r>
              <a:rPr sz="1300" b="1">
                <a:solidFill>
                  <a:srgbClr val="FFFFFF"/>
                </a:solidFill>
                <a:latin typeface="Arial"/>
              </a:rPr>
              <a:t>An AI-ready firm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780000"/>
            <a:ext cx="3654362" cy="2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96" y="2880000"/>
            <a:ext cx="3534362" cy="2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AI Ready7 readiness from 61.4% to &gt;= 75% (Repeatable) by end-2027 and &gt;= 85% by end-2028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100% of AI use cases registered, risk-tiered and assessed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ISO/IEC 42001 certification-ready by end-2027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758" y="2180000"/>
            <a:ext cx="3654362" cy="6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Objective 2  </a:t>
            </a:r>
            <a:r>
              <a:rPr sz="1300" b="1">
                <a:solidFill>
                  <a:srgbClr val="FFFFFF"/>
                </a:solidFill>
                <a:latin typeface="Arial"/>
              </a:rPr>
              <a:t>Productivity &amp; quality through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758" y="2780000"/>
            <a:ext cx="3654362" cy="2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8758" y="2880000"/>
            <a:ext cx="3534362" cy="2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10+ production use cases with measured benefits by 2028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10-15% time saved in targeted processes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Zero client-data leakage incidents via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3120" y="2180000"/>
            <a:ext cx="3654362" cy="6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Objective 3  </a:t>
            </a:r>
            <a:r>
              <a:rPr sz="1300" b="1">
                <a:solidFill>
                  <a:srgbClr val="FFFFFF"/>
                </a:solidFill>
                <a:latin typeface="Arial"/>
              </a:rPr>
              <a:t>A market-leading AI advisory practice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3120" y="2780000"/>
            <a:ext cx="3654362" cy="2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120" y="2880000"/>
            <a:ext cx="3534362" cy="2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Four AI service lines launched with productised entry offers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12 AI engagements in 2027, 25 in 2028 (proposed targets)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Recognised thought leadership on responsible AI in Bahrain / GCC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396" y="5380000"/>
            <a:ext cx="11263086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Targets are proposed for leadership validation; baselines marked 'to be baselined' in the KPI dashboard will be measured in the first 100 days.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Strategic Pillars &amp; Guiding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Five pillars close the readiness gaps and build the advisory business - underpinned by six non-negotiable principles.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2172617" cy="75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Trusted &amp; Governed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230000"/>
            <a:ext cx="2172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Responsible by design: policy, AI register, lifecycle risk assessment, CoE guardrails, ISO/IEC 42001-aligned AIMS.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3930000"/>
            <a:ext cx="217261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850" b="1">
                <a:solidFill>
                  <a:srgbClr val="4F2D7F"/>
                </a:solidFill>
                <a:latin typeface="Arial"/>
              </a:rPr>
              <a:t>Governance &amp; Ethics; Data &amp; 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7013" y="1480000"/>
            <a:ext cx="2172617" cy="75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AI-Fluent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7013" y="2230000"/>
            <a:ext cx="2172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Every professional AI-literate; specialists, leaders and champions developed through role-based pathways.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7013" y="3930000"/>
            <a:ext cx="217261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850" b="1">
                <a:solidFill>
                  <a:srgbClr val="7B5BA6"/>
                </a:solidFill>
                <a:latin typeface="Arial"/>
              </a:rPr>
              <a:t>Training &amp;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9630" y="1480000"/>
            <a:ext cx="2172617" cy="75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Intelligent Firm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9630" y="2230000"/>
            <a:ext cx="2172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Prioritised internal use cases in audit, tax, advisory and operations with measured value.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9630" y="3930000"/>
            <a:ext cx="217261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850" b="1">
                <a:solidFill>
                  <a:srgbClr val="00A7B5"/>
                </a:solidFill>
                <a:latin typeface="Arial"/>
              </a:rPr>
              <a:t>Business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42247" y="1480000"/>
            <a:ext cx="2172617" cy="75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Secure AI Foundations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42247" y="2230000"/>
            <a:ext cx="2172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Reference architecture, protected data, secure-by-default AI agents, AI security testing, monitoring and deepfake-resilient processes.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247" y="3930000"/>
            <a:ext cx="217261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1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850" b="1">
                <a:solidFill>
                  <a:srgbClr val="2E1A47"/>
                </a:solidFill>
                <a:latin typeface="Arial"/>
              </a:rPr>
              <a:t>Architecture; Protect AI; AI Threats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4864" y="1480000"/>
            <a:ext cx="2172617" cy="75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Market-Leading AI Advisory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4864" y="2230000"/>
            <a:ext cx="2172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Four AI service lines packaged, launched and scaled into priority sectors across Bahrain and the GCC.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14864" y="3930000"/>
            <a:ext cx="217261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850" b="1">
                <a:solidFill>
                  <a:srgbClr val="E8705F"/>
                </a:solidFill>
                <a:latin typeface="Arial"/>
              </a:rPr>
              <a:t>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396" y="4430000"/>
            <a:ext cx="11263086" cy="36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GUIDING PRINCIPLES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396" y="4860000"/>
            <a:ext cx="5581543" cy="15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Human-in-charge: professionals remain accountable for every AI-assisted output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Client confidentiality first: no client data in unapproved AI tools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Value before technology: every use case has an owner and a measurable 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5939" y="4860000"/>
            <a:ext cx="5581543" cy="15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Proportionate risk: controls scale with the risk tier of each use case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Vendor-agnostic and secure by design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Practise what we advise: GT tools and RCM applied to ourselves first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AI Risk Appetite &amp;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 clear appetite enables confident experimentation while protecting what matters most: client trust, confidentiality and professional standards (RCM RM-6).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480000"/>
          <a:ext cx="11263085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3496"/>
                <a:gridCol w="1240848"/>
                <a:gridCol w="7158741"/>
              </a:tblGrid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Risk category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Appetite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Statement / guardrail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Client confidentiality &amp; data 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Very low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No client or personal data in unapproved AI tools; enterprise tools with no-training and in-region / approved hosting only.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Regulatory &amp; professional-standards compliance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Very low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AI use must comply with PDPL, IESBA/ISQM 1 quality management and client contractual terms.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Quality of client deliverables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Human review and sign-off mandatory for all AI-assisted client outputs; no autonomous client-facing AI without CoE approval.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Operational &amp; productivity experimentation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Moderate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Experimentation encouraged within the approved sandbox, with synthetic / non-confidential data.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Innovation &amp; new AI services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Moderate-High</a:t>
                      </a:r>
                    </a:p>
                  </a:txBody>
                  <a:tcPr marL="54864" marR="54864" marT="27432" marB="27432" anchor="ctr"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Invest in new AI offerings and pilots through stage-gates with defined success criteria.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4396" y="5030000"/>
            <a:ext cx="11263086" cy="8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1">
                <a:solidFill>
                  <a:srgbClr val="222222"/>
                </a:solidFill>
                <a:latin typeface="Arial"/>
              </a:rPr>
              <a:t>Operationalised through: </a:t>
            </a:r>
            <a:r>
              <a:rPr sz="1050" b="0">
                <a:solidFill>
                  <a:srgbClr val="222222"/>
                </a:solidFill>
                <a:latin typeface="Arial"/>
              </a:rPr>
              <a:t>AI acceptable-use policy (GL-5) | AI register &amp; risk tiering (GL-8, RM-5) | GT AI Risk Assessment Framework (approval by tier) | KRIs with mandatory responses (RM-6) | human-in-charge sign-off for client deliverables (RS-1).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Use-Case Portfolio Prioritisation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12 candidate use cases scored on business value and feasibility (data readiness, technical complexity, change effort); bubble size reflects risk tier.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4396" y="1380000"/>
          <a:ext cx="6532589" cy="47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Oval 10"/>
          <p:cNvSpPr/>
          <p:nvPr/>
        </p:nvSpPr>
        <p:spPr>
          <a:xfrm>
            <a:off x="824396" y="6130000"/>
            <a:ext cx="160000" cy="160000"/>
          </a:xfrm>
          <a:prstGeom prst="ellipse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396" y="6080000"/>
            <a:ext cx="1000000" cy="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Low risk</a:t>
            </a:r>
          </a:p>
        </p:txBody>
      </p:sp>
      <p:sp>
        <p:nvSpPr>
          <p:cNvPr id="13" name="Oval 12"/>
          <p:cNvSpPr/>
          <p:nvPr/>
        </p:nvSpPr>
        <p:spPr>
          <a:xfrm>
            <a:off x="2124396" y="6130000"/>
            <a:ext cx="160000" cy="160000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4396" y="6080000"/>
            <a:ext cx="1000000" cy="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Medium risk</a:t>
            </a:r>
          </a:p>
        </p:txBody>
      </p:sp>
      <p:sp>
        <p:nvSpPr>
          <p:cNvPr id="15" name="Oval 14"/>
          <p:cNvSpPr/>
          <p:nvPr/>
        </p:nvSpPr>
        <p:spPr>
          <a:xfrm>
            <a:off x="3424396" y="6130000"/>
            <a:ext cx="160000" cy="160000"/>
          </a:xfrm>
          <a:prstGeom prst="ellipse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396" y="6080000"/>
            <a:ext cx="1000000" cy="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High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8306" y="1612000"/>
            <a:ext cx="1400000" cy="2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B5BA6"/>
                </a:solidFill>
                <a:latin typeface="Arial"/>
              </a:rPr>
              <a:t>STRATEGIC BETS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816" y="1612000"/>
            <a:ext cx="1400000" cy="2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A85B"/>
                </a:solidFill>
                <a:latin typeface="Arial"/>
              </a:rPr>
              <a:t>QUICK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8306" y="5000000"/>
            <a:ext cx="1400000" cy="2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95959"/>
                </a:solidFill>
                <a:latin typeface="Arial"/>
              </a:rPr>
              <a:t>DEPRIORITISE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0467" y="5000000"/>
            <a:ext cx="1400000" cy="2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0A7B5"/>
                </a:solidFill>
                <a:latin typeface="Arial"/>
              </a:rPr>
              <a:t>FILL-INS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206985" y="1380000"/>
          <a:ext cx="4580496" cy="46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44"/>
                <a:gridCol w="2389824"/>
                <a:gridCol w="398304"/>
                <a:gridCol w="398304"/>
                <a:gridCol w="862992"/>
                <a:gridCol w="298728"/>
              </a:tblGrid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Quadrant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Proposal &amp; report drafting assistant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Quick win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Knowledge assistant (methodology RAG)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4.25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3.70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Quick win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Meeting transcription &amp; summaries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Fill-in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Audit analytics &amp; anomaly detection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4.85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3.00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Strategic bet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Tax research &amp; regulatory Q&amp;A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Quick win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Client AI readiness self-assessment portal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4.40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3.20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Strategic bet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AI-assisted control testing (RCM)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Strategic bet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Marketing &amp; thought-leadership content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2.40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4.75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Fill-in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Contract &amp; document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Strategic bet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Finance, timesheet &amp; billing automation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2.85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4.05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Fill-in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Agentic engagement workflow assistant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4.60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2.00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Strategic bet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Client onboarding / KYC screening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3.35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3.00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Deprioritise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206985" y="6030000"/>
            <a:ext cx="4580497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V = value, F = feasibility (weighted 1-5 scores - see Strategy Toolkit), H = horizon. Quadrant threshold 3.5.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Priority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Horizon 1 quick wins build confidence and adoption; Horizon 2 pilots target the highest-value professional-services processes.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480000"/>
          <a:ext cx="11263084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814"/>
                <a:gridCol w="1648256"/>
                <a:gridCol w="5494188"/>
                <a:gridCol w="915698"/>
                <a:gridCol w="824128"/>
              </a:tblGrid>
              <a:tr h="5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Risk tier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Proposal &amp; report drafting assistant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All service 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Enterprise GenAI with GT templates for proposals, reports and client letters; mandatory human review.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Meeting transcription &amp; summaries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Firm-wide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Automated minutes, action tracking and summaries for internal meetings and client workshops (with consent).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Knowledge assistant (methodology RAG)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Firm-wide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Retrieval-augmented assistant over GT methodologies, standards, Bahrain laws and prior (sanitised) work.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Audit analytics &amp; anomaly detection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Audit &amp; Assurance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AI-assisted journal-entry testing, anomaly detection and full-population analytics under ISA / ISQM 1.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Tax research &amp; regulatory Q&amp;A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Tax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Grounded assistant for Bahrain VAT, corporate / top-up tax and GCC tax research with citations.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AI-assisted control testing (RCM)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Risk Advisory / AI GRC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Evidence review and control-test support using the GT AI RCM v2.1 test plans and AI security audit checklist.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4396" y="5560000"/>
            <a:ext cx="11263086" cy="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1">
                <a:solidFill>
                  <a:srgbClr val="222222"/>
                </a:solidFill>
                <a:latin typeface="Arial"/>
              </a:rPr>
              <a:t>Every use case follows the GT AI Risk Assessment Framework: </a:t>
            </a:r>
            <a:r>
              <a:rPr sz="1050" b="0">
                <a:solidFill>
                  <a:srgbClr val="222222"/>
                </a:solidFill>
                <a:latin typeface="Arial"/>
              </a:rPr>
              <a:t>prohibited-practice screen -&gt; tiering -&gt; risk register -&gt; approval by tier (High = AI Committee). Benefit KPIs and a business owner are set before build.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AI Advisory Service Lines - Go-to-Market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Productised offerings built on GT tools, launched through entry offers and sector campaigns, and scaled via the GT network.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2740771" cy="56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 Governance, Risk &amp;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040000"/>
            <a:ext cx="2740771" cy="2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396" y="2120000"/>
            <a:ext cx="2640771" cy="2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 Readiness &amp; Risk Assessment (15-question tool + report)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 governance framework, policies &amp; AI register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RCM v2.1 compliance / gap review (EU AI Act, PDPL, CBB)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Use-case AI risk &amp; impact assessment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ISO/IEC 42001 readiness &amp; internal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396" y="4540000"/>
            <a:ext cx="2740771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4F2D7F"/>
                </a:solidFill>
                <a:latin typeface="Arial"/>
              </a:rPr>
              <a:t>Target: </a:t>
            </a:r>
            <a:r>
              <a:rPr sz="900" b="0">
                <a:solidFill>
                  <a:srgbClr val="4F2D7F"/>
                </a:solidFill>
                <a:latin typeface="Arial"/>
              </a:rPr>
              <a:t>Banks &amp; insurers, government, telecom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5167" y="1480000"/>
            <a:ext cx="2740771" cy="56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 Strategy &amp; Roadmap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5167" y="2040000"/>
            <a:ext cx="2740771" cy="2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5167" y="2120000"/>
            <a:ext cx="2640771" cy="2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 strategy sprint (6-8 weeks): situational / SWOT, strategy, roadmap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Use-case discovery &amp; prioritisation workshops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 risk appetite &amp; value-realisation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5167" y="4540000"/>
            <a:ext cx="2740771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7B5BA6"/>
                </a:solidFill>
                <a:latin typeface="Arial"/>
              </a:rPr>
              <a:t>Target: </a:t>
            </a:r>
            <a:r>
              <a:rPr sz="900" b="0">
                <a:solidFill>
                  <a:srgbClr val="7B5BA6"/>
                </a:solidFill>
                <a:latin typeface="Arial"/>
              </a:rPr>
              <a:t>Mid-to-large corporates, family groups, government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938" y="1480000"/>
            <a:ext cx="2740771" cy="56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AI-Driven Automation &amp; Apps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5938" y="2040000"/>
            <a:ext cx="2740771" cy="2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938" y="2120000"/>
            <a:ext cx="2640771" cy="2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Technology evaluation &amp; selection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Process automation &amp; AI integration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Industry-specific solutions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AI-powered BCP tool (in preparation)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AI-powered Financial Statements tool (in preparation)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938" y="4540000"/>
            <a:ext cx="2740771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00A7B5"/>
                </a:solidFill>
                <a:latin typeface="Arial"/>
              </a:rPr>
              <a:t>Target: </a:t>
            </a:r>
            <a:r>
              <a:rPr sz="900" b="0">
                <a:solidFill>
                  <a:srgbClr val="00A7B5"/>
                </a:solidFill>
                <a:latin typeface="Arial"/>
              </a:rPr>
              <a:t>Financial services, SMEs, healthcare, hospitality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6709" y="1480000"/>
            <a:ext cx="2740771" cy="56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Training &amp; Awareness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6709" y="2040000"/>
            <a:ext cx="2740771" cy="2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6709" y="2120000"/>
            <a:ext cx="2640771" cy="2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AI literacy academy (all staff; EU AI Act Art. 4-aligned)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Board &amp; leadership AI governance sessions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Immersive labs &amp; AI-driven gamification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Deepfake / AI-phishing simulations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6709" y="4540000"/>
            <a:ext cx="2740771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E8705F"/>
                </a:solidFill>
                <a:latin typeface="Arial"/>
              </a:rPr>
              <a:t>Target: </a:t>
            </a:r>
            <a:r>
              <a:rPr sz="900" b="0">
                <a:solidFill>
                  <a:srgbClr val="E8705F"/>
                </a:solidFill>
                <a:latin typeface="Arial"/>
              </a:rPr>
              <a:t>All sectors; entry offer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396" y="5130000"/>
            <a:ext cx="11263086" cy="85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Entry offers: </a:t>
            </a:r>
            <a:r>
              <a:rPr sz="1050" b="0">
                <a:solidFill>
                  <a:srgbClr val="FFFFFF"/>
                </a:solidFill>
                <a:latin typeface="Arial"/>
              </a:rPr>
              <a:t>AI Readiness &amp; Risk Assessment (2-3 weeks)  |  AI GRC / RCM gap review  |  AI strategy sprint  |  Board AI governance briefing</a:t>
            </a:r>
          </a:p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Channels: </a:t>
            </a:r>
            <a:r>
              <a:rPr sz="1050" b="0">
                <a:solidFill>
                  <a:srgbClr val="FFFFFF"/>
                </a:solidFill>
                <a:latin typeface="Arial"/>
              </a:rPr>
              <a:t>existing audit / advisory client base, GTIL AI Ready7 network, regulator &amp; industry events, thought leadership on PDPL / EU AI Act / ISO/IEC 42001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GT AI Apps &amp; Tools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Proprietary tools accelerate delivery and differentiate the service lines. Two AI-powered apps are currently in preparation.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480000"/>
          <a:ext cx="11263084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067"/>
                <a:gridCol w="3830981"/>
                <a:gridCol w="1762251"/>
                <a:gridCol w="1225914"/>
                <a:gridCol w="1838871"/>
              </a:tblGrid>
              <a:tr h="5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Tool / app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Service line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Next milestone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GT AI Readiness &amp; Risk Assessment 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15-question organisational AI readiness &amp; risk-exposure assessment with auto-generated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GRC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Available (v1.1)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Client pilots in 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GT AI RCM v2.1 + AI Security &amp; Agent Audit Checklist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81-control AI risk &amp; control matrix and 125-item security / agent audit programme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GRC / Cyber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First engagements in 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GT AI Risk Assessment Framework &amp; Toolkit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Use-case tiering, 52-risk taxonomy, register, heat map and sign-off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GRC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Available (v1.1)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Embed in AI CoE intake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AI-powered BCP tool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AI-assisted business impact analysis, BCP / DR plan drafting and tabletop scenarios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Automation / Risk Advisory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In preparation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MVP &amp; internal pilot (indicative H1-H2)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AI-powered Financial Statements 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AI-assisted preparation and review of IFRS financial statements and disclosures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Automation / Accounting Advisory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In preparation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MVP &amp; internal pilot (indicative H1-H2)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Client AI self-assessment portal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Web version of the readiness tool for lead generation and delivery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GRC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54864" marR="54864" marT="27432" marB="27432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Build in 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4396" y="5580000"/>
            <a:ext cx="11263086" cy="6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All GT AI apps are governed like client AI: </a:t>
            </a:r>
            <a:r>
              <a:rPr sz="1050" b="0">
                <a:solidFill>
                  <a:srgbClr val="FFFFFF"/>
                </a:solidFill>
                <a:latin typeface="Arial"/>
              </a:rPr>
              <a:t>risk-tiered with the GT AI Risk Assessment Framework, secured against the GT AI Security &amp; Agent Audit Checklist, and released only with human-in-charge review of outputs.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AI Apps in Preparation - BCP &amp; Financial Statements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Two AI-powered apps extend the AI-Driven Automation service line into repeatable, scalable products. Status: in preparation (indicative MVP and internal pilot in H1-H2).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20000"/>
            <a:ext cx="5556543" cy="48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AI-powered BCP 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0939" y="1500000"/>
            <a:ext cx="1420000" cy="320000"/>
          </a:xfrm>
          <a:prstGeom prst="round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50" b="1">
                <a:solidFill>
                  <a:srgbClr val="2E1A47"/>
                </a:solidFill>
                <a:latin typeface="Arial"/>
              </a:rPr>
              <a:t>IN PREPARATION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1960000"/>
            <a:ext cx="1150000" cy="82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00A7B5"/>
                </a:solidFill>
                <a:latin typeface="Arial"/>
              </a:rPr>
              <a:t>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4396" y="1960000"/>
            <a:ext cx="4406543" cy="82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Business continuity plans are often generic, outdated and slow to build; regulated clients (e.g., CBB licensees) must evidence tested BCM.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2820000"/>
            <a:ext cx="1150000" cy="105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00A7B5"/>
                </a:solidFill>
                <a:latin typeface="Arial"/>
              </a:rPr>
              <a:t>What it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4396" y="2820000"/>
            <a:ext cx="4406543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Guided business impact analysis with AI-suggested impacts, RTO / RPO and dependencies; auto-drafted BCP / DR plans aligned to ISO 22301; AI-generated scenarios and tabletop exercises; gap scoring and maintenance reminders.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3910000"/>
            <a:ext cx="1150000" cy="82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00A7B5"/>
                </a:solidFill>
                <a:latin typeface="Arial"/>
              </a:rPr>
              <a:t>Who 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4396" y="3910000"/>
            <a:ext cx="4406543" cy="82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Banks &amp; insurers, government entities, telecom, healthcare, hospitality and SMEs; links to Training &amp; Awareness BC gamification.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396" y="4770000"/>
            <a:ext cx="1150000" cy="105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00A7B5"/>
                </a:solidFill>
                <a:latin typeface="Arial"/>
              </a:rPr>
              <a:t>Guardrails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74396" y="4770000"/>
            <a:ext cx="4406543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Risk tier Medium; human validation of BIA and plan content; client data in approved hosting; no autonomous actions; covered by RCM v2.1 controls.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0939" y="1420000"/>
            <a:ext cx="5556543" cy="4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AI-powered Financial Statements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482" y="1500000"/>
            <a:ext cx="1420000" cy="320000"/>
          </a:xfrm>
          <a:prstGeom prst="round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50" b="1">
                <a:solidFill>
                  <a:srgbClr val="2E1A47"/>
                </a:solidFill>
                <a:latin typeface="Arial"/>
              </a:rPr>
              <a:t>IN PREPARATION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0939" y="1960000"/>
            <a:ext cx="1150000" cy="82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Why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0939" y="1960000"/>
            <a:ext cx="4406543" cy="82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Preparing and reviewing IFRS financial statements is manual and error-prone; AI can speed mapping, drafting and consistency checks.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0939" y="2820000"/>
            <a:ext cx="1150000" cy="105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What it does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0939" y="2820000"/>
            <a:ext cx="4406543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Trial-balance import with AI-assisted mapping to statement line items; draft primary statements and notes from GT templates; IFRS disclosure checklist with AI suggestions; tie-outs, anomaly and variance flags.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0939" y="3910000"/>
            <a:ext cx="1150000" cy="82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Who for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0939" y="3910000"/>
            <a:ext cx="4406543" cy="82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SMEs and family groups, non-audit clients, GT accounting-advisory teams; internal review aid for engagement teams.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0939" y="4770000"/>
            <a:ext cx="1150000" cy="105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Guardrails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0939" y="4770000"/>
            <a:ext cx="4406543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Risk tier High (financial-reporting impact): qualified accountant review and sign-off mandatory; full audit trail of AI suggestions; independence rules - not offered as a preparation service to audit clients where prohibited (IESBA Code).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Operating Model &amp;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 light, federated model: central CoE for standards and assurance; champions embedded in every service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5939" y="1380000"/>
            <a:ext cx="3400000" cy="48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Managing Partner &amp; Leadership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55939" y="1960000"/>
            <a:ext cx="4800000" cy="6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AI Steering Committee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approves strategy, risk appetite and High / Critical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680000"/>
            <a:ext cx="11263086" cy="34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AI Centre of Excellence (CoE)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396" y="3080000"/>
            <a:ext cx="2725771" cy="80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222222"/>
                </a:solidFill>
                <a:latin typeface="Arial"/>
              </a:rPr>
              <a:t>AI CoE lead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Strategy, portfolio, KPIs, standards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0167" y="3080000"/>
            <a:ext cx="2725771" cy="80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222222"/>
                </a:solidFill>
                <a:latin typeface="Arial"/>
              </a:rPr>
              <a:t>AI GRC lead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Policy, register, risk framework, ISO/IEC 42001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5938" y="3080000"/>
            <a:ext cx="2725771" cy="80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222222"/>
                </a:solidFill>
                <a:latin typeface="Arial"/>
              </a:rPr>
              <a:t>Data &amp; technology lead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Platforms, architecture, ModelOps,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709" y="3080000"/>
            <a:ext cx="2725771" cy="800000"/>
          </a:xfrm>
          <a:prstGeom prst="rect">
            <a:avLst/>
          </a:prstGeom>
          <a:solidFill>
            <a:srgbClr val="EDE7F6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222222"/>
                </a:solidFill>
                <a:latin typeface="Arial"/>
              </a:rPr>
              <a:t>Cyber / AI security lead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Red teaming, guardrails, deepfake defence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396" y="4030000"/>
            <a:ext cx="11263086" cy="34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AI Champions network - Audit | Tax | Advisory | Risk | Operations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24396" y="4480000"/>
          <a:ext cx="11263085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687"/>
                <a:gridCol w="2145349"/>
                <a:gridCol w="6436049"/>
              </a:tblGrid>
              <a:tr h="3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Forum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Cadence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Key inputs / outputs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AI Steering 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Quarterly (monthly in H1)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Roadmap status, KPI dashboard, risk profile, approvals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AI CoE working group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Bi-weekly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Use-case intake, guardrails, incidents, vendor changes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Champions forum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Monthly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Adoption, feedback, training needs, new ideas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Link to GTIL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Ready7 re-assessment, shared tools, global AI policies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KPIs &amp; Value Realisation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Progress is measured against the AI Ready7 baseline and a balanced set of adoption, value, risk and growth indicators.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480000"/>
          <a:ext cx="11263084" cy="46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056"/>
                <a:gridCol w="2218486"/>
                <a:gridCol w="1962507"/>
                <a:gridCol w="1962507"/>
                <a:gridCol w="1706528"/>
              </a:tblGrid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Baseline (Sept 2026)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 end-2027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 end-2028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AI Ready7 overall readiness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61.4% (Informed)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&gt;= 75% (Repeatable)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&gt;= 85%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AI CoE lead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Governance &amp; Ethics pillar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&gt;= 80%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&gt;= 90%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Risk &amp; Quality partner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AI use cases risk-tiered &amp; assessed (AI register)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Register exists; assessment not consistent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100% by Q1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100% + quarterly reconciliation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AI CoE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Staff completing AI literacy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To be baselined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&gt;= 90% by Q2 2027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100% (annual refresh)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/ L&amp;D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Production AI use cases with measured benefits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0 measured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10+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Service-line leaders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Time saved in targeted processes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To be baselined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CoE + Finance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AI advisory engagements delivered (proposed)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Pilot stage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AI service line lead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GT AI apps (BCP tool, Financial Statements tool)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 in preparation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 piloted with clients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 launched commercially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AI service line lead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Client-data leakage incidents via 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CISO / DPO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ISO/IEC 42001 status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Certification-ready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Certified (optional)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Risk &amp; Quality partner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06C7AD44-C87D-49F0-8292-A94679109843}"/>
              </a:ext>
            </a:extLst>
          </p:cNvPr>
          <p:cNvSpPr/>
          <p:nvPr/>
        </p:nvSpPr>
        <p:spPr>
          <a:xfrm>
            <a:off x="0" y="-1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18288000" h="12390120">
                <a:moveTo>
                  <a:pt x="0" y="0"/>
                </a:moveTo>
                <a:lnTo>
                  <a:pt x="18288000" y="0"/>
                </a:lnTo>
                <a:lnTo>
                  <a:pt x="18288000" y="12390120"/>
                </a:lnTo>
                <a:lnTo>
                  <a:pt x="0" y="12390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508D9-0E0F-F987-DECA-55A7FA5DE6B8}"/>
              </a:ext>
            </a:extLst>
          </p:cNvPr>
          <p:cNvSpPr/>
          <p:nvPr/>
        </p:nvSpPr>
        <p:spPr>
          <a:xfrm>
            <a:off x="0" y="-2"/>
            <a:ext cx="12191998" cy="7139483"/>
          </a:xfrm>
          <a:prstGeom prst="rect">
            <a:avLst/>
          </a:prstGeom>
          <a:solidFill>
            <a:srgbClr val="4F2D7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2897C-39BA-0A66-797A-BEB0C83AAE45}"/>
              </a:ext>
            </a:extLst>
          </p:cNvPr>
          <p:cNvSpPr/>
          <p:nvPr/>
        </p:nvSpPr>
        <p:spPr>
          <a:xfrm>
            <a:off x="0" y="-2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0" t="-226076" r="-109432" b="-2221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44EC82-137F-8FD9-DA67-38F5137810B6}"/>
              </a:ext>
            </a:extLst>
          </p:cNvPr>
          <p:cNvSpPr/>
          <p:nvPr/>
        </p:nvSpPr>
        <p:spPr>
          <a:xfrm>
            <a:off x="-2" y="0"/>
            <a:ext cx="12192002" cy="713948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1" t="-226073" r="-109430" b="-2221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221826-FB15-5DA1-6707-F4C163C6CFDB}"/>
              </a:ext>
            </a:extLst>
          </p:cNvPr>
          <p:cNvSpPr/>
          <p:nvPr/>
        </p:nvSpPr>
        <p:spPr>
          <a:xfrm>
            <a:off x="-1" y="-93230"/>
            <a:ext cx="12192002" cy="732594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4" t="-219047" r="-109427" b="-2152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11A8A3-B4EE-EB7E-9F2C-93D45BFD6D32}"/>
              </a:ext>
            </a:extLst>
          </p:cNvPr>
          <p:cNvSpPr/>
          <p:nvPr/>
        </p:nvSpPr>
        <p:spPr>
          <a:xfrm>
            <a:off x="-1" y="-2"/>
            <a:ext cx="12192001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2" t="-223154" r="-109429" b="-2179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233354-9791-7BF2-2983-D614F879A572}"/>
              </a:ext>
            </a:extLst>
          </p:cNvPr>
          <p:cNvSpPr/>
          <p:nvPr/>
        </p:nvSpPr>
        <p:spPr>
          <a:xfrm>
            <a:off x="-1" y="-2"/>
            <a:ext cx="12192000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3" t="-223159" r="-109428" b="-2179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39F0D-B44A-F824-E008-8560A6309DBA}"/>
              </a:ext>
            </a:extLst>
          </p:cNvPr>
          <p:cNvSpPr txBox="1"/>
          <p:nvPr/>
        </p:nvSpPr>
        <p:spPr>
          <a:xfrm>
            <a:off x="1004473" y="3157343"/>
            <a:ext cx="583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EA642-D069-958E-A24D-5CB99B0F44AA}"/>
              </a:ext>
            </a:extLst>
          </p:cNvPr>
          <p:cNvCxnSpPr>
            <a:cxnSpLocks/>
          </p:cNvCxnSpPr>
          <p:nvPr/>
        </p:nvCxnSpPr>
        <p:spPr>
          <a:xfrm>
            <a:off x="8286904" y="6464483"/>
            <a:ext cx="3523342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B6A2FC1-11AA-1477-5B10-756FBF7DC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337" y="6552802"/>
            <a:ext cx="1121909" cy="216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E14C6E-C1B2-BAC8-41CB-FE011227B300}"/>
              </a:ext>
            </a:extLst>
          </p:cNvPr>
          <p:cNvSpPr txBox="1"/>
          <p:nvPr/>
        </p:nvSpPr>
        <p:spPr>
          <a:xfrm>
            <a:off x="8277097" y="6554237"/>
            <a:ext cx="21226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© 2026 Grant Thornton Bahrain. All rights reserved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Roadmap on a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Three horizons move GT Bahrain from 'Informed' to 'Repeatable' and then to a differentiated, AI-enabled advisory firm.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396" y="1480000"/>
            <a:ext cx="3674362" cy="520000"/>
          </a:xfrm>
          <a:prstGeom prst="homePlate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HORIZON 1  | 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396" y="2020000"/>
            <a:ext cx="3674362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4F2D7F"/>
                </a:solidFill>
                <a:latin typeface="Arial"/>
              </a:rPr>
              <a:t>Q4 2026 - Q1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340000"/>
            <a:ext cx="3674362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396" y="2420000"/>
            <a:ext cx="3554362" cy="28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Strategy, risk appetite, AI policy &amp; CoE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AI register refresh; risk framework on every use case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Data classification &amp; DLP for GenAI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AI literacy for all staff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Quick wins: drafting, transcription, knowledge assistant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Entry offers launched; AI BCP &amp; FS apps MVP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5300000"/>
            <a:ext cx="3674362" cy="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Exit: readiness ~68%; no Not-Met items</a:t>
            </a:r>
          </a:p>
        </p:txBody>
      </p:sp>
      <p:sp>
        <p:nvSpPr>
          <p:cNvPr id="15" name="Pentagon 14"/>
          <p:cNvSpPr/>
          <p:nvPr/>
        </p:nvSpPr>
        <p:spPr>
          <a:xfrm>
            <a:off x="4318758" y="1480000"/>
            <a:ext cx="3674362" cy="520000"/>
          </a:xfrm>
          <a:prstGeom prst="homePlate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HORIZON 2  | 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758" y="2020000"/>
            <a:ext cx="3674362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B5BA6"/>
                </a:solidFill>
                <a:latin typeface="Arial"/>
              </a:rPr>
              <a:t>Q2 - Q4 2027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8758" y="2340000"/>
            <a:ext cx="3674362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8758" y="2420000"/>
            <a:ext cx="3554362" cy="28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Reference architecture, monitoring &amp; ModelOps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AI red teaming; agent security baseline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Pilots: audit analytics, tax assistant, document review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Pilot &amp; launch AI BCP and Financial Statements apps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Sector campaigns; role-based pathways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ISO/IEC 42001 AIMS 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758" y="5300000"/>
            <a:ext cx="3674362" cy="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00" b="1">
                <a:solidFill>
                  <a:srgbClr val="7B5BA6"/>
                </a:solidFill>
                <a:latin typeface="Arial"/>
              </a:rPr>
              <a:t>Exit: readiness &gt;= 75% (Repeatable)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3120" y="1480000"/>
            <a:ext cx="3674362" cy="52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HORIZON 3  |  DIFFERENTIATE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3120" y="2020000"/>
            <a:ext cx="3674362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A7B5"/>
                </a:solidFill>
                <a:latin typeface="Arial"/>
              </a:rPr>
              <a:t>2028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3120" y="2340000"/>
            <a:ext cx="3674362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3120" y="2420000"/>
            <a:ext cx="3554362" cy="28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Scale proven use cases; agentic pilots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ISO/IEC 42001 certification (optional)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Client self-assessment portal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Regional delivery via GT network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•  Thought leadership on responsible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3120" y="5300000"/>
            <a:ext cx="3674362" cy="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00" b="1">
                <a:solidFill>
                  <a:srgbClr val="00A7B5"/>
                </a:solidFill>
                <a:latin typeface="Arial"/>
              </a:rPr>
              <a:t>Exit: readiness &gt;= 85%; recognised AI advisor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Detailed Roadmap - Workstreams &amp;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18 months, five workstreams, 23 activities (Oct 2026 - Mar 2028).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4396" y="1250000"/>
            <a:ext cx="1285847" cy="26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Q4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8243" y="1250000"/>
            <a:ext cx="1285847" cy="26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Q1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2091" y="1250000"/>
            <a:ext cx="1285847" cy="26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Q2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5939" y="1250000"/>
            <a:ext cx="1285847" cy="26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Q3 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9786" y="1250000"/>
            <a:ext cx="1285847" cy="26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Q4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93634" y="1250000"/>
            <a:ext cx="1285847" cy="26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Q1 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396" y="1525000"/>
            <a:ext cx="350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4F2D7F"/>
                </a:solidFill>
                <a:latin typeface="Arial"/>
              </a:rPr>
              <a:t>WS1 Governance &amp;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96" y="1687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AI strategy, risk appetite &amp; acceptable-use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4396" y="1724000"/>
            <a:ext cx="852565" cy="114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96" y="1851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AI Steering Committee &amp; CoE charter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4396" y="1888000"/>
            <a:ext cx="852565" cy="114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96" y="2015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AI register refresh &amp; risk-framework rollout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5678" y="2052000"/>
            <a:ext cx="1715130" cy="114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96" y="2179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Vendor AI contract clauses &amp; due diligence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86961" y="2216000"/>
            <a:ext cx="1715130" cy="114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396" y="2343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ISO/IEC 42001 gap assessment &amp; AIMS 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0808" y="2380000"/>
            <a:ext cx="3440260" cy="114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396" y="2507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Certification-readiness audit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31069" y="2544000"/>
            <a:ext cx="1283847" cy="114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396" y="2673000"/>
            <a:ext cx="350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0A7B5"/>
                </a:solidFill>
                <a:latin typeface="Arial"/>
              </a:rPr>
              <a:t>WS2 People &amp;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96" y="2835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AI literacy baseline (all staff)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5678" y="2872000"/>
            <a:ext cx="2146412" cy="114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396" y="2999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Role-based pathways &amp; AI champions network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49526" y="3036000"/>
            <a:ext cx="3008977" cy="114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96" y="3163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Leadership &amp; client-facing enablement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12091" y="3200000"/>
            <a:ext cx="2577695" cy="114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396" y="3327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Annual refresh &amp; workforce plan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9786" y="3364000"/>
            <a:ext cx="2577695" cy="114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4396" y="3493000"/>
            <a:ext cx="350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1A47"/>
                </a:solidFill>
                <a:latin typeface="Arial"/>
              </a:rPr>
              <a:t>WS3 Data, Platforms &amp;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396" y="3655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Data classification for AI &amp; GenAI DLP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4396" y="3692000"/>
            <a:ext cx="1715130" cy="114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396" y="3819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Enterprise GenAI platform &amp; reference architecture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5678" y="3856000"/>
            <a:ext cx="2577695" cy="114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396" y="3983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AI red teaming &amp; deepfake-resilient processes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18243" y="4020000"/>
            <a:ext cx="2577695" cy="114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396" y="4147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Monitoring, KRIs, logging &amp; ModelOps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12091" y="4184000"/>
            <a:ext cx="3008977" cy="114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4396" y="4313000"/>
            <a:ext cx="350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705F"/>
                </a:solidFill>
                <a:latin typeface="Arial"/>
              </a:rPr>
              <a:t>WS4 Use Cases &amp; 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396" y="4475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Quick wins: drafting, transcription, knowledge assistant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55678" y="4512000"/>
            <a:ext cx="2146412" cy="114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396" y="4639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Pilots: audit analytics, tax assistant, document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0808" y="4676000"/>
            <a:ext cx="2577695" cy="114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396" y="4803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Scale proven use cases; agentic pilots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68504" y="4840000"/>
            <a:ext cx="3008977" cy="114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4396" y="4969000"/>
            <a:ext cx="350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B5BA6"/>
                </a:solidFill>
                <a:latin typeface="Arial"/>
              </a:rPr>
              <a:t>WS5 AI Service Line &amp; Apps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396" y="5131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Package offerings &amp; tools; pricing approach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4396" y="5168000"/>
            <a:ext cx="1283847" cy="114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396" y="5295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AI apps (BCP, Financial Statements): design &amp; MVP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55678" y="5332000"/>
            <a:ext cx="2577695" cy="114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396" y="5459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AI apps: risk assessment, internal pilot &amp; client launch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3373" y="5496000"/>
            <a:ext cx="3008977" cy="114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396" y="5623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Launch &amp; first pilot clients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18243" y="5660000"/>
            <a:ext cx="1715130" cy="114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396" y="5787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Sector campaigns (FS, government, telecom)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2091" y="5824000"/>
            <a:ext cx="3008977" cy="114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396" y="5951000"/>
            <a:ext cx="3380000" cy="164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Regional scale via the GT network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99786" y="5988000"/>
            <a:ext cx="2577695" cy="114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6612091" y="1520000"/>
            <a:ext cx="0" cy="4607000"/>
          </a:xfrm>
          <a:prstGeom prst="line">
            <a:avLst/>
          </a:prstGeom>
          <a:ln w="15875">
            <a:solidFill>
              <a:srgbClr val="00A7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493634" y="1520000"/>
            <a:ext cx="0" cy="4607000"/>
          </a:xfrm>
          <a:prstGeom prst="line">
            <a:avLst/>
          </a:prstGeom>
          <a:ln w="15875">
            <a:solidFill>
              <a:srgbClr val="00A7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24396" y="6147000"/>
            <a:ext cx="3500000" cy="22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00A7B5"/>
                </a:solidFill>
                <a:latin typeface="Arial"/>
              </a:rPr>
              <a:t>Dashed lines: start of H2 (Apr 2027) and H3 (Jan 2028)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First 100 Days - Mobilisation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Concrete actions and owners to start immediately after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3674362" cy="4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Days 0-30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04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Approve AI strategy, objectives &amp; risk appetite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Managing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97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Constitute AI Steering Committee and AI CoE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Managing Partner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396" y="390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Issue AI acceptable-use policy &amp; approved-tools list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Risk &amp;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483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Enforce data-classification rules &amp; DLP for GenAI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IT / InfoSec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758" y="1480000"/>
            <a:ext cx="3674362" cy="48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Days 31-60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758" y="204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Refresh AI register; tier &amp; assess all AI tools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AI CoE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8758" y="297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Launch AI literacy baseline for all staff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HR / L&amp;D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8758" y="390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Start quick-win pilots (drafting, transcription, knowledge)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AI CoE + service 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758" y="483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Package entry offers; confirm MVP scope of AI BCP &amp; Financial Statements apps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AI service line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3120" y="1480000"/>
            <a:ext cx="3674362" cy="48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Days 61-100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3120" y="204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Reference architecture v1 and AI logging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3120" y="297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AI red-team of internal GenAI assistant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Cyber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3120" y="390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First 3 client pilots of the readiness assessment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AI service line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3120" y="4830000"/>
            <a:ext cx="3674362" cy="8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KPI baseline and AI Ready7 checkpoint to leadership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Owner: AI CoE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396" y="5830000"/>
            <a:ext cx="11263086" cy="5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Day-100 checkpoint: AI Ready7 re-run on Governance &amp; Ethics and Data &amp; Quality items; target no 'Not Met' items and readiness ~65%.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Resourcing, Investment &amp;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Indicative requirements - to be sized in the Horizon 1 business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3674362" cy="46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People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940000"/>
            <a:ext cx="3674362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96" y="2020000"/>
            <a:ext cx="3554362" cy="2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AI service line lead (partner / director sponsor)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AI CoE lead and 2 AI GRC specialists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1-2 data / AI engineers (or partner capacity)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Cyber AI-security specialist (shared with Cyber team)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AI champion in each service line (10-20% 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758" y="1480000"/>
            <a:ext cx="3674362" cy="46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Platforms &amp;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758" y="1940000"/>
            <a:ext cx="3674362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8758" y="2020000"/>
            <a:ext cx="3554362" cy="2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Enterprise GenAI suite with no-training and data-residency terms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Knowledge / RAG platform over GT methodologies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GRC tooling for AI register &amp; assessments (OneTrust already used for AI Ready7)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DLP / CASB for GenAI; AI logging &amp; monitoring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Workstations per GT AI system-setup specification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120" y="1480000"/>
            <a:ext cx="3674362" cy="46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Partners &amp; ecosystem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3120" y="1940000"/>
            <a:ext cx="3674362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3120" y="2020000"/>
            <a:ext cx="3554362" cy="2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GTIL AI and cyber networks (AI Ready7, shared tools)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Technology partners for build and integration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Training partners / academia for AI literacy content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Certification bodies for ISO/IEC 42001 readiness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396" y="4780000"/>
            <a:ext cx="11263086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1">
                <a:solidFill>
                  <a:srgbClr val="222222"/>
                </a:solidFill>
                <a:latin typeface="Arial"/>
              </a:rPr>
              <a:t>Key dependencies: </a:t>
            </a:r>
            <a:r>
              <a:rPr sz="1050" b="0">
                <a:solidFill>
                  <a:srgbClr val="222222"/>
                </a:solidFill>
                <a:latin typeface="Arial"/>
              </a:rPr>
              <a:t>leadership sponsorship and time of champions; IT capacity for platform and DLP changes; client consent terms for AI use on engagements; GTIL global AI policies and approved-tool lists; budget release for Horizon 1.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Risks to the Strategy &amp; Mitigations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4396" y="1230000"/>
          <a:ext cx="11263085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7895"/>
                <a:gridCol w="7835190"/>
              </a:tblGrid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Low adoption / change resistance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Visible leadership sponsorship, AI champions, quick wins communicated firm-wide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Client-data leakage through AI tools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Acceptable-use policy, enterprise tools only, DLP, no-training contract clauses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Investment without measurable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Stage-gates, benefit KPIs per use case, quarterly portfolio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Shortage of AI talent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Targeted hiring, GTIL expertise sharing, technology partners, upskilling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Reputational harm from AI errors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Human-in-charge sign-off, QA sampling, professional-standards alignment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Regulatory change (Bahrain AI law, EU AI Act)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Obligations register and horizon scanning (RCM RO-5)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Liability from GT AI apps (BCP, financial statements outputs)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Apps assessed under the GT AI Risk Assessment Framework; qualified professional review of outputs; clear terms of use; independence checks for audit clients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Vendor lock-in / platform change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Multi-model reference architecture, exit clauses, periodic re-evaluation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Decisions Required &amp; 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4396" y="1280000"/>
            <a:ext cx="5556543" cy="46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Decisions required from leadership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810000"/>
            <a:ext cx="520000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4396" y="1810000"/>
            <a:ext cx="4996543" cy="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Approve the AI vision, three strategic objectives and the AI risk appetite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500000"/>
            <a:ext cx="520000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4396" y="2500000"/>
            <a:ext cx="4996543" cy="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Appoint the executive AI sponsor and the AI CoE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3190000"/>
            <a:ext cx="520000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4396" y="3190000"/>
            <a:ext cx="4996543" cy="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Release Horizon 1 resources and budget envelope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3880000"/>
            <a:ext cx="520000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4396" y="3880000"/>
            <a:ext cx="4996543" cy="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Endorse the four Horizon 1 use cases for pilot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396" y="4570000"/>
            <a:ext cx="520000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4396" y="4570000"/>
            <a:ext cx="4996543" cy="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Endorse the AI service-line launch plan and entry offers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396" y="5260000"/>
            <a:ext cx="520000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396" y="5260000"/>
            <a:ext cx="4996543" cy="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Approve MVP investment for the AI BCP and Financial Statements apps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0939" y="1280000"/>
            <a:ext cx="5556543" cy="46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0939" y="1810000"/>
            <a:ext cx="5556543" cy="3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0939" y="1900000"/>
            <a:ext cx="5396543" cy="3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1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Week 1-2: leadership review of this strategy and risk appetite</a:t>
            </a:r>
          </a:p>
          <a:p>
            <a:pPr algn="l">
              <a:spcAft>
                <a:spcPts val="1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Week 2: issue interim AI acceptable-use policy</a:t>
            </a:r>
          </a:p>
          <a:p>
            <a:pPr algn="l">
              <a:spcAft>
                <a:spcPts val="1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Week 3: CoE mobilised; 100-day plan kicked off</a:t>
            </a:r>
          </a:p>
          <a:p>
            <a:pPr algn="l">
              <a:spcAft>
                <a:spcPts val="1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Week 4: quick-win pilot scoping and baseline KPIs</a:t>
            </a:r>
          </a:p>
          <a:p>
            <a:pPr algn="l">
              <a:spcAft>
                <a:spcPts val="1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 Day 100: progress checkpoint to the Steering Committee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Appendix - AI Ready7 Gap-to-Roadmap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Every item not fully met in the Sept 2026 AI Ready7 assessment is addressed by a roadmap action.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180000"/>
          <a:ext cx="11263084" cy="4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391"/>
                <a:gridCol w="3080502"/>
                <a:gridCol w="962656"/>
                <a:gridCol w="5005816"/>
                <a:gridCol w="770125"/>
                <a:gridCol w="577594"/>
              </a:tblGrid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Roadmap response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WS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Strategy, Culture &amp; Risk Appetite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Approve AI strategy, executive sponsor and AI risk appetite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Portfolio Governance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Use-case intake, prioritisation and shadow-AI conversion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WS4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Value Realisation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Benefit KPIs and quarterly portfolio value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H1-H2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Client &amp; Stakeholder Assurance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Publish responsible-AI statement for clients; ISO/IEC 42001 readiness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AI Policy &amp; Acceptable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AI acceptable-use policy and approved-tools catalogue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2.3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Adoption Guardrails &amp; Ethical Standards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AI CoE charter and practical guardrails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2.4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Risk Assessment &amp; Governance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Not Met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Roll out GT AI Risk Assessment Framework to all AI use cases &amp; vendors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3.1-3.3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Literacy, Validation, Security awareness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Most Met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Mandatory literacy refresh; deepfake simulations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H1-H2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Role-Based Capability Development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Role-based pathways, AI champions, workforce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Enterprise AI Reference Architecture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Reference architecture v1 (data, models, agents, security)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H1-H2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Integration &amp; Execution Authority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Agent execution-authority standard and trust boundaries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API, Access &amp; Trust Enforcement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Centralised API gateway / access control for AI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Observability &amp; Performance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Monitoring with KRIs, thresholds and mandatory responses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Cost, Compute &amp; Platform Governance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Most Met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Governed pathway from citizen-developed AI to production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5.1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Data Classification, Access &amp; Handling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Not Met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Classification rules for AI, DLP on GenAI, data-readiness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5.2 / 5.5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Human Oversight; Privacy safeguards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Most Met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Human-in-charge standard for deliverables; prompt redaction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6.1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Identity, Access &amp; Privilege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Most Met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Non-human / agent identity and credential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6.2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Data &amp; Model Protection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Vendor AI contract clauses (no training, residency, audit)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H1-H2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6.3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Secure AI Development &amp; ModelOps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Secure AI SDLC and ModelOps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6.4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AI Security Testing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AI red teaming of internal assistants before scale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H1-H2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6.5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Runtime Protection &amp; Logging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Runtime guardrails and forensic-ready AI logging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7.3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Identity, Behavioural &amp; Deepfake Defence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Some Met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Deepfake-resilient verification for payments &amp; sensitive requests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H1-H2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22222"/>
                          </a:solidFill>
                          <a:latin typeface="Arial"/>
                        </a:rPr>
                        <a:t>7.1/7.2/7.4/7.5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Threat intel, SOC, IR, Exposure mgmt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Most Met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Sustain; add AI-specific scenarios to SOC and red teaming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H2-H3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22222"/>
                          </a:solidFill>
                          <a:latin typeface="Arial"/>
                        </a:rPr>
                        <a:t>WS3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A46A0A1A-B19E-0BFC-6EEF-260FF5AB704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9" name="Picture 3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A3A203B-D766-3AEA-9F50-6032B251B3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931" y="669123"/>
            <a:ext cx="1971437" cy="384947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329E1795-73BD-0E0E-ED10-5D29E643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Grant Thornton Bahrain. All rights reserved</a:t>
            </a:r>
            <a:endParaRPr kumimoji="0" lang="en-GB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A4DDDF-97D9-D0B9-B463-C091F6493B4C}"/>
              </a:ext>
            </a:extLst>
          </p:cNvPr>
          <p:cNvCxnSpPr>
            <a:cxnSpLocks/>
          </p:cNvCxnSpPr>
          <p:nvPr/>
        </p:nvCxnSpPr>
        <p:spPr>
          <a:xfrm>
            <a:off x="8187070" y="6465888"/>
            <a:ext cx="3611230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885719-5C02-DCBF-DF94-A69A46A2E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C2AB6E-E684-4F3A-C6AF-FD54CA90F340}"/>
              </a:ext>
            </a:extLst>
          </p:cNvPr>
          <p:cNvSpPr txBox="1"/>
          <p:nvPr/>
        </p:nvSpPr>
        <p:spPr>
          <a:xfrm>
            <a:off x="1993614" y="2775950"/>
            <a:ext cx="7999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82834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4 GT Brand Colours">
      <a:dk1>
        <a:sysClr val="windowText" lastClr="000000"/>
      </a:dk1>
      <a:lt1>
        <a:sysClr val="window" lastClr="FFFFFF"/>
      </a:lt1>
      <a:dk2>
        <a:srgbClr val="2B144D"/>
      </a:dk2>
      <a:lt2>
        <a:srgbClr val="F2F0EE"/>
      </a:lt2>
      <a:accent1>
        <a:srgbClr val="4F2D7F"/>
      </a:accent1>
      <a:accent2>
        <a:srgbClr val="00A4B3"/>
      </a:accent2>
      <a:accent3>
        <a:srgbClr val="A06DFF"/>
      </a:accent3>
      <a:accent4>
        <a:srgbClr val="FFC23D"/>
      </a:accent4>
      <a:accent5>
        <a:srgbClr val="FF5149"/>
      </a:accent5>
      <a:accent6>
        <a:srgbClr val="E0DCD7"/>
      </a:accent6>
      <a:hlink>
        <a:srgbClr val="CE2C2C"/>
      </a:hlink>
      <a:folHlink>
        <a:srgbClr val="2B144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I Tech Agency Infographics by Slidesgo">
  <a:themeElements>
    <a:clrScheme name="2024 GT Brand Colours">
      <a:dk1>
        <a:sysClr val="windowText" lastClr="000000"/>
      </a:dk1>
      <a:lt1>
        <a:sysClr val="window" lastClr="FFFFFF"/>
      </a:lt1>
      <a:dk2>
        <a:srgbClr val="2B144D"/>
      </a:dk2>
      <a:lt2>
        <a:srgbClr val="F2F0EE"/>
      </a:lt2>
      <a:accent1>
        <a:srgbClr val="4F2D7F"/>
      </a:accent1>
      <a:accent2>
        <a:srgbClr val="00A4B3"/>
      </a:accent2>
      <a:accent3>
        <a:srgbClr val="A06DFF"/>
      </a:accent3>
      <a:accent4>
        <a:srgbClr val="FFC23D"/>
      </a:accent4>
      <a:accent5>
        <a:srgbClr val="FF5149"/>
      </a:accent5>
      <a:accent6>
        <a:srgbClr val="E0DCD7"/>
      </a:accent6>
      <a:hlink>
        <a:srgbClr val="CE2C2C"/>
      </a:hlink>
      <a:folHlink>
        <a:srgbClr val="2B14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BCE743941B38499BA0828BD6747A51" ma:contentTypeVersion="14" ma:contentTypeDescription="Create a new document." ma:contentTypeScope="" ma:versionID="5b5103ee929778762073fe6fa317c747">
  <xsd:schema xmlns:xsd="http://www.w3.org/2001/XMLSchema" xmlns:xs="http://www.w3.org/2001/XMLSchema" xmlns:p="http://schemas.microsoft.com/office/2006/metadata/properties" xmlns:ns2="5e0ef65a-1ea4-4b7d-b000-a53661fd6977" xmlns:ns3="85621b14-c816-4f8e-852d-41713515fa48" targetNamespace="http://schemas.microsoft.com/office/2006/metadata/properties" ma:root="true" ma:fieldsID="137ff7116f4ec37242bcc4c84de4ffe6" ns2:_="" ns3:_="">
    <xsd:import namespace="5e0ef65a-1ea4-4b7d-b000-a53661fd6977"/>
    <xsd:import namespace="85621b14-c816-4f8e-852d-41713515fa4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ef65a-1ea4-4b7d-b000-a53661fd69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c99e683d-467f-4dfa-9912-3e70df3bffd8}" ma:internalName="TaxCatchAll" ma:showField="CatchAllData" ma:web="5e0ef65a-1ea4-4b7d-b000-a53661fd69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621b14-c816-4f8e-852d-41713515fa4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1eeafb0-3949-4f31-85ca-d6b5cf5d88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621b14-c816-4f8e-852d-41713515fa48">
      <Terms xmlns="http://schemas.microsoft.com/office/infopath/2007/PartnerControls"/>
    </lcf76f155ced4ddcb4097134ff3c332f>
    <TaxCatchAll xmlns="5e0ef65a-1ea4-4b7d-b000-a53661fd697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F2BD41-BE98-4252-9DDA-C8535B0DAFC0}">
  <ds:schemaRefs>
    <ds:schemaRef ds:uri="5e0ef65a-1ea4-4b7d-b000-a53661fd6977"/>
    <ds:schemaRef ds:uri="85621b14-c816-4f8e-852d-41713515fa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1EE9459-EFE9-4808-8BC6-7BD989BABDE1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85621b14-c816-4f8e-852d-41713515fa48"/>
    <ds:schemaRef ds:uri="http://schemas.microsoft.com/office/infopath/2007/PartnerControls"/>
    <ds:schemaRef ds:uri="5e0ef65a-1ea4-4b7d-b000-a53661fd6977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D5F560F-52AE-4DA0-95BC-B02FDADBA8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36392</TotalTime>
  <Words>3295</Words>
  <Application>Microsoft Office PowerPoint</Application>
  <PresentationFormat>Widescreen</PresentationFormat>
  <Paragraphs>385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Fira Sans Condensed</vt:lpstr>
      <vt:lpstr>Fira Sans Condensed Light</vt:lpstr>
      <vt:lpstr>GT Walsheim Pro Bold</vt:lpstr>
      <vt:lpstr>GT Walsheim Pro Regular</vt:lpstr>
      <vt:lpstr>Lato Light</vt:lpstr>
      <vt:lpstr>Poppins</vt:lpstr>
      <vt:lpstr>Rajdhani</vt:lpstr>
      <vt:lpstr>Office Theme</vt:lpstr>
      <vt:lpstr>AI Tech Agency Infographics by Slidesgo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Kajal Rajusth</dc:creator>
  <cp:lastModifiedBy>Mahek Trivedi</cp:lastModifiedBy>
  <cp:revision>84</cp:revision>
  <dcterms:created xsi:type="dcterms:W3CDTF">2024-04-22T06:15:53Z</dcterms:created>
  <dcterms:modified xsi:type="dcterms:W3CDTF">2026-09-24T13:08:32Z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0x01010042BCE743941B38499BA0828BD6747A51</vt:lpwstr>
  </property>
  <property fmtid="{D5CDD505-2E9C-101B-9397-08002B2CF9AE}" pid="3" name="MediaServiceImageTags">
    <vt:lpwstr/>
  </property>
</Properties>
</file>